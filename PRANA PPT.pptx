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6" r:id="rId8"/>
    <p:sldId id="263" r:id="rId9"/>
    <p:sldId id="264" r:id="rId10"/>
    <p:sldId id="265"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529" autoAdjust="0"/>
  </p:normalViewPr>
  <p:slideViewPr>
    <p:cSldViewPr snapToGrid="0" snapToObjects="1">
      <p:cViewPr>
        <p:scale>
          <a:sx n="50" d="100"/>
          <a:sy n="50" d="100"/>
        </p:scale>
        <p:origin x="9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720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label out loud: potential flexibility sources, plant-specific validation required. I am not claiming your compressor house is flexible — I am claiming nobody has measured whether it is. The physics changes from industry to industry; the framework does not. Q: What if the plant has no flexibility? Then φ comes back infinite across the useful range and PRANA says so in week four, before anyone has spent money on a deployment. That is a legitimate and cheap outcome. Q: Why does chlor-alkali prove a generalised concept? It does not prove the numbers generalise. It proves the method works end to end on one hard, safety-critical process — convex load physics, an inventory buffer, a downstream constraint and a hard interlock. A refinery has the same four ingredients with different equations.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chemical and mechanical engineers. The point to make: the convexity is derived, not fitted. Voltage rises linearly with current density, Faraday's law makes production proportional to current, so power is necessarily quadratic in production — that is electrochemistry, not a regression. And the Government of India's own published cell equation says specific energy falls on turn-down. Then be explicit about scope: this is a plant-specific physics model, and chlor-alkali is our demonstrated implementation. A refinery model would carry compressor maps and tank levels instead. Q: How are process constraints determined? From the interlock list, the HAZOP minutes, the SOPs and the board operator — elicited by an agent, then signed off by a human engineer before it can bind. Q: How do you prevent AI from overriding safety? The language model never touches the setpoint. It only proposes constraints; the solver enforces them as hard bounds, and every schedule is re-simulated against the true nonlinear physics before a human sees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novel object, and the slide to slow down on. Ask any plant in India how many megawatts it can move, for how long, at what cost to the process — no document answers. φ is that document. Read the hero line exactly: PRANA does not ask how much load can we shed, it asks how much flexibility can we safely afford. Then the virtual-battery point, carefully: we do not assume the process is a battery. We quantify its safe flexibility first; once quantified, that flexibility can be represented as a power-duration abstraction — a virtual battery. The abstraction is a representation of measured flexibility, never the purpose of the plant. Q: What if electricity savings are lower than process costs? φ already contains the process costs, so that case shows up as a high or infinite value and the answer is DO NOTHING.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diagram, ten seconds each. The load-bearing detail is at the end: explanations come from the solver's binding constraints, not from the language model. It cannot invent a reason because it is never asked to produce one.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industrial consumer does not pay the exchange clearing price — that is roughly 60% of the bill. Wheeling, surcharges, duty and the demand charge on peak kVA are the rest, and the demand charge in particular punishes exactly the behaviour a naive optimiser produces: a deep, sharp peak. So we put the whole landed bill inside the objective rather than checking it afterwards. Both schedules on this slide are settled at the same real bill; the percentage is the robust number and the annualisation is indicative. Worth adding: MERC's post-remand order removes the night rebate and raises the demand charge 15% over four years while the energy charge falls 12% — the regulator is pushing the same way we 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it out loud as a demonstrator, not a product line. 120 consecutive delivery days, replayed at settled prices, against the counterfactual of one steady setpoint per asset held all day — which is how the plant is actually run. Quote the forecast-error figure, never perfect foresight: ₹0.133 per kWh net. Then go straight at the 13 out of 120. PRANA does not manufacture savings; when flexibility is not worthwhile it can lose, and a single-asset site with a hard 70% floor has no second lever when the forecast is wrong. That is the honest argument for adding a second flexible asset, not for hiding the row. Q: What happens when the forecast is wrong? The optimiser carries a CVaR risk term and a quantile fan rather than a point forecast, and the haircut against perfect foresight is 22% — reported, not removed.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disciplined here: one demonstrated case, everything else marked as a validation target with no savings attached to it. Then the ask — ninety days, advisory only, one plant. Weeks 1–4 build the plant-specific twin; weeks 5–8 deliver φ, the number they have never had about their own process; weeks 9–12 shadow mode, a recommended profile each morning compared against actuals each evening at realised prices. Success is agreed up front and includes zero excursions and zero safety violations, and no production authority changes hands. Q: How would this work in a refinery? Same five stages, different physics — compressor maps and intermediate tankage instead of a cell curve and a caustic tank. Close on the final line and stop talking.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36320" y="1131138"/>
            <a:ext cx="914400" cy="28575"/>
          </a:xfrm>
          <a:prstGeom prst="rect">
            <a:avLst/>
          </a:prstGeom>
          <a:gradFill rotWithShape="1">
            <a:gsLst>
              <a:gs pos="0">
                <a:srgbClr val="1597D4">
                  <a:alpha val="100000"/>
                </a:srgbClr>
              </a:gs>
              <a:gs pos="50000">
                <a:srgbClr val="38BDF2">
                  <a:alpha val="100000"/>
                </a:srgbClr>
              </a:gs>
              <a:gs pos="100000">
                <a:srgbClr val="22A06B">
                  <a:alpha val="100000"/>
                </a:srgbClr>
              </a:gs>
            </a:gsLst>
            <a:lin ang="0" scaled="0"/>
          </a:gradFill>
          <a:ln/>
        </p:spPr>
      </p:sp>
      <p:sp>
        <p:nvSpPr>
          <p:cNvPr id="3" name="Text 1"/>
          <p:cNvSpPr/>
          <p:nvPr/>
        </p:nvSpPr>
        <p:spPr>
          <a:xfrm>
            <a:off x="959429" y="838200"/>
            <a:ext cx="6392061"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TRACK · DIGITAL ASSET MANAGEMENT</a:t>
            </a:r>
            <a:endParaRPr lang="en-US" sz="1950" dirty="0"/>
          </a:p>
        </p:txBody>
      </p:sp>
      <p:sp>
        <p:nvSpPr>
          <p:cNvPr id="4" name="Text 2"/>
          <p:cNvSpPr/>
          <p:nvPr/>
        </p:nvSpPr>
        <p:spPr>
          <a:xfrm>
            <a:off x="990600" y="2076450"/>
            <a:ext cx="4723781" cy="1238250"/>
          </a:xfrm>
          <a:prstGeom prst="rect">
            <a:avLst/>
          </a:prstGeom>
          <a:noFill/>
          <a:ln/>
        </p:spPr>
        <p:txBody>
          <a:bodyPr wrap="square" lIns="25400" tIns="25400" rIns="25400" bIns="25400" rtlCol="0" anchor="t">
            <a:normAutofit lnSpcReduction="10000"/>
          </a:bodyPr>
          <a:lstStyle/>
          <a:p>
            <a:pPr marL="0" indent="0" algn="l">
              <a:lnSpc>
                <a:spcPct val="78358"/>
              </a:lnSpc>
              <a:buNone/>
            </a:pPr>
            <a:r>
              <a:rPr lang="en-US" sz="10500" b="1" kern="0" spc="-472" dirty="0">
                <a:solidFill>
                  <a:srgbClr val="124B68"/>
                </a:solidFill>
                <a:latin typeface="Arial" pitchFamily="34" charset="0"/>
                <a:ea typeface="Arial" pitchFamily="34" charset="-122"/>
                <a:cs typeface="Arial" pitchFamily="34" charset="-120"/>
              </a:rPr>
              <a:t>PRANA</a:t>
            </a:r>
            <a:endParaRPr lang="en-US" sz="10500" dirty="0"/>
          </a:p>
        </p:txBody>
      </p:sp>
      <p:sp>
        <p:nvSpPr>
          <p:cNvPr id="5" name="Text 3"/>
          <p:cNvSpPr/>
          <p:nvPr/>
        </p:nvSpPr>
        <p:spPr>
          <a:xfrm>
            <a:off x="5570697" y="2388870"/>
            <a:ext cx="1661870" cy="800100"/>
          </a:xfrm>
          <a:prstGeom prst="rect">
            <a:avLst/>
          </a:prstGeom>
          <a:noFill/>
          <a:ln/>
        </p:spPr>
        <p:txBody>
          <a:bodyPr wrap="square" lIns="25400" tIns="25400" rIns="25400" bIns="25400" rtlCol="0" anchor="t">
            <a:normAutofit lnSpcReduction="10000"/>
          </a:bodyPr>
          <a:lstStyle/>
          <a:p>
            <a:pPr marL="0" indent="0" algn="l">
              <a:lnSpc>
                <a:spcPct val="86957"/>
              </a:lnSpc>
              <a:buNone/>
            </a:pPr>
            <a:r>
              <a:rPr lang="en-US" sz="6000" b="1" dirty="0">
                <a:solidFill>
                  <a:srgbClr val="38BDF2"/>
                </a:solidFill>
                <a:latin typeface="Arial" pitchFamily="34" charset="0"/>
                <a:ea typeface="Arial" pitchFamily="34" charset="-122"/>
                <a:cs typeface="Arial" pitchFamily="34" charset="-120"/>
              </a:rPr>
              <a:t>प्राण</a:t>
            </a:r>
            <a:endParaRPr lang="en-US" sz="6000" dirty="0"/>
          </a:p>
        </p:txBody>
      </p:sp>
      <p:sp>
        <p:nvSpPr>
          <p:cNvPr id="6" name="Text 4"/>
          <p:cNvSpPr/>
          <p:nvPr/>
        </p:nvSpPr>
        <p:spPr>
          <a:xfrm>
            <a:off x="990600" y="4301490"/>
            <a:ext cx="7844676" cy="922020"/>
          </a:xfrm>
          <a:prstGeom prst="rect">
            <a:avLst/>
          </a:prstGeom>
          <a:noFill/>
          <a:ln/>
        </p:spPr>
        <p:txBody>
          <a:bodyPr wrap="square" lIns="25400" tIns="25400" rIns="25400" bIns="25400" rtlCol="0" anchor="t">
            <a:normAutofit lnSpcReduction="10000"/>
          </a:bodyPr>
          <a:lstStyle/>
          <a:p>
            <a:pPr marL="0" indent="0" algn="l">
              <a:buNone/>
            </a:pPr>
            <a:r>
              <a:rPr lang="en-US" sz="3000" b="1" kern="0" spc="180" dirty="0">
                <a:solidFill>
                  <a:srgbClr val="1597D4"/>
                </a:solidFill>
                <a:latin typeface="Arial" pitchFamily="34" charset="0"/>
                <a:ea typeface="Arial" pitchFamily="34" charset="-122"/>
                <a:cs typeface="Arial" pitchFamily="34" charset="-120"/>
              </a:rPr>
              <a:t>INDUSTRIAL FLEXIBILITY INTELLIGENCE</a:t>
            </a:r>
            <a:endParaRPr lang="en-US" sz="3000" dirty="0"/>
          </a:p>
        </p:txBody>
      </p:sp>
      <p:sp>
        <p:nvSpPr>
          <p:cNvPr id="7" name="Text 5"/>
          <p:cNvSpPr/>
          <p:nvPr/>
        </p:nvSpPr>
        <p:spPr>
          <a:xfrm>
            <a:off x="990600" y="5471160"/>
            <a:ext cx="6241967" cy="1546860"/>
          </a:xfrm>
          <a:prstGeom prst="rect">
            <a:avLst/>
          </a:prstGeom>
          <a:noFill/>
          <a:ln/>
        </p:spPr>
        <p:txBody>
          <a:bodyPr wrap="square" lIns="25400" tIns="25400" rIns="25400" bIns="25400" rtlCol="0" anchor="t">
            <a:normAutofit lnSpcReduction="10000"/>
          </a:bodyPr>
          <a:lstStyle/>
          <a:p>
            <a:pPr marL="0" indent="0" algn="l">
              <a:lnSpc>
                <a:spcPct val="103125"/>
              </a:lnSpc>
              <a:buNone/>
            </a:pPr>
            <a:r>
              <a:rPr lang="en-US" sz="3300" b="1" kern="0" spc="-49" dirty="0">
                <a:solidFill>
                  <a:srgbClr val="124B68"/>
                </a:solidFill>
                <a:latin typeface="Arial" pitchFamily="34" charset="0"/>
                <a:ea typeface="Arial" pitchFamily="34" charset="-122"/>
                <a:cs typeface="Arial" pitchFamily="34" charset="-120"/>
              </a:rPr>
              <a:t>How much electrical flexibility can an industrial plant safely afford to use?</a:t>
            </a:r>
            <a:endParaRPr lang="en-US" sz="3300" dirty="0"/>
          </a:p>
        </p:txBody>
      </p:sp>
      <p:sp>
        <p:nvSpPr>
          <p:cNvPr id="8" name="Text 6"/>
          <p:cNvSpPr/>
          <p:nvPr/>
        </p:nvSpPr>
        <p:spPr>
          <a:xfrm>
            <a:off x="990600" y="7170420"/>
            <a:ext cx="7526072" cy="1318260"/>
          </a:xfrm>
          <a:prstGeom prst="rect">
            <a:avLst/>
          </a:prstGeom>
          <a:noFill/>
          <a:ln/>
        </p:spPr>
        <p:txBody>
          <a:bodyPr wrap="square" lIns="25400" tIns="25400" rIns="25400" bIns="25400" rtlCol="0" anchor="t">
            <a:normAutofit/>
          </a:bodyPr>
          <a:lstStyle/>
          <a:p>
            <a:pPr marL="0" indent="0" algn="l">
              <a:lnSpc>
                <a:spcPct val="124444"/>
              </a:lnSpc>
              <a:buNone/>
            </a:pPr>
            <a:r>
              <a:rPr lang="en-US" sz="2400" dirty="0">
                <a:solidFill>
                  <a:srgbClr val="17324D"/>
                </a:solidFill>
                <a:latin typeface="Arial" pitchFamily="34" charset="0"/>
                <a:ea typeface="Arial" pitchFamily="34" charset="-122"/>
                <a:cs typeface="Arial" pitchFamily="34" charset="-120"/>
              </a:rPr>
              <a:t>Turning process physics into safe, economic electricity decisions with the production objective untouched.</a:t>
            </a:r>
            <a:endParaRPr lang="en-US" sz="2400" dirty="0"/>
          </a:p>
        </p:txBody>
      </p:sp>
      <p:sp>
        <p:nvSpPr>
          <p:cNvPr id="9" name="Shape 7"/>
          <p:cNvSpPr/>
          <p:nvPr/>
        </p:nvSpPr>
        <p:spPr>
          <a:xfrm>
            <a:off x="990600" y="8629650"/>
            <a:ext cx="7616190" cy="9525"/>
          </a:xfrm>
          <a:prstGeom prst="rect">
            <a:avLst/>
          </a:prstGeom>
          <a:solidFill>
            <a:srgbClr val="DCE8ED"/>
          </a:solidFill>
          <a:ln/>
        </p:spPr>
      </p:sp>
      <p:sp>
        <p:nvSpPr>
          <p:cNvPr id="10" name="Text 8"/>
          <p:cNvSpPr/>
          <p:nvPr/>
        </p:nvSpPr>
        <p:spPr>
          <a:xfrm>
            <a:off x="990600" y="8865870"/>
            <a:ext cx="2756630" cy="342900"/>
          </a:xfrm>
          <a:prstGeom prst="rect">
            <a:avLst/>
          </a:prstGeom>
          <a:noFill/>
          <a:ln/>
        </p:spPr>
        <p:txBody>
          <a:bodyPr wrap="none" lIns="25400" tIns="25400" rIns="25400" bIns="25400" rtlCol="0" anchor="t">
            <a:normAutofit lnSpcReduction="10000"/>
          </a:bodyPr>
          <a:lstStyle/>
          <a:p>
            <a:pPr marL="0" indent="0" algn="l">
              <a:buNone/>
            </a:pPr>
            <a:r>
              <a:rPr lang="en-US" sz="2100" b="1" dirty="0">
                <a:solidFill>
                  <a:srgbClr val="124B68"/>
                </a:solidFill>
                <a:latin typeface="Arial" pitchFamily="34" charset="0"/>
                <a:ea typeface="Arial" pitchFamily="34" charset="-122"/>
                <a:cs typeface="Arial" pitchFamily="34" charset="-120"/>
              </a:rPr>
              <a:t>Buddharatna Hingole</a:t>
            </a:r>
            <a:endParaRPr lang="en-US" sz="2100" dirty="0"/>
          </a:p>
        </p:txBody>
      </p:sp>
      <p:sp>
        <p:nvSpPr>
          <p:cNvPr id="11" name="Text 9"/>
          <p:cNvSpPr/>
          <p:nvPr/>
        </p:nvSpPr>
        <p:spPr>
          <a:xfrm>
            <a:off x="990600" y="9227820"/>
            <a:ext cx="2756630" cy="33528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6B7C89"/>
                </a:solidFill>
                <a:latin typeface="Arial" pitchFamily="34" charset="0"/>
                <a:ea typeface="Arial" pitchFamily="34" charset="-122"/>
                <a:cs typeface="Arial" pitchFamily="34" charset="-120"/>
              </a:rPr>
              <a:t>IIT Mandi</a:t>
            </a:r>
            <a:endParaRPr lang="en-US" sz="1950" dirty="0"/>
          </a:p>
        </p:txBody>
      </p:sp>
      <p:sp>
        <p:nvSpPr>
          <p:cNvPr id="12" name="Text 10"/>
          <p:cNvSpPr/>
          <p:nvPr/>
        </p:nvSpPr>
        <p:spPr>
          <a:xfrm>
            <a:off x="4058245" y="8903970"/>
            <a:ext cx="4548545" cy="297180"/>
          </a:xfrm>
          <a:prstGeom prst="rect">
            <a:avLst/>
          </a:prstGeom>
          <a:noFill/>
          <a:ln/>
        </p:spPr>
        <p:txBody>
          <a:bodyPr wrap="none" lIns="25400" tIns="25400" rIns="25400" bIns="25400" rtlCol="0" anchor="t">
            <a:normAutofit fontScale="92500" lnSpcReduction="10000"/>
          </a:bodyPr>
          <a:lstStyle/>
          <a:p>
            <a:pPr marL="0" indent="0" algn="r">
              <a:buNone/>
            </a:pPr>
            <a:r>
              <a:rPr lang="en-US" sz="1800" b="1" dirty="0">
                <a:solidFill>
                  <a:srgbClr val="124B68"/>
                </a:solidFill>
                <a:latin typeface="Arial" pitchFamily="34" charset="0"/>
                <a:ea typeface="Arial" pitchFamily="34" charset="-122"/>
                <a:cs typeface="Arial" pitchFamily="34" charset="-120"/>
              </a:rPr>
              <a:t>Platinum Jubilee Innovation Hackathon</a:t>
            </a:r>
            <a:endParaRPr lang="en-US" sz="1800" dirty="0"/>
          </a:p>
        </p:txBody>
      </p:sp>
      <p:sp>
        <p:nvSpPr>
          <p:cNvPr id="13" name="Text 11"/>
          <p:cNvSpPr/>
          <p:nvPr/>
        </p:nvSpPr>
        <p:spPr>
          <a:xfrm>
            <a:off x="4058245" y="9220200"/>
            <a:ext cx="4548545" cy="342900"/>
          </a:xfrm>
          <a:prstGeom prst="rect">
            <a:avLst/>
          </a:prstGeom>
          <a:noFill/>
          <a:ln/>
        </p:spPr>
        <p:txBody>
          <a:bodyPr wrap="none" lIns="25400" tIns="25400" rIns="25400" bIns="25400" rtlCol="0" anchor="t">
            <a:normAutofit/>
          </a:bodyPr>
          <a:lstStyle/>
          <a:p>
            <a:pPr marL="0" indent="0" algn="r">
              <a:buNone/>
            </a:pPr>
            <a:r>
              <a:rPr lang="en-US" sz="1800" dirty="0">
                <a:solidFill>
                  <a:srgbClr val="6B7C89"/>
                </a:solidFill>
                <a:latin typeface="Arial" pitchFamily="34" charset="0"/>
                <a:ea typeface="Arial" pitchFamily="34" charset="-122"/>
                <a:cs typeface="Arial" pitchFamily="34" charset="-120"/>
              </a:rPr>
              <a:t>MC²⁺ · Oil India Limited · IIT Kharagpur</a:t>
            </a:r>
            <a:endParaRPr lang="en-US" sz="1800" dirty="0"/>
          </a:p>
        </p:txBody>
      </p:sp>
      <p:sp>
        <p:nvSpPr>
          <p:cNvPr id="14" name="Shape 12"/>
          <p:cNvSpPr/>
          <p:nvPr/>
        </p:nvSpPr>
        <p:spPr>
          <a:xfrm>
            <a:off x="9292590" y="0"/>
            <a:ext cx="8995410" cy="10287000"/>
          </a:xfrm>
          <a:prstGeom prst="rect">
            <a:avLst/>
          </a:prstGeom>
          <a:solidFill>
            <a:srgbClr val="F5FAFC"/>
          </a:solidFill>
          <a:ln/>
        </p:spPr>
      </p:sp>
      <p:sp>
        <p:nvSpPr>
          <p:cNvPr id="15" name="Shape 13"/>
          <p:cNvSpPr/>
          <p:nvPr/>
        </p:nvSpPr>
        <p:spPr>
          <a:xfrm>
            <a:off x="9292590" y="0"/>
            <a:ext cx="9525" cy="10287000"/>
          </a:xfrm>
          <a:prstGeom prst="rect">
            <a:avLst/>
          </a:prstGeom>
          <a:solidFill>
            <a:srgbClr val="DCE8ED"/>
          </a:solidFill>
          <a:ln/>
        </p:spPr>
      </p:sp>
      <p:sp>
        <p:nvSpPr>
          <p:cNvPr id="16" name="Shape 14"/>
          <p:cNvSpPr/>
          <p:nvPr/>
        </p:nvSpPr>
        <p:spPr>
          <a:xfrm>
            <a:off x="9833610" y="838200"/>
            <a:ext cx="7616190" cy="4210050"/>
          </a:xfrm>
          <a:prstGeom prst="roundRect">
            <a:avLst>
              <a:gd name="adj" fmla="val 3167"/>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17" name="Text 15"/>
          <p:cNvSpPr/>
          <p:nvPr/>
        </p:nvSpPr>
        <p:spPr>
          <a:xfrm>
            <a:off x="10165081" y="1112520"/>
            <a:ext cx="7648575"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88" dirty="0">
                <a:solidFill>
                  <a:srgbClr val="1597D4"/>
                </a:solidFill>
                <a:latin typeface="Arial" pitchFamily="34" charset="0"/>
                <a:ea typeface="Arial" pitchFamily="34" charset="-122"/>
                <a:cs typeface="Arial" pitchFamily="34" charset="-120"/>
              </a:rPr>
              <a:t>THE MARKET MOVES</a:t>
            </a:r>
            <a:endParaRPr lang="en-US" sz="1875" dirty="0"/>
          </a:p>
        </p:txBody>
      </p:sp>
      <p:sp>
        <p:nvSpPr>
          <p:cNvPr id="18" name="Text 16"/>
          <p:cNvSpPr/>
          <p:nvPr/>
        </p:nvSpPr>
        <p:spPr>
          <a:xfrm>
            <a:off x="10165081" y="1482090"/>
            <a:ext cx="7648575" cy="388620"/>
          </a:xfrm>
          <a:prstGeom prst="rect">
            <a:avLst/>
          </a:prstGeom>
          <a:noFill/>
          <a:ln/>
        </p:spPr>
        <p:txBody>
          <a:bodyPr wrap="square" lIns="25400" tIns="25400" rIns="25400" bIns="25400" rtlCol="0" anchor="t">
            <a:normAutofit lnSpcReduction="10000"/>
          </a:bodyPr>
          <a:lstStyle/>
          <a:p>
            <a:pPr marL="0" indent="0" algn="l">
              <a:lnSpc>
                <a:spcPct val="102222"/>
              </a:lnSpc>
              <a:buNone/>
            </a:pPr>
            <a:r>
              <a:rPr lang="en-US" sz="2400" b="1" dirty="0">
                <a:solidFill>
                  <a:srgbClr val="124B68"/>
                </a:solidFill>
                <a:latin typeface="Arial" pitchFamily="34" charset="0"/>
                <a:ea typeface="Arial" pitchFamily="34" charset="-122"/>
                <a:cs typeface="Arial" pitchFamily="34" charset="-120"/>
              </a:rPr>
              <a:t>Power price within one delivery day</a:t>
            </a:r>
            <a:endParaRPr lang="en-US" sz="2400" dirty="0"/>
          </a:p>
        </p:txBody>
      </p:sp>
      <p:pic>
        <p:nvPicPr>
          <p:cNvPr id="1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65081" y="1927860"/>
            <a:ext cx="6953250" cy="2846070"/>
          </a:xfrm>
          <a:prstGeom prst="rect">
            <a:avLst/>
          </a:prstGeom>
        </p:spPr>
      </p:pic>
      <p:sp>
        <p:nvSpPr>
          <p:cNvPr id="20" name="Shape 17"/>
          <p:cNvSpPr/>
          <p:nvPr/>
        </p:nvSpPr>
        <p:spPr>
          <a:xfrm>
            <a:off x="9833610" y="5314950"/>
            <a:ext cx="7616190" cy="4210050"/>
          </a:xfrm>
          <a:prstGeom prst="roundRect">
            <a:avLst>
              <a:gd name="adj" fmla="val 3167"/>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21" name="Text 18"/>
          <p:cNvSpPr/>
          <p:nvPr/>
        </p:nvSpPr>
        <p:spPr>
          <a:xfrm>
            <a:off x="10165081" y="5589270"/>
            <a:ext cx="7648575"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88" dirty="0">
                <a:solidFill>
                  <a:srgbClr val="22A06B"/>
                </a:solidFill>
                <a:latin typeface="Arial" pitchFamily="34" charset="0"/>
                <a:ea typeface="Arial" pitchFamily="34" charset="-122"/>
                <a:cs typeface="Arial" pitchFamily="34" charset="-120"/>
              </a:rPr>
              <a:t>THE PLANT DOES NOT</a:t>
            </a:r>
            <a:endParaRPr lang="en-US" sz="1875" dirty="0"/>
          </a:p>
        </p:txBody>
      </p:sp>
      <p:sp>
        <p:nvSpPr>
          <p:cNvPr id="22" name="Text 19"/>
          <p:cNvSpPr/>
          <p:nvPr/>
        </p:nvSpPr>
        <p:spPr>
          <a:xfrm>
            <a:off x="10165081" y="5958840"/>
            <a:ext cx="7648575" cy="388620"/>
          </a:xfrm>
          <a:prstGeom prst="rect">
            <a:avLst/>
          </a:prstGeom>
          <a:noFill/>
          <a:ln/>
        </p:spPr>
        <p:txBody>
          <a:bodyPr wrap="square" lIns="25400" tIns="25400" rIns="25400" bIns="25400" rtlCol="0" anchor="t">
            <a:normAutofit lnSpcReduction="10000"/>
          </a:bodyPr>
          <a:lstStyle/>
          <a:p>
            <a:pPr marL="0" indent="0" algn="l">
              <a:lnSpc>
                <a:spcPct val="102222"/>
              </a:lnSpc>
              <a:buNone/>
            </a:pPr>
            <a:r>
              <a:rPr lang="en-US" sz="2400" b="1" dirty="0">
                <a:solidFill>
                  <a:srgbClr val="124B68"/>
                </a:solidFill>
                <a:latin typeface="Arial" pitchFamily="34" charset="0"/>
                <a:ea typeface="Arial" pitchFamily="34" charset="-122"/>
                <a:cs typeface="Arial" pitchFamily="34" charset="-120"/>
              </a:rPr>
              <a:t>Load, inside the safe operating envelope</a:t>
            </a:r>
            <a:endParaRPr lang="en-US" sz="2400" dirty="0"/>
          </a:p>
        </p:txBody>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65081" y="6404610"/>
            <a:ext cx="6953250" cy="2846070"/>
          </a:xfrm>
          <a:prstGeom prst="rect">
            <a:avLst/>
          </a:prstGeom>
        </p:spPr>
      </p:pic>
      <p:sp>
        <p:nvSpPr>
          <p:cNvPr id="25" name="Text 5">
            <a:extLst>
              <a:ext uri="{FF2B5EF4-FFF2-40B4-BE49-F238E27FC236}">
                <a16:creationId xmlns:a16="http://schemas.microsoft.com/office/drawing/2014/main" id="{CC2C97C5-60A0-C703-FBA0-9A025CF99F43}"/>
              </a:ext>
            </a:extLst>
          </p:cNvPr>
          <p:cNvSpPr/>
          <p:nvPr/>
        </p:nvSpPr>
        <p:spPr>
          <a:xfrm>
            <a:off x="990600" y="3379470"/>
            <a:ext cx="7844676" cy="678180"/>
          </a:xfrm>
          <a:prstGeom prst="rect">
            <a:avLst/>
          </a:prstGeom>
          <a:noFill/>
          <a:ln/>
        </p:spPr>
        <p:txBody>
          <a:bodyPr wrap="square" lIns="25400" tIns="25400" rIns="25400" bIns="25400" rtlCol="0" anchor="t">
            <a:normAutofit lnSpcReduction="10000"/>
          </a:bodyPr>
          <a:lstStyle/>
          <a:p>
            <a:pPr marL="0" indent="0" algn="l">
              <a:buNone/>
            </a:pPr>
            <a:r>
              <a:rPr lang="en-US" sz="2100" kern="0" spc="210" dirty="0">
                <a:solidFill>
                  <a:srgbClr val="6B7C89"/>
                </a:solidFill>
                <a:latin typeface="Arial" pitchFamily="34" charset="0"/>
                <a:ea typeface="Arial" pitchFamily="34" charset="-122"/>
                <a:cs typeface="Arial" pitchFamily="34" charset="-120"/>
              </a:rPr>
              <a:t>PROCESS RESPONSE &amp; ADAPTIVE NETWORK AGENT</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3845112"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THE MARKET PROBLEM</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02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4684216" cy="643890"/>
          </a:xfrm>
          <a:prstGeom prst="rect">
            <a:avLst/>
          </a:prstGeom>
          <a:noFill/>
          <a:ln/>
        </p:spPr>
        <p:txBody>
          <a:bodyPr wrap="square" lIns="25400" tIns="25400" rIns="25400" bIns="25400" rtlCol="0" anchor="t">
            <a:normAutofit lnSpcReduction="10000"/>
          </a:bodyPr>
          <a:lstStyle/>
          <a:p>
            <a:pPr marL="0" indent="0" algn="l">
              <a:lnSpc>
                <a:spcPct val="92442"/>
              </a:lnSpc>
              <a:buNone/>
            </a:pPr>
            <a:r>
              <a:rPr lang="en-US" sz="4500" b="1" kern="0" spc="-112" dirty="0">
                <a:solidFill>
                  <a:srgbClr val="124B68"/>
                </a:solidFill>
                <a:latin typeface="Arial" pitchFamily="34" charset="0"/>
                <a:ea typeface="Arial" pitchFamily="34" charset="-122"/>
                <a:cs typeface="Arial" pitchFamily="34" charset="-120"/>
              </a:rPr>
              <a:t>Electricity is no longer a flat-cost input</a:t>
            </a:r>
            <a:endParaRPr lang="en-US" sz="4500" dirty="0"/>
          </a:p>
        </p:txBody>
      </p:sp>
      <p:sp>
        <p:nvSpPr>
          <p:cNvPr id="6" name="Text 4"/>
          <p:cNvSpPr/>
          <p:nvPr/>
        </p:nvSpPr>
        <p:spPr>
          <a:xfrm>
            <a:off x="990600" y="2345055"/>
            <a:ext cx="14259925" cy="86106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2400" dirty="0">
                <a:solidFill>
                  <a:srgbClr val="17324D"/>
                </a:solidFill>
                <a:latin typeface="Arial" pitchFamily="34" charset="0"/>
                <a:ea typeface="Arial" pitchFamily="34" charset="-122"/>
                <a:cs typeface="Arial" pitchFamily="34" charset="-120"/>
              </a:rPr>
              <a:t>IEX real-time market, Maharashtra W2 mean evening price divided by mean solar-hour price, on every settled 15-minute block since April 2022.</a:t>
            </a:r>
            <a:endParaRPr lang="en-US" sz="2400" dirty="0"/>
          </a:p>
        </p:txBody>
      </p:sp>
      <p:sp>
        <p:nvSpPr>
          <p:cNvPr id="7" name="Shape 5"/>
          <p:cNvSpPr/>
          <p:nvPr/>
        </p:nvSpPr>
        <p:spPr>
          <a:xfrm>
            <a:off x="990600" y="3472815"/>
            <a:ext cx="9501545" cy="4892993"/>
          </a:xfrm>
          <a:prstGeom prst="roundRect">
            <a:avLst>
              <a:gd name="adj" fmla="val 2725"/>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8" name="Text 6"/>
          <p:cNvSpPr/>
          <p:nvPr/>
        </p:nvSpPr>
        <p:spPr>
          <a:xfrm>
            <a:off x="1379220" y="3804285"/>
            <a:ext cx="959673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56" dirty="0">
                <a:solidFill>
                  <a:srgbClr val="6B7C89"/>
                </a:solidFill>
                <a:latin typeface="Arial" pitchFamily="34" charset="0"/>
                <a:ea typeface="Arial" pitchFamily="34" charset="-122"/>
                <a:cs typeface="Arial" pitchFamily="34" charset="-120"/>
              </a:rPr>
              <a:t>EVENING-TO-MIDDAY PRICE RATIO, BY FINANCIAL YEAR</a:t>
            </a:r>
            <a:endParaRPr lang="en-US" sz="1950" dirty="0"/>
          </a:p>
        </p:txBody>
      </p:sp>
      <p:sp>
        <p:nvSpPr>
          <p:cNvPr id="9" name="Text 7"/>
          <p:cNvSpPr/>
          <p:nvPr/>
        </p:nvSpPr>
        <p:spPr>
          <a:xfrm>
            <a:off x="1806892" y="6356032"/>
            <a:ext cx="706517"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6B7C89"/>
                </a:solidFill>
                <a:latin typeface="Arial" pitchFamily="34" charset="0"/>
                <a:ea typeface="Arial" pitchFamily="34" charset="-122"/>
                <a:cs typeface="Arial" pitchFamily="34" charset="-120"/>
              </a:rPr>
              <a:t>1.47</a:t>
            </a:r>
            <a:endParaRPr lang="en-US" sz="2550" dirty="0"/>
          </a:p>
        </p:txBody>
      </p:sp>
      <p:sp>
        <p:nvSpPr>
          <p:cNvPr id="10" name="Shape 8"/>
          <p:cNvSpPr/>
          <p:nvPr/>
        </p:nvSpPr>
        <p:spPr>
          <a:xfrm>
            <a:off x="1379220" y="6836093"/>
            <a:ext cx="1485781" cy="847725"/>
          </a:xfrm>
          <a:custGeom>
            <a:avLst/>
            <a:gdLst/>
            <a:ahLst/>
            <a:cxnLst/>
            <a:rect l="l" t="t" r="r" b="b"/>
            <a:pathLst>
              <a:path w="1485781" h="847725">
                <a:moveTo>
                  <a:pt x="57150" y="0"/>
                </a:moveTo>
                <a:lnTo>
                  <a:pt x="1428631" y="0"/>
                </a:lnTo>
                <a:arcTo wR="57150" hR="57150" stAng="16200000" swAng="5400000"/>
                <a:lnTo>
                  <a:pt x="1485781" y="847725"/>
                </a:lnTo>
                <a:lnTo>
                  <a:pt x="0" y="847725"/>
                </a:lnTo>
                <a:lnTo>
                  <a:pt x="0" y="57150"/>
                </a:lnTo>
                <a:arcTo wR="57150" hR="57150" stAng="10800000" swAng="5400000"/>
                <a:close/>
              </a:path>
            </a:pathLst>
          </a:custGeom>
          <a:solidFill>
            <a:srgbClr val="DCE8ED"/>
          </a:solidFill>
          <a:ln/>
        </p:spPr>
      </p:sp>
      <p:sp>
        <p:nvSpPr>
          <p:cNvPr id="11" name="Text 9"/>
          <p:cNvSpPr/>
          <p:nvPr/>
        </p:nvSpPr>
        <p:spPr>
          <a:xfrm>
            <a:off x="1651754" y="7798118"/>
            <a:ext cx="1016794"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C89"/>
                </a:solidFill>
                <a:latin typeface="Arial" pitchFamily="34" charset="0"/>
                <a:ea typeface="Arial" pitchFamily="34" charset="-122"/>
                <a:cs typeface="Arial" pitchFamily="34" charset="-120"/>
              </a:rPr>
              <a:t>2022-23</a:t>
            </a:r>
            <a:endParaRPr lang="en-US" sz="1800" dirty="0"/>
          </a:p>
        </p:txBody>
      </p:sp>
      <p:sp>
        <p:nvSpPr>
          <p:cNvPr id="12" name="Text 10"/>
          <p:cNvSpPr/>
          <p:nvPr/>
        </p:nvSpPr>
        <p:spPr>
          <a:xfrm>
            <a:off x="3616523" y="6365557"/>
            <a:ext cx="706517"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6B7C89"/>
                </a:solidFill>
                <a:latin typeface="Arial" pitchFamily="34" charset="0"/>
                <a:ea typeface="Arial" pitchFamily="34" charset="-122"/>
                <a:cs typeface="Arial" pitchFamily="34" charset="-120"/>
              </a:rPr>
              <a:t>1.46</a:t>
            </a:r>
            <a:endParaRPr lang="en-US" sz="2550" dirty="0"/>
          </a:p>
        </p:txBody>
      </p:sp>
      <p:sp>
        <p:nvSpPr>
          <p:cNvPr id="13" name="Shape 11"/>
          <p:cNvSpPr/>
          <p:nvPr/>
        </p:nvSpPr>
        <p:spPr>
          <a:xfrm>
            <a:off x="3188851" y="6845618"/>
            <a:ext cx="1485781" cy="838200"/>
          </a:xfrm>
          <a:custGeom>
            <a:avLst/>
            <a:gdLst/>
            <a:ahLst/>
            <a:cxnLst/>
            <a:rect l="l" t="t" r="r" b="b"/>
            <a:pathLst>
              <a:path w="1485781" h="838200">
                <a:moveTo>
                  <a:pt x="57150" y="0"/>
                </a:moveTo>
                <a:lnTo>
                  <a:pt x="1428631" y="0"/>
                </a:lnTo>
                <a:arcTo wR="57150" hR="57150" stAng="16200000" swAng="5400000"/>
                <a:lnTo>
                  <a:pt x="1485781" y="838200"/>
                </a:lnTo>
                <a:lnTo>
                  <a:pt x="0" y="838200"/>
                </a:lnTo>
                <a:lnTo>
                  <a:pt x="0" y="57150"/>
                </a:lnTo>
                <a:arcTo wR="57150" hR="57150" stAng="10800000" swAng="5400000"/>
                <a:close/>
              </a:path>
            </a:pathLst>
          </a:custGeom>
          <a:solidFill>
            <a:srgbClr val="DCE8ED"/>
          </a:solidFill>
          <a:ln/>
        </p:spPr>
      </p:sp>
      <p:sp>
        <p:nvSpPr>
          <p:cNvPr id="14" name="Text 12"/>
          <p:cNvSpPr/>
          <p:nvPr/>
        </p:nvSpPr>
        <p:spPr>
          <a:xfrm>
            <a:off x="3459123" y="7798118"/>
            <a:ext cx="1021437"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C89"/>
                </a:solidFill>
                <a:latin typeface="Arial" pitchFamily="34" charset="0"/>
                <a:ea typeface="Arial" pitchFamily="34" charset="-122"/>
                <a:cs typeface="Arial" pitchFamily="34" charset="-120"/>
              </a:rPr>
              <a:t>2023-24</a:t>
            </a:r>
            <a:endParaRPr lang="en-US" sz="1800" dirty="0"/>
          </a:p>
        </p:txBody>
      </p:sp>
      <p:sp>
        <p:nvSpPr>
          <p:cNvPr id="15" name="Text 13"/>
          <p:cNvSpPr/>
          <p:nvPr/>
        </p:nvSpPr>
        <p:spPr>
          <a:xfrm>
            <a:off x="5426154" y="6127432"/>
            <a:ext cx="706517"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597D4"/>
                </a:solidFill>
                <a:latin typeface="Arial" pitchFamily="34" charset="0"/>
                <a:ea typeface="Arial" pitchFamily="34" charset="-122"/>
                <a:cs typeface="Arial" pitchFamily="34" charset="-120"/>
              </a:rPr>
              <a:t>1.87</a:t>
            </a:r>
            <a:endParaRPr lang="en-US" sz="2550" dirty="0"/>
          </a:p>
        </p:txBody>
      </p:sp>
      <p:sp>
        <p:nvSpPr>
          <p:cNvPr id="16" name="Shape 14"/>
          <p:cNvSpPr/>
          <p:nvPr/>
        </p:nvSpPr>
        <p:spPr>
          <a:xfrm>
            <a:off x="4998482" y="6607493"/>
            <a:ext cx="1485781" cy="1076325"/>
          </a:xfrm>
          <a:custGeom>
            <a:avLst/>
            <a:gdLst/>
            <a:ahLst/>
            <a:cxnLst/>
            <a:rect l="l" t="t" r="r" b="b"/>
            <a:pathLst>
              <a:path w="1485781" h="1076325">
                <a:moveTo>
                  <a:pt x="57150" y="0"/>
                </a:moveTo>
                <a:lnTo>
                  <a:pt x="1428631" y="0"/>
                </a:lnTo>
                <a:arcTo wR="57150" hR="57150" stAng="16200000" swAng="5400000"/>
                <a:lnTo>
                  <a:pt x="1485781" y="1076325"/>
                </a:lnTo>
                <a:lnTo>
                  <a:pt x="0" y="1076325"/>
                </a:lnTo>
                <a:lnTo>
                  <a:pt x="0" y="57150"/>
                </a:lnTo>
                <a:arcTo wR="57150" hR="57150" stAng="10800000" swAng="5400000"/>
                <a:close/>
              </a:path>
            </a:pathLst>
          </a:custGeom>
          <a:solidFill>
            <a:srgbClr val="9ED3EF"/>
          </a:solidFill>
          <a:ln/>
        </p:spPr>
      </p:sp>
      <p:sp>
        <p:nvSpPr>
          <p:cNvPr id="17" name="Text 15"/>
          <p:cNvSpPr/>
          <p:nvPr/>
        </p:nvSpPr>
        <p:spPr>
          <a:xfrm>
            <a:off x="5271492" y="7798118"/>
            <a:ext cx="101584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C89"/>
                </a:solidFill>
                <a:latin typeface="Arial" pitchFamily="34" charset="0"/>
                <a:ea typeface="Arial" pitchFamily="34" charset="-122"/>
                <a:cs typeface="Arial" pitchFamily="34" charset="-120"/>
              </a:rPr>
              <a:t>2024-25</a:t>
            </a:r>
            <a:endParaRPr lang="en-US" sz="1800" dirty="0"/>
          </a:p>
        </p:txBody>
      </p:sp>
      <p:sp>
        <p:nvSpPr>
          <p:cNvPr id="18" name="Text 16"/>
          <p:cNvSpPr/>
          <p:nvPr/>
        </p:nvSpPr>
        <p:spPr>
          <a:xfrm>
            <a:off x="7235786" y="5917882"/>
            <a:ext cx="706517"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597D4"/>
                </a:solidFill>
                <a:latin typeface="Arial" pitchFamily="34" charset="0"/>
                <a:ea typeface="Arial" pitchFamily="34" charset="-122"/>
                <a:cs typeface="Arial" pitchFamily="34" charset="-120"/>
              </a:rPr>
              <a:t>2.23</a:t>
            </a:r>
            <a:endParaRPr lang="en-US" sz="2550" dirty="0"/>
          </a:p>
        </p:txBody>
      </p:sp>
      <p:sp>
        <p:nvSpPr>
          <p:cNvPr id="19" name="Shape 17"/>
          <p:cNvSpPr/>
          <p:nvPr/>
        </p:nvSpPr>
        <p:spPr>
          <a:xfrm>
            <a:off x="6808113" y="6397943"/>
            <a:ext cx="1485781" cy="1285875"/>
          </a:xfrm>
          <a:custGeom>
            <a:avLst/>
            <a:gdLst/>
            <a:ahLst/>
            <a:cxnLst/>
            <a:rect l="l" t="t" r="r" b="b"/>
            <a:pathLst>
              <a:path w="1485781" h="1285875">
                <a:moveTo>
                  <a:pt x="57150" y="0"/>
                </a:moveTo>
                <a:lnTo>
                  <a:pt x="1428631" y="0"/>
                </a:lnTo>
                <a:arcTo wR="57150" hR="57150" stAng="16200000" swAng="5400000"/>
                <a:lnTo>
                  <a:pt x="1485781" y="1285875"/>
                </a:lnTo>
                <a:lnTo>
                  <a:pt x="0" y="1285875"/>
                </a:lnTo>
                <a:lnTo>
                  <a:pt x="0" y="57150"/>
                </a:lnTo>
                <a:arcTo wR="57150" hR="57150" stAng="10800000" swAng="5400000"/>
                <a:close/>
              </a:path>
            </a:pathLst>
          </a:custGeom>
          <a:solidFill>
            <a:srgbClr val="5FBEE9"/>
          </a:solidFill>
          <a:ln/>
        </p:spPr>
      </p:sp>
      <p:sp>
        <p:nvSpPr>
          <p:cNvPr id="20" name="Text 18"/>
          <p:cNvSpPr/>
          <p:nvPr/>
        </p:nvSpPr>
        <p:spPr>
          <a:xfrm>
            <a:off x="7082314" y="7798118"/>
            <a:ext cx="1013579"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C89"/>
                </a:solidFill>
                <a:latin typeface="Arial" pitchFamily="34" charset="0"/>
                <a:ea typeface="Arial" pitchFamily="34" charset="-122"/>
                <a:cs typeface="Arial" pitchFamily="34" charset="-120"/>
              </a:rPr>
              <a:t>2025-26</a:t>
            </a:r>
            <a:endParaRPr lang="en-US" sz="1800" dirty="0"/>
          </a:p>
        </p:txBody>
      </p:sp>
      <p:sp>
        <p:nvSpPr>
          <p:cNvPr id="21" name="Text 19"/>
          <p:cNvSpPr/>
          <p:nvPr/>
        </p:nvSpPr>
        <p:spPr>
          <a:xfrm>
            <a:off x="9045416" y="5165407"/>
            <a:ext cx="706517"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24B68"/>
                </a:solidFill>
                <a:latin typeface="Arial" pitchFamily="34" charset="0"/>
                <a:ea typeface="Arial" pitchFamily="34" charset="-122"/>
                <a:cs typeface="Arial" pitchFamily="34" charset="-120"/>
              </a:rPr>
              <a:t>3.53</a:t>
            </a:r>
            <a:endParaRPr lang="en-US" sz="2550" dirty="0"/>
          </a:p>
        </p:txBody>
      </p:sp>
      <p:sp>
        <p:nvSpPr>
          <p:cNvPr id="22" name="Shape 20"/>
          <p:cNvSpPr/>
          <p:nvPr/>
        </p:nvSpPr>
        <p:spPr>
          <a:xfrm>
            <a:off x="8617744" y="5645468"/>
            <a:ext cx="1485781" cy="2038350"/>
          </a:xfrm>
          <a:custGeom>
            <a:avLst/>
            <a:gdLst/>
            <a:ahLst/>
            <a:cxnLst/>
            <a:rect l="l" t="t" r="r" b="b"/>
            <a:pathLst>
              <a:path w="1485781" h="2038350">
                <a:moveTo>
                  <a:pt x="57150" y="0"/>
                </a:moveTo>
                <a:lnTo>
                  <a:pt x="1428631" y="0"/>
                </a:lnTo>
                <a:arcTo wR="57150" hR="57150" stAng="16200000" swAng="5400000"/>
                <a:lnTo>
                  <a:pt x="1485781" y="2038350"/>
                </a:lnTo>
                <a:lnTo>
                  <a:pt x="0" y="2038350"/>
                </a:lnTo>
                <a:lnTo>
                  <a:pt x="0" y="57150"/>
                </a:lnTo>
                <a:arcTo wR="57150" hR="57150" stAng="10800000" swAng="5400000"/>
                <a:close/>
              </a:path>
            </a:pathLst>
          </a:custGeom>
          <a:solidFill>
            <a:srgbClr val="1597D4"/>
          </a:solidFill>
          <a:ln/>
        </p:spPr>
      </p:sp>
      <p:sp>
        <p:nvSpPr>
          <p:cNvPr id="23" name="Text 21"/>
          <p:cNvSpPr/>
          <p:nvPr/>
        </p:nvSpPr>
        <p:spPr>
          <a:xfrm>
            <a:off x="8805625" y="7798118"/>
            <a:ext cx="118610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C89"/>
                </a:solidFill>
                <a:latin typeface="Arial" pitchFamily="34" charset="0"/>
                <a:ea typeface="Arial" pitchFamily="34" charset="-122"/>
                <a:cs typeface="Arial" pitchFamily="34" charset="-120"/>
              </a:rPr>
              <a:t>2026-27 *</a:t>
            </a:r>
            <a:endParaRPr lang="en-US" sz="1800" dirty="0"/>
          </a:p>
        </p:txBody>
      </p:sp>
      <p:sp>
        <p:nvSpPr>
          <p:cNvPr id="24" name="Shape 22"/>
          <p:cNvSpPr/>
          <p:nvPr/>
        </p:nvSpPr>
        <p:spPr>
          <a:xfrm>
            <a:off x="10835044" y="3472815"/>
            <a:ext cx="6462356" cy="1491258"/>
          </a:xfrm>
          <a:prstGeom prst="roundRect">
            <a:avLst>
              <a:gd name="adj" fmla="val 8942"/>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25" name="Text 23"/>
          <p:cNvSpPr/>
          <p:nvPr/>
        </p:nvSpPr>
        <p:spPr>
          <a:xfrm>
            <a:off x="11128415" y="3526988"/>
            <a:ext cx="6463177" cy="624840"/>
          </a:xfrm>
          <a:prstGeom prst="rect">
            <a:avLst/>
          </a:prstGeom>
          <a:noFill/>
          <a:ln/>
        </p:spPr>
        <p:txBody>
          <a:bodyPr wrap="square" lIns="25400" tIns="25400" rIns="25400" bIns="25400" rtlCol="0" anchor="t">
            <a:normAutofit lnSpcReduction="10000"/>
          </a:bodyPr>
          <a:lstStyle/>
          <a:p>
            <a:pPr marL="0" indent="0" algn="l">
              <a:buNone/>
            </a:pPr>
            <a:r>
              <a:rPr lang="en-US" sz="4050" b="1" kern="0" spc="-122" dirty="0">
                <a:solidFill>
                  <a:srgbClr val="22A06B"/>
                </a:solidFill>
                <a:latin typeface="Arial" pitchFamily="34" charset="0"/>
                <a:ea typeface="Arial" pitchFamily="34" charset="-122"/>
                <a:cs typeface="Arial" pitchFamily="34" charset="-120"/>
              </a:rPr>
              <a:t>21.1%</a:t>
            </a:r>
            <a:endParaRPr lang="en-US" sz="4050" dirty="0"/>
          </a:p>
        </p:txBody>
      </p:sp>
      <p:sp>
        <p:nvSpPr>
          <p:cNvPr id="26" name="Text 24"/>
          <p:cNvSpPr/>
          <p:nvPr/>
        </p:nvSpPr>
        <p:spPr>
          <a:xfrm>
            <a:off x="11128415" y="4189929"/>
            <a:ext cx="6051884" cy="758190"/>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17324D"/>
                </a:solidFill>
                <a:latin typeface="Arial" pitchFamily="34" charset="0"/>
                <a:ea typeface="Arial" pitchFamily="34" charset="-122"/>
                <a:cs typeface="Arial" pitchFamily="34" charset="-120"/>
              </a:rPr>
              <a:t>of the year now clears below ₹2/kWh, up from 4.1%</a:t>
            </a:r>
            <a:endParaRPr lang="en-US" sz="2100" dirty="0"/>
          </a:p>
        </p:txBody>
      </p:sp>
      <p:sp>
        <p:nvSpPr>
          <p:cNvPr id="27" name="Shape 25"/>
          <p:cNvSpPr/>
          <p:nvPr/>
        </p:nvSpPr>
        <p:spPr>
          <a:xfrm>
            <a:off x="10835044" y="5173623"/>
            <a:ext cx="6462356" cy="1491377"/>
          </a:xfrm>
          <a:prstGeom prst="roundRect">
            <a:avLst>
              <a:gd name="adj" fmla="val 8941"/>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28" name="Text 26"/>
          <p:cNvSpPr/>
          <p:nvPr/>
        </p:nvSpPr>
        <p:spPr>
          <a:xfrm>
            <a:off x="11128415" y="5227797"/>
            <a:ext cx="6463177" cy="624840"/>
          </a:xfrm>
          <a:prstGeom prst="rect">
            <a:avLst/>
          </a:prstGeom>
          <a:noFill/>
          <a:ln/>
        </p:spPr>
        <p:txBody>
          <a:bodyPr wrap="square" lIns="25400" tIns="25400" rIns="25400" bIns="25400" rtlCol="0" anchor="t">
            <a:normAutofit lnSpcReduction="10000"/>
          </a:bodyPr>
          <a:lstStyle/>
          <a:p>
            <a:pPr marL="0" indent="0" algn="l">
              <a:buNone/>
            </a:pPr>
            <a:r>
              <a:rPr lang="en-US" sz="4050" b="1" kern="0" spc="-122" dirty="0">
                <a:solidFill>
                  <a:srgbClr val="E9A72C"/>
                </a:solidFill>
                <a:latin typeface="Arial" pitchFamily="34" charset="0"/>
                <a:ea typeface="Arial" pitchFamily="34" charset="-122"/>
                <a:cs typeface="Arial" pitchFamily="34" charset="-120"/>
              </a:rPr>
              <a:t>₹10/kWh</a:t>
            </a:r>
            <a:endParaRPr lang="en-US" sz="4050" dirty="0"/>
          </a:p>
        </p:txBody>
      </p:sp>
      <p:sp>
        <p:nvSpPr>
          <p:cNvPr id="29" name="Text 27"/>
          <p:cNvSpPr/>
          <p:nvPr/>
        </p:nvSpPr>
        <p:spPr>
          <a:xfrm>
            <a:off x="11128415" y="5890736"/>
            <a:ext cx="6051884" cy="758190"/>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17324D"/>
                </a:solidFill>
                <a:latin typeface="Arial" pitchFamily="34" charset="0"/>
                <a:ea typeface="Arial" pitchFamily="34" charset="-122"/>
                <a:cs typeface="Arial" pitchFamily="34" charset="-120"/>
              </a:rPr>
              <a:t>the regulatory cap, hit repeatedly in the evening peak</a:t>
            </a:r>
            <a:endParaRPr lang="en-US" sz="2100" dirty="0"/>
          </a:p>
        </p:txBody>
      </p:sp>
      <p:sp>
        <p:nvSpPr>
          <p:cNvPr id="30" name="Shape 28"/>
          <p:cNvSpPr/>
          <p:nvPr/>
        </p:nvSpPr>
        <p:spPr>
          <a:xfrm>
            <a:off x="10835044" y="6874550"/>
            <a:ext cx="6462356" cy="1491258"/>
          </a:xfrm>
          <a:prstGeom prst="roundRect">
            <a:avLst>
              <a:gd name="adj" fmla="val 8942"/>
            </a:avLst>
          </a:prstGeom>
          <a:solidFill>
            <a:srgbClr val="EAF5FB"/>
          </a:solidFill>
          <a:ln w="7620">
            <a:solidFill>
              <a:srgbClr val="DCE8ED"/>
            </a:solidFill>
            <a:prstDash val="solid"/>
          </a:ln>
        </p:spPr>
      </p:sp>
      <p:sp>
        <p:nvSpPr>
          <p:cNvPr id="31" name="Text 29"/>
          <p:cNvSpPr/>
          <p:nvPr/>
        </p:nvSpPr>
        <p:spPr>
          <a:xfrm>
            <a:off x="11128415" y="6928723"/>
            <a:ext cx="6463177" cy="624840"/>
          </a:xfrm>
          <a:prstGeom prst="rect">
            <a:avLst/>
          </a:prstGeom>
          <a:noFill/>
          <a:ln/>
        </p:spPr>
        <p:txBody>
          <a:bodyPr wrap="square" lIns="25400" tIns="25400" rIns="25400" bIns="25400" rtlCol="0" anchor="t">
            <a:normAutofit lnSpcReduction="10000"/>
          </a:bodyPr>
          <a:lstStyle/>
          <a:p>
            <a:pPr marL="0" indent="0" algn="l">
              <a:buNone/>
            </a:pPr>
            <a:r>
              <a:rPr lang="en-US" sz="4050" b="1" kern="0" spc="-122" dirty="0">
                <a:solidFill>
                  <a:srgbClr val="124B68"/>
                </a:solidFill>
                <a:latin typeface="Arial" pitchFamily="34" charset="0"/>
                <a:ea typeface="Arial" pitchFamily="34" charset="-122"/>
                <a:cs typeface="Arial" pitchFamily="34" charset="-120"/>
              </a:rPr>
              <a:t>152,542</a:t>
            </a:r>
            <a:endParaRPr lang="en-US" sz="4050" dirty="0"/>
          </a:p>
        </p:txBody>
      </p:sp>
      <p:sp>
        <p:nvSpPr>
          <p:cNvPr id="32" name="Text 30"/>
          <p:cNvSpPr/>
          <p:nvPr/>
        </p:nvSpPr>
        <p:spPr>
          <a:xfrm>
            <a:off x="11128415" y="7591663"/>
            <a:ext cx="6051884" cy="758190"/>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17324D"/>
                </a:solidFill>
                <a:latin typeface="Arial" pitchFamily="34" charset="0"/>
                <a:ea typeface="Arial" pitchFamily="34" charset="-122"/>
                <a:cs typeface="Arial" pitchFamily="34" charset="-120"/>
              </a:rPr>
              <a:t>settled blocks behind these figures nothing modelled</a:t>
            </a:r>
            <a:endParaRPr lang="en-US" sz="2100" dirty="0"/>
          </a:p>
        </p:txBody>
      </p:sp>
      <p:sp>
        <p:nvSpPr>
          <p:cNvPr id="33" name="Shape 31"/>
          <p:cNvSpPr/>
          <p:nvPr/>
        </p:nvSpPr>
        <p:spPr>
          <a:xfrm>
            <a:off x="990600" y="8613457"/>
            <a:ext cx="16306800" cy="9525"/>
          </a:xfrm>
          <a:prstGeom prst="rect">
            <a:avLst/>
          </a:prstGeom>
          <a:solidFill>
            <a:srgbClr val="DCE8ED"/>
          </a:solidFill>
          <a:ln/>
        </p:spPr>
      </p:sp>
      <p:sp>
        <p:nvSpPr>
          <p:cNvPr id="34" name="Text 32"/>
          <p:cNvSpPr/>
          <p:nvPr/>
        </p:nvSpPr>
        <p:spPr>
          <a:xfrm>
            <a:off x="990600" y="8842057"/>
            <a:ext cx="13903036" cy="318135"/>
          </a:xfrm>
          <a:prstGeom prst="rect">
            <a:avLst/>
          </a:prstGeom>
          <a:noFill/>
          <a:ln/>
        </p:spPr>
        <p:txBody>
          <a:bodyPr wrap="square" lIns="0" tIns="0" rIns="0" bIns="0" rtlCol="0" anchor="t">
            <a:normAutofit fontScale="92500" lnSpcReduction="20000"/>
          </a:bodyPr>
          <a:lstStyle/>
          <a:p>
            <a:pPr marL="0" indent="0" algn="l">
              <a:lnSpc>
                <a:spcPct val="117733"/>
              </a:lnSpc>
              <a:buNone/>
            </a:pPr>
            <a:r>
              <a:rPr lang="en-US" sz="2250" b="1" dirty="0">
                <a:solidFill>
                  <a:srgbClr val="124B68"/>
                </a:solidFill>
                <a:latin typeface="Arial" pitchFamily="34" charset="0"/>
                <a:ea typeface="Arial" pitchFamily="34" charset="-122"/>
                <a:cs typeface="Arial" pitchFamily="34" charset="-120"/>
              </a:rPr>
              <a:t>Price volatility creates an economic opportunity — but only if plant flexibility can be quantified safely.</a:t>
            </a:r>
            <a:endParaRPr lang="en-US" sz="2250" dirty="0"/>
          </a:p>
        </p:txBody>
      </p:sp>
      <p:sp>
        <p:nvSpPr>
          <p:cNvPr id="35" name="Text 33"/>
          <p:cNvSpPr/>
          <p:nvPr/>
        </p:nvSpPr>
        <p:spPr>
          <a:xfrm>
            <a:off x="990600" y="9292590"/>
            <a:ext cx="17937480" cy="346710"/>
          </a:xfrm>
          <a:prstGeom prst="rect">
            <a:avLst/>
          </a:prstGeom>
          <a:noFill/>
          <a:ln/>
        </p:spPr>
        <p:txBody>
          <a:bodyPr wrap="square" lIns="25400" tIns="25400" rIns="25400" bIns="25400" rtlCol="0" anchor="t">
            <a:normAutofit lnSpcReduction="10000"/>
          </a:bodyPr>
          <a:lstStyle/>
          <a:p>
            <a:pPr marL="0" indent="0" algn="l">
              <a:lnSpc>
                <a:spcPct val="119118"/>
              </a:lnSpc>
              <a:buNone/>
            </a:pPr>
            <a:r>
              <a:rPr lang="en-US" sz="1800" dirty="0">
                <a:solidFill>
                  <a:srgbClr val="6B7C89"/>
                </a:solidFill>
                <a:latin typeface="Arial" pitchFamily="34" charset="0"/>
                <a:ea typeface="Arial" pitchFamily="34" charset="-122"/>
                <a:cs typeface="Arial" pitchFamily="34" charset="-120"/>
              </a:rPr>
              <a:t>* April–August 2026 only  India's peak-demand and peak-solar months. Seasonally biased upward; it indicates acceleration, it does not measure 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AFC"/>
        </a:solidFill>
        <a:effectLst/>
      </p:bgPr>
    </p:bg>
    <p:spTree>
      <p:nvGrpSpPr>
        <p:cNvPr id="1" name=""/>
        <p:cNvGrpSpPr/>
        <p:nvPr/>
      </p:nvGrpSpPr>
      <p:grpSpPr>
        <a:xfrm>
          <a:off x="0" y="0"/>
          <a:ext cx="0" cy="0"/>
          <a:chOff x="0" y="0"/>
          <a:chExt cx="0" cy="0"/>
        </a:xfrm>
      </p:grpSpPr>
      <p:sp>
        <p:nvSpPr>
          <p:cNvPr id="56" name="Shape 46">
            <a:extLst>
              <a:ext uri="{FF2B5EF4-FFF2-40B4-BE49-F238E27FC236}">
                <a16:creationId xmlns:a16="http://schemas.microsoft.com/office/drawing/2014/main" id="{46722556-6372-5704-B941-6DD5B28044E3}"/>
              </a:ext>
            </a:extLst>
          </p:cNvPr>
          <p:cNvSpPr/>
          <p:nvPr/>
        </p:nvSpPr>
        <p:spPr>
          <a:xfrm>
            <a:off x="1036319" y="7684525"/>
            <a:ext cx="11064003" cy="1619496"/>
          </a:xfrm>
          <a:prstGeom prst="roundRect">
            <a:avLst>
              <a:gd name="adj" fmla="val 17732"/>
            </a:avLst>
          </a:prstGeom>
          <a:solidFill>
            <a:srgbClr val="EAF7F1"/>
          </a:solidFill>
          <a:ln/>
        </p:spPr>
      </p:sp>
      <p:sp>
        <p:nvSpPr>
          <p:cNvPr id="2" name="Text 0"/>
          <p:cNvSpPr/>
          <p:nvPr/>
        </p:nvSpPr>
        <p:spPr>
          <a:xfrm>
            <a:off x="990600" y="762000"/>
            <a:ext cx="447690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THE INDUSTRIAL PROBLEM</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03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5383459" cy="643890"/>
          </a:xfrm>
          <a:prstGeom prst="rect">
            <a:avLst/>
          </a:prstGeom>
          <a:noFill/>
          <a:ln/>
        </p:spPr>
        <p:txBody>
          <a:bodyPr wrap="square" lIns="25400" tIns="25400" rIns="25400" bIns="25400" rtlCol="0" anchor="t">
            <a:normAutofit lnSpcReduction="10000"/>
          </a:bodyPr>
          <a:lstStyle/>
          <a:p>
            <a:pPr marL="0" indent="0" algn="l">
              <a:lnSpc>
                <a:spcPct val="92442"/>
              </a:lnSpc>
              <a:buNone/>
            </a:pPr>
            <a:r>
              <a:rPr lang="en-US" sz="4500" b="1" kern="0" spc="-112" dirty="0">
                <a:solidFill>
                  <a:srgbClr val="124B68"/>
                </a:solidFill>
                <a:latin typeface="Arial" pitchFamily="34" charset="0"/>
                <a:ea typeface="Arial" pitchFamily="34" charset="-122"/>
                <a:cs typeface="Arial" pitchFamily="34" charset="-120"/>
              </a:rPr>
              <a:t>A plant cannot simply follow the electricity price</a:t>
            </a:r>
            <a:endParaRPr lang="en-US" sz="4500" dirty="0"/>
          </a:p>
        </p:txBody>
      </p:sp>
      <p:sp>
        <p:nvSpPr>
          <p:cNvPr id="6" name="Shape 4"/>
          <p:cNvSpPr/>
          <p:nvPr/>
        </p:nvSpPr>
        <p:spPr>
          <a:xfrm>
            <a:off x="990600" y="2478406"/>
            <a:ext cx="4721662" cy="4838700"/>
          </a:xfrm>
          <a:prstGeom prst="roundRect">
            <a:avLst>
              <a:gd name="adj" fmla="val 2824"/>
            </a:avLst>
          </a:prstGeom>
          <a:solidFill>
            <a:srgbClr val="FFFFFF"/>
          </a:solidFill>
          <a:ln/>
          <a:effectLst>
            <a:outerShdw blurRad="28575" dist="9525" dir="5400000" algn="bl" rotWithShape="0">
              <a:srgbClr val="17324D">
                <a:alpha val="5000"/>
              </a:srgbClr>
            </a:outerShdw>
          </a:effectLst>
        </p:spPr>
      </p:sp>
      <p:sp>
        <p:nvSpPr>
          <p:cNvPr id="7" name="Shape 5"/>
          <p:cNvSpPr/>
          <p:nvPr/>
        </p:nvSpPr>
        <p:spPr>
          <a:xfrm flipV="1">
            <a:off x="1009649" y="7302096"/>
            <a:ext cx="4641654" cy="45719"/>
          </a:xfrm>
          <a:prstGeom prst="rect">
            <a:avLst/>
          </a:prstGeom>
          <a:solidFill>
            <a:srgbClr val="DCE8ED"/>
          </a:solidFill>
          <a:ln/>
        </p:spPr>
      </p:sp>
      <p:sp>
        <p:nvSpPr>
          <p:cNvPr id="8" name="Shape 6"/>
          <p:cNvSpPr/>
          <p:nvPr/>
        </p:nvSpPr>
        <p:spPr>
          <a:xfrm>
            <a:off x="990600" y="2478405"/>
            <a:ext cx="4721662" cy="38100"/>
          </a:xfrm>
          <a:prstGeom prst="rect">
            <a:avLst/>
          </a:prstGeom>
          <a:solidFill>
            <a:srgbClr val="1597D4"/>
          </a:solidFill>
          <a:ln/>
        </p:spPr>
      </p:sp>
      <p:sp>
        <p:nvSpPr>
          <p:cNvPr id="9" name="Shape 7"/>
          <p:cNvSpPr/>
          <p:nvPr/>
        </p:nvSpPr>
        <p:spPr>
          <a:xfrm>
            <a:off x="990600" y="2478405"/>
            <a:ext cx="45719" cy="4843375"/>
          </a:xfrm>
          <a:prstGeom prst="rect">
            <a:avLst/>
          </a:prstGeom>
          <a:solidFill>
            <a:srgbClr val="DCE8ED"/>
          </a:solidFill>
          <a:ln/>
        </p:spPr>
      </p:sp>
      <p:sp>
        <p:nvSpPr>
          <p:cNvPr id="10" name="Shape 8"/>
          <p:cNvSpPr/>
          <p:nvPr/>
        </p:nvSpPr>
        <p:spPr>
          <a:xfrm flipH="1">
            <a:off x="5669083" y="2529205"/>
            <a:ext cx="45719" cy="4810991"/>
          </a:xfrm>
          <a:prstGeom prst="rect">
            <a:avLst/>
          </a:prstGeom>
          <a:solidFill>
            <a:srgbClr val="DCE8ED"/>
          </a:solidFill>
          <a:ln/>
        </p:spPr>
      </p:sp>
      <p:sp>
        <p:nvSpPr>
          <p:cNvPr id="11" name="Text 9"/>
          <p:cNvSpPr/>
          <p:nvPr/>
        </p:nvSpPr>
        <p:spPr>
          <a:xfrm>
            <a:off x="1341120" y="2821305"/>
            <a:ext cx="4422684"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95" dirty="0">
                <a:solidFill>
                  <a:srgbClr val="1597D4"/>
                </a:solidFill>
                <a:latin typeface="Arial" pitchFamily="34" charset="0"/>
                <a:ea typeface="Arial" pitchFamily="34" charset="-122"/>
                <a:cs typeface="Arial" pitchFamily="34" charset="-120"/>
              </a:rPr>
              <a:t>THE MARKET ASKS FOR</a:t>
            </a:r>
            <a:endParaRPr lang="en-US" sz="1950" dirty="0"/>
          </a:p>
        </p:txBody>
      </p:sp>
      <p:sp>
        <p:nvSpPr>
          <p:cNvPr id="12" name="Text 10"/>
          <p:cNvSpPr/>
          <p:nvPr/>
        </p:nvSpPr>
        <p:spPr>
          <a:xfrm>
            <a:off x="1341120" y="3590925"/>
            <a:ext cx="4422684" cy="403860"/>
          </a:xfrm>
          <a:prstGeom prst="rect">
            <a:avLst/>
          </a:prstGeom>
          <a:noFill/>
          <a:ln/>
        </p:spPr>
        <p:txBody>
          <a:bodyPr wrap="none" lIns="25400" tIns="25400" rIns="25400" bIns="25400" rtlCol="0" anchor="t">
            <a:normAutofit lnSpcReduction="10000"/>
          </a:bodyPr>
          <a:lstStyle/>
          <a:p>
            <a:pPr marL="0" indent="0" algn="l">
              <a:buNone/>
            </a:pPr>
            <a:r>
              <a:rPr lang="en-US" sz="2550" b="1" dirty="0">
                <a:solidFill>
                  <a:srgbClr val="22A06B"/>
                </a:solidFill>
                <a:latin typeface="Arial" pitchFamily="34" charset="0"/>
                <a:ea typeface="Arial" pitchFamily="34" charset="-122"/>
                <a:cs typeface="Arial" pitchFamily="34" charset="-120"/>
              </a:rPr>
              <a:t>Low price</a:t>
            </a:r>
            <a:endParaRPr lang="en-US" sz="2550" dirty="0"/>
          </a:p>
        </p:txBody>
      </p:sp>
      <p:sp>
        <p:nvSpPr>
          <p:cNvPr id="13" name="Text 11"/>
          <p:cNvSpPr/>
          <p:nvPr/>
        </p:nvSpPr>
        <p:spPr>
          <a:xfrm>
            <a:off x="1341120" y="4013835"/>
            <a:ext cx="4422684" cy="441960"/>
          </a:xfrm>
          <a:prstGeom prst="rect">
            <a:avLst/>
          </a:prstGeom>
          <a:noFill/>
          <a:ln/>
        </p:spPr>
        <p:txBody>
          <a:bodyPr wrap="none" lIns="25400" tIns="25400" rIns="25400" bIns="25400" rtlCol="0" anchor="t">
            <a:normAutofit/>
          </a:bodyPr>
          <a:lstStyle/>
          <a:p>
            <a:pPr marL="0" indent="0" algn="l">
              <a:buNone/>
            </a:pPr>
            <a:r>
              <a:rPr lang="en-US" sz="2400" dirty="0">
                <a:solidFill>
                  <a:srgbClr val="17324D"/>
                </a:solidFill>
                <a:latin typeface="Arial" pitchFamily="34" charset="0"/>
                <a:ea typeface="Arial" pitchFamily="34" charset="-122"/>
                <a:cs typeface="Arial" pitchFamily="34" charset="-120"/>
              </a:rPr>
              <a:t>→ consume more</a:t>
            </a:r>
            <a:endParaRPr lang="en-US" sz="2400" dirty="0"/>
          </a:p>
        </p:txBody>
      </p:sp>
      <p:sp>
        <p:nvSpPr>
          <p:cNvPr id="14" name="Text 12"/>
          <p:cNvSpPr/>
          <p:nvPr/>
        </p:nvSpPr>
        <p:spPr>
          <a:xfrm>
            <a:off x="1341120" y="4703445"/>
            <a:ext cx="4422684" cy="403860"/>
          </a:xfrm>
          <a:prstGeom prst="rect">
            <a:avLst/>
          </a:prstGeom>
          <a:noFill/>
          <a:ln/>
        </p:spPr>
        <p:txBody>
          <a:bodyPr wrap="none" lIns="25400" tIns="25400" rIns="25400" bIns="25400" rtlCol="0" anchor="t">
            <a:normAutofit lnSpcReduction="10000"/>
          </a:bodyPr>
          <a:lstStyle/>
          <a:p>
            <a:pPr marL="0" indent="0" algn="l">
              <a:buNone/>
            </a:pPr>
            <a:r>
              <a:rPr lang="en-US" sz="2550" b="1" dirty="0">
                <a:solidFill>
                  <a:srgbClr val="E9A72C"/>
                </a:solidFill>
                <a:latin typeface="Arial" pitchFamily="34" charset="0"/>
                <a:ea typeface="Arial" pitchFamily="34" charset="-122"/>
                <a:cs typeface="Arial" pitchFamily="34" charset="-120"/>
              </a:rPr>
              <a:t>High price</a:t>
            </a:r>
            <a:endParaRPr lang="en-US" sz="2550" dirty="0"/>
          </a:p>
        </p:txBody>
      </p:sp>
      <p:sp>
        <p:nvSpPr>
          <p:cNvPr id="15" name="Text 13"/>
          <p:cNvSpPr/>
          <p:nvPr/>
        </p:nvSpPr>
        <p:spPr>
          <a:xfrm>
            <a:off x="1341120" y="5126355"/>
            <a:ext cx="4422684" cy="441960"/>
          </a:xfrm>
          <a:prstGeom prst="rect">
            <a:avLst/>
          </a:prstGeom>
          <a:noFill/>
          <a:ln/>
        </p:spPr>
        <p:txBody>
          <a:bodyPr wrap="none" lIns="25400" tIns="25400" rIns="25400" bIns="25400" rtlCol="0" anchor="t">
            <a:normAutofit/>
          </a:bodyPr>
          <a:lstStyle/>
          <a:p>
            <a:pPr marL="0" indent="0" algn="l">
              <a:buNone/>
            </a:pPr>
            <a:r>
              <a:rPr lang="en-US" sz="2400" dirty="0">
                <a:solidFill>
                  <a:srgbClr val="17324D"/>
                </a:solidFill>
                <a:latin typeface="Arial" pitchFamily="34" charset="0"/>
                <a:ea typeface="Arial" pitchFamily="34" charset="-122"/>
                <a:cs typeface="Arial" pitchFamily="34" charset="-120"/>
              </a:rPr>
              <a:t>→ consume less</a:t>
            </a:r>
            <a:endParaRPr lang="en-US" sz="2400" dirty="0"/>
          </a:p>
        </p:txBody>
      </p:sp>
      <p:sp>
        <p:nvSpPr>
          <p:cNvPr id="16" name="Text 14"/>
          <p:cNvSpPr/>
          <p:nvPr/>
        </p:nvSpPr>
        <p:spPr>
          <a:xfrm>
            <a:off x="1341120" y="5873115"/>
            <a:ext cx="4141240" cy="1198245"/>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6B7C89"/>
                </a:solidFill>
                <a:latin typeface="Arial" pitchFamily="34" charset="0"/>
                <a:ea typeface="Arial" pitchFamily="34" charset="-122"/>
                <a:cs typeface="Arial" pitchFamily="34" charset="-120"/>
              </a:rPr>
              <a:t>Two rules, both of them ignorant of what the plant is making.</a:t>
            </a:r>
            <a:endParaRPr lang="en-US" sz="2175" dirty="0"/>
          </a:p>
        </p:txBody>
      </p:sp>
      <p:sp>
        <p:nvSpPr>
          <p:cNvPr id="17" name="Shape 15"/>
          <p:cNvSpPr/>
          <p:nvPr/>
        </p:nvSpPr>
        <p:spPr>
          <a:xfrm>
            <a:off x="5978962" y="2450695"/>
            <a:ext cx="6128981" cy="4871085"/>
          </a:xfrm>
          <a:prstGeom prst="roundRect">
            <a:avLst>
              <a:gd name="adj" fmla="val 2176"/>
            </a:avLst>
          </a:prstGeom>
          <a:solidFill>
            <a:srgbClr val="FFFFFF"/>
          </a:solidFill>
          <a:ln/>
          <a:effectLst>
            <a:outerShdw blurRad="28575" dist="9525" dir="5400000" algn="bl" rotWithShape="0">
              <a:srgbClr val="17324D">
                <a:alpha val="5000"/>
              </a:srgbClr>
            </a:outerShdw>
          </a:effectLst>
        </p:spPr>
      </p:sp>
      <p:sp>
        <p:nvSpPr>
          <p:cNvPr id="18" name="Shape 16"/>
          <p:cNvSpPr/>
          <p:nvPr/>
        </p:nvSpPr>
        <p:spPr>
          <a:xfrm>
            <a:off x="5978962" y="7307580"/>
            <a:ext cx="6128981" cy="9525"/>
          </a:xfrm>
          <a:prstGeom prst="rect">
            <a:avLst/>
          </a:prstGeom>
          <a:solidFill>
            <a:srgbClr val="DCE8ED"/>
          </a:solidFill>
          <a:ln/>
        </p:spPr>
      </p:sp>
      <p:sp>
        <p:nvSpPr>
          <p:cNvPr id="19" name="Shape 17"/>
          <p:cNvSpPr/>
          <p:nvPr/>
        </p:nvSpPr>
        <p:spPr>
          <a:xfrm>
            <a:off x="5978962" y="2478405"/>
            <a:ext cx="6128981" cy="38100"/>
          </a:xfrm>
          <a:prstGeom prst="rect">
            <a:avLst/>
          </a:prstGeom>
          <a:solidFill>
            <a:srgbClr val="124B68"/>
          </a:solidFill>
          <a:ln/>
        </p:spPr>
      </p:sp>
      <p:sp>
        <p:nvSpPr>
          <p:cNvPr id="20" name="Shape 18"/>
          <p:cNvSpPr/>
          <p:nvPr/>
        </p:nvSpPr>
        <p:spPr>
          <a:xfrm>
            <a:off x="5978962" y="2493645"/>
            <a:ext cx="45719" cy="4795751"/>
          </a:xfrm>
          <a:prstGeom prst="rect">
            <a:avLst/>
          </a:prstGeom>
          <a:solidFill>
            <a:srgbClr val="DCE8ED"/>
          </a:solidFill>
          <a:ln/>
        </p:spPr>
      </p:sp>
      <p:sp>
        <p:nvSpPr>
          <p:cNvPr id="21" name="Shape 19"/>
          <p:cNvSpPr/>
          <p:nvPr/>
        </p:nvSpPr>
        <p:spPr>
          <a:xfrm>
            <a:off x="12100322" y="2478406"/>
            <a:ext cx="45719" cy="4838700"/>
          </a:xfrm>
          <a:prstGeom prst="rect">
            <a:avLst/>
          </a:prstGeom>
          <a:solidFill>
            <a:srgbClr val="DCE8ED"/>
          </a:solidFill>
          <a:ln/>
        </p:spPr>
      </p:sp>
      <p:sp>
        <p:nvSpPr>
          <p:cNvPr id="22" name="Text 20"/>
          <p:cNvSpPr/>
          <p:nvPr/>
        </p:nvSpPr>
        <p:spPr>
          <a:xfrm>
            <a:off x="6329482" y="2821305"/>
            <a:ext cx="5970734"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95" dirty="0">
                <a:solidFill>
                  <a:srgbClr val="124B68"/>
                </a:solidFill>
                <a:latin typeface="Arial" pitchFamily="34" charset="0"/>
                <a:ea typeface="Arial" pitchFamily="34" charset="-122"/>
                <a:cs typeface="Arial" pitchFamily="34" charset="-120"/>
              </a:rPr>
              <a:t>THE PLANT ANSWERS TO</a:t>
            </a:r>
            <a:endParaRPr lang="en-US" sz="1950" dirty="0"/>
          </a:p>
        </p:txBody>
      </p:sp>
      <p:sp>
        <p:nvSpPr>
          <p:cNvPr id="23" name="Shape 21"/>
          <p:cNvSpPr/>
          <p:nvPr/>
        </p:nvSpPr>
        <p:spPr>
          <a:xfrm>
            <a:off x="6329482" y="3614738"/>
            <a:ext cx="1706999" cy="632460"/>
          </a:xfrm>
          <a:prstGeom prst="roundRect">
            <a:avLst>
              <a:gd name="adj" fmla="val 12048"/>
            </a:avLst>
          </a:prstGeom>
          <a:solidFill>
            <a:srgbClr val="EAF7F1"/>
          </a:solidFill>
          <a:ln/>
        </p:spPr>
      </p:sp>
      <p:sp>
        <p:nvSpPr>
          <p:cNvPr id="24" name="Text 22"/>
          <p:cNvSpPr/>
          <p:nvPr/>
        </p:nvSpPr>
        <p:spPr>
          <a:xfrm>
            <a:off x="6519982" y="3767138"/>
            <a:ext cx="1402199"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24B68"/>
                </a:solidFill>
                <a:latin typeface="Arial" pitchFamily="34" charset="0"/>
                <a:ea typeface="Arial" pitchFamily="34" charset="-122"/>
                <a:cs typeface="Arial" pitchFamily="34" charset="-120"/>
              </a:rPr>
              <a:t>Safety</a:t>
            </a:r>
            <a:endParaRPr lang="en-US" sz="2250" dirty="0"/>
          </a:p>
        </p:txBody>
      </p:sp>
      <p:sp>
        <p:nvSpPr>
          <p:cNvPr id="25" name="Shape 23"/>
          <p:cNvSpPr/>
          <p:nvPr/>
        </p:nvSpPr>
        <p:spPr>
          <a:xfrm>
            <a:off x="8169831" y="3614738"/>
            <a:ext cx="1747123" cy="632460"/>
          </a:xfrm>
          <a:prstGeom prst="roundRect">
            <a:avLst>
              <a:gd name="adj" fmla="val 12048"/>
            </a:avLst>
          </a:prstGeom>
          <a:solidFill>
            <a:srgbClr val="EAF7F1"/>
          </a:solidFill>
          <a:ln/>
        </p:spPr>
      </p:sp>
      <p:sp>
        <p:nvSpPr>
          <p:cNvPr id="26" name="Text 24"/>
          <p:cNvSpPr/>
          <p:nvPr/>
        </p:nvSpPr>
        <p:spPr>
          <a:xfrm>
            <a:off x="8360331" y="3753283"/>
            <a:ext cx="1499604" cy="429144"/>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124B68"/>
                </a:solidFill>
                <a:latin typeface="Arial" pitchFamily="34" charset="0"/>
                <a:ea typeface="Arial" pitchFamily="34" charset="-122"/>
                <a:cs typeface="Arial" pitchFamily="34" charset="-120"/>
              </a:rPr>
              <a:t>Production</a:t>
            </a:r>
            <a:endParaRPr lang="en-US" sz="2250" dirty="0"/>
          </a:p>
        </p:txBody>
      </p:sp>
      <p:sp>
        <p:nvSpPr>
          <p:cNvPr id="27" name="Shape 25"/>
          <p:cNvSpPr/>
          <p:nvPr/>
        </p:nvSpPr>
        <p:spPr>
          <a:xfrm>
            <a:off x="10050304" y="3614738"/>
            <a:ext cx="1707118" cy="632460"/>
          </a:xfrm>
          <a:prstGeom prst="roundRect">
            <a:avLst>
              <a:gd name="adj" fmla="val 12048"/>
            </a:avLst>
          </a:prstGeom>
          <a:solidFill>
            <a:srgbClr val="EAF7F1"/>
          </a:solidFill>
          <a:ln/>
        </p:spPr>
      </p:sp>
      <p:sp>
        <p:nvSpPr>
          <p:cNvPr id="28" name="Text 26"/>
          <p:cNvSpPr/>
          <p:nvPr/>
        </p:nvSpPr>
        <p:spPr>
          <a:xfrm>
            <a:off x="10240804" y="3767138"/>
            <a:ext cx="1402318"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24B68"/>
                </a:solidFill>
                <a:latin typeface="Arial" pitchFamily="34" charset="0"/>
                <a:ea typeface="Arial" pitchFamily="34" charset="-122"/>
                <a:cs typeface="Arial" pitchFamily="34" charset="-120"/>
              </a:rPr>
              <a:t>Quality</a:t>
            </a:r>
            <a:endParaRPr lang="en-US" sz="2250" dirty="0"/>
          </a:p>
        </p:txBody>
      </p:sp>
      <p:sp>
        <p:nvSpPr>
          <p:cNvPr id="29" name="Shape 27"/>
          <p:cNvSpPr/>
          <p:nvPr/>
        </p:nvSpPr>
        <p:spPr>
          <a:xfrm>
            <a:off x="6329482" y="4380548"/>
            <a:ext cx="2647236" cy="655320"/>
          </a:xfrm>
          <a:prstGeom prst="roundRect">
            <a:avLst>
              <a:gd name="adj" fmla="val 11628"/>
            </a:avLst>
          </a:prstGeom>
          <a:solidFill>
            <a:srgbClr val="F5FAFC"/>
          </a:solidFill>
          <a:ln w="7620">
            <a:solidFill>
              <a:srgbClr val="DCE8ED"/>
            </a:solidFill>
            <a:prstDash val="solid"/>
          </a:ln>
        </p:spPr>
      </p:sp>
      <p:sp>
        <p:nvSpPr>
          <p:cNvPr id="30" name="Text 28"/>
          <p:cNvSpPr/>
          <p:nvPr/>
        </p:nvSpPr>
        <p:spPr>
          <a:xfrm>
            <a:off x="6527602" y="4540568"/>
            <a:ext cx="2330413" cy="37338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7324D"/>
                </a:solidFill>
                <a:latin typeface="Arial" pitchFamily="34" charset="0"/>
                <a:ea typeface="Arial" pitchFamily="34" charset="-122"/>
                <a:cs typeface="Arial" pitchFamily="34" charset="-120"/>
              </a:rPr>
              <a:t>Inventory</a:t>
            </a:r>
            <a:endParaRPr lang="en-US" sz="2175" dirty="0"/>
          </a:p>
        </p:txBody>
      </p:sp>
      <p:sp>
        <p:nvSpPr>
          <p:cNvPr id="31" name="Shape 29"/>
          <p:cNvSpPr/>
          <p:nvPr/>
        </p:nvSpPr>
        <p:spPr>
          <a:xfrm>
            <a:off x="9110067" y="4380548"/>
            <a:ext cx="2647355" cy="655320"/>
          </a:xfrm>
          <a:prstGeom prst="roundRect">
            <a:avLst>
              <a:gd name="adj" fmla="val 11628"/>
            </a:avLst>
          </a:prstGeom>
          <a:solidFill>
            <a:srgbClr val="F5FAFC"/>
          </a:solidFill>
          <a:ln w="7620">
            <a:solidFill>
              <a:srgbClr val="DCE8ED"/>
            </a:solidFill>
            <a:prstDash val="solid"/>
          </a:ln>
        </p:spPr>
      </p:sp>
      <p:sp>
        <p:nvSpPr>
          <p:cNvPr id="32" name="Text 30"/>
          <p:cNvSpPr/>
          <p:nvPr/>
        </p:nvSpPr>
        <p:spPr>
          <a:xfrm>
            <a:off x="9308187" y="4540568"/>
            <a:ext cx="2330535" cy="37338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7324D"/>
                </a:solidFill>
                <a:latin typeface="Arial" pitchFamily="34" charset="0"/>
                <a:ea typeface="Arial" pitchFamily="34" charset="-122"/>
                <a:cs typeface="Arial" pitchFamily="34" charset="-120"/>
              </a:rPr>
              <a:t>Ramp rate</a:t>
            </a:r>
            <a:endParaRPr lang="en-US" sz="2175" dirty="0"/>
          </a:p>
        </p:txBody>
      </p:sp>
      <p:sp>
        <p:nvSpPr>
          <p:cNvPr id="33" name="Shape 31"/>
          <p:cNvSpPr/>
          <p:nvPr/>
        </p:nvSpPr>
        <p:spPr>
          <a:xfrm>
            <a:off x="6329482" y="5169218"/>
            <a:ext cx="2647236" cy="990600"/>
          </a:xfrm>
          <a:prstGeom prst="roundRect">
            <a:avLst>
              <a:gd name="adj" fmla="val 7692"/>
            </a:avLst>
          </a:prstGeom>
          <a:solidFill>
            <a:srgbClr val="F5FAFC"/>
          </a:solidFill>
          <a:ln w="7620">
            <a:solidFill>
              <a:srgbClr val="DCE8ED"/>
            </a:solidFill>
            <a:prstDash val="solid"/>
          </a:ln>
        </p:spPr>
      </p:sp>
      <p:sp>
        <p:nvSpPr>
          <p:cNvPr id="34" name="Text 32"/>
          <p:cNvSpPr/>
          <p:nvPr/>
        </p:nvSpPr>
        <p:spPr>
          <a:xfrm>
            <a:off x="6527602" y="5329238"/>
            <a:ext cx="2330413" cy="708660"/>
          </a:xfrm>
          <a:prstGeom prst="rect">
            <a:avLst/>
          </a:prstGeom>
          <a:noFill/>
          <a:ln/>
        </p:spPr>
        <p:txBody>
          <a:bodyPr wrap="square" lIns="25400" tIns="25400" rIns="25400" bIns="25400" rtlCol="0" anchor="t">
            <a:normAutofit/>
          </a:bodyPr>
          <a:lstStyle/>
          <a:p>
            <a:pPr marL="0" indent="0" algn="l">
              <a:buNone/>
            </a:pPr>
            <a:r>
              <a:rPr lang="en-US" sz="2175" dirty="0">
                <a:solidFill>
                  <a:srgbClr val="17324D"/>
                </a:solidFill>
                <a:latin typeface="Arial" pitchFamily="34" charset="0"/>
                <a:ea typeface="Arial" pitchFamily="34" charset="-122"/>
                <a:cs typeface="Arial" pitchFamily="34" charset="-120"/>
              </a:rPr>
              <a:t>Equipment limits</a:t>
            </a:r>
            <a:endParaRPr lang="en-US" sz="2175" dirty="0"/>
          </a:p>
        </p:txBody>
      </p:sp>
      <p:sp>
        <p:nvSpPr>
          <p:cNvPr id="35" name="Shape 33"/>
          <p:cNvSpPr/>
          <p:nvPr/>
        </p:nvSpPr>
        <p:spPr>
          <a:xfrm>
            <a:off x="9110067" y="5169218"/>
            <a:ext cx="2647355" cy="990600"/>
          </a:xfrm>
          <a:prstGeom prst="roundRect">
            <a:avLst>
              <a:gd name="adj" fmla="val 7692"/>
            </a:avLst>
          </a:prstGeom>
          <a:solidFill>
            <a:srgbClr val="F5FAFC"/>
          </a:solidFill>
          <a:ln w="7620">
            <a:solidFill>
              <a:srgbClr val="DCE8ED"/>
            </a:solidFill>
            <a:prstDash val="solid"/>
          </a:ln>
        </p:spPr>
      </p:sp>
      <p:sp>
        <p:nvSpPr>
          <p:cNvPr id="36" name="Text 34"/>
          <p:cNvSpPr/>
          <p:nvPr/>
        </p:nvSpPr>
        <p:spPr>
          <a:xfrm>
            <a:off x="9308187" y="5329238"/>
            <a:ext cx="2330535" cy="70866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7324D"/>
                </a:solidFill>
                <a:latin typeface="Arial" pitchFamily="34" charset="0"/>
                <a:ea typeface="Arial" pitchFamily="34" charset="-122"/>
                <a:cs typeface="Arial" pitchFamily="34" charset="-120"/>
              </a:rPr>
              <a:t>Downstream demand</a:t>
            </a:r>
            <a:endParaRPr lang="en-US" sz="2175" dirty="0"/>
          </a:p>
        </p:txBody>
      </p:sp>
      <p:sp>
        <p:nvSpPr>
          <p:cNvPr id="37" name="Text 35"/>
          <p:cNvSpPr/>
          <p:nvPr/>
        </p:nvSpPr>
        <p:spPr>
          <a:xfrm>
            <a:off x="6329482" y="6407468"/>
            <a:ext cx="5590778" cy="811530"/>
          </a:xfrm>
          <a:prstGeom prst="rect">
            <a:avLst/>
          </a:prstGeom>
          <a:noFill/>
          <a:ln/>
        </p:spPr>
        <p:txBody>
          <a:bodyPr wrap="square" lIns="25400" tIns="25400" rIns="25400" bIns="25400" rtlCol="0" anchor="t">
            <a:normAutofit lnSpcReduction="10000"/>
          </a:bodyPr>
          <a:lstStyle/>
          <a:p>
            <a:pPr marL="0" indent="0" algn="l">
              <a:lnSpc>
                <a:spcPct val="120833"/>
              </a:lnSpc>
              <a:buNone/>
            </a:pPr>
            <a:r>
              <a:rPr lang="en-US" sz="2175" dirty="0">
                <a:solidFill>
                  <a:srgbClr val="6B7C89"/>
                </a:solidFill>
                <a:latin typeface="Arial" pitchFamily="34" charset="0"/>
                <a:ea typeface="Arial" pitchFamily="34" charset="-122"/>
                <a:cs typeface="Arial" pitchFamily="34" charset="-120"/>
              </a:rPr>
              <a:t>Electricity cost ranks below every one of these  and always will.</a:t>
            </a:r>
            <a:endParaRPr lang="en-US" sz="2175" dirty="0"/>
          </a:p>
        </p:txBody>
      </p:sp>
      <p:sp>
        <p:nvSpPr>
          <p:cNvPr id="38" name="Shape 36"/>
          <p:cNvSpPr/>
          <p:nvPr/>
        </p:nvSpPr>
        <p:spPr>
          <a:xfrm>
            <a:off x="12374642" y="2478405"/>
            <a:ext cx="4922758" cy="7122795"/>
          </a:xfrm>
          <a:prstGeom prst="roundRect">
            <a:avLst>
              <a:gd name="adj" fmla="val 2709"/>
            </a:avLst>
          </a:prstGeom>
          <a:solidFill>
            <a:srgbClr val="EAF5FB"/>
          </a:solidFill>
          <a:ln w="7620">
            <a:solidFill>
              <a:srgbClr val="C7E2F1"/>
            </a:solidFill>
            <a:prstDash val="solid"/>
          </a:ln>
        </p:spPr>
      </p:sp>
      <p:sp>
        <p:nvSpPr>
          <p:cNvPr id="39" name="Text 37"/>
          <p:cNvSpPr/>
          <p:nvPr/>
        </p:nvSpPr>
        <p:spPr>
          <a:xfrm>
            <a:off x="12725162" y="2624614"/>
            <a:ext cx="4643890"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95" dirty="0">
                <a:solidFill>
                  <a:srgbClr val="1597D4"/>
                </a:solidFill>
                <a:latin typeface="Arial" pitchFamily="34" charset="0"/>
                <a:ea typeface="Arial" pitchFamily="34" charset="-122"/>
                <a:cs typeface="Arial" pitchFamily="34" charset="-120"/>
              </a:rPr>
              <a:t>THE FLEXIBILITY GAP</a:t>
            </a:r>
            <a:endParaRPr lang="en-US" sz="1950" dirty="0"/>
          </a:p>
        </p:txBody>
      </p:sp>
      <p:sp>
        <p:nvSpPr>
          <p:cNvPr id="40" name="Text 38"/>
          <p:cNvSpPr/>
          <p:nvPr/>
        </p:nvSpPr>
        <p:spPr>
          <a:xfrm>
            <a:off x="12725162" y="3097054"/>
            <a:ext cx="4348370" cy="1735455"/>
          </a:xfrm>
          <a:prstGeom prst="rect">
            <a:avLst/>
          </a:prstGeom>
          <a:noFill/>
          <a:ln/>
        </p:spPr>
        <p:txBody>
          <a:bodyPr wrap="square" lIns="25400" tIns="25400" rIns="25400" bIns="25400" rtlCol="0" anchor="t">
            <a:normAutofit fontScale="92500"/>
          </a:bodyPr>
          <a:lstStyle/>
          <a:p>
            <a:pPr marL="0" indent="0" algn="l">
              <a:lnSpc>
                <a:spcPct val="118484"/>
              </a:lnSpc>
              <a:buNone/>
            </a:pPr>
            <a:r>
              <a:rPr lang="en-US" sz="2475" b="1" dirty="0">
                <a:solidFill>
                  <a:srgbClr val="124B68"/>
                </a:solidFill>
                <a:latin typeface="Arial" pitchFamily="34" charset="0"/>
                <a:ea typeface="Arial" pitchFamily="34" charset="-122"/>
                <a:cs typeface="Arial" pitchFamily="34" charset="-120"/>
              </a:rPr>
              <a:t>Electricity markets know the price. Plants know their process. The missing layer is the decision between them.</a:t>
            </a:r>
            <a:endParaRPr lang="en-US" sz="2475" dirty="0"/>
          </a:p>
        </p:txBody>
      </p:sp>
      <p:sp>
        <p:nvSpPr>
          <p:cNvPr id="41" name="Text 39"/>
          <p:cNvSpPr/>
          <p:nvPr/>
        </p:nvSpPr>
        <p:spPr>
          <a:xfrm>
            <a:off x="12725162" y="5175409"/>
            <a:ext cx="4348370" cy="2366010"/>
          </a:xfrm>
          <a:prstGeom prst="rect">
            <a:avLst/>
          </a:prstGeom>
          <a:noFill/>
          <a:ln/>
        </p:spPr>
        <p:txBody>
          <a:bodyPr wrap="square" lIns="25400" tIns="25400" rIns="25400" bIns="25400" rtlCol="0" anchor="t">
            <a:normAutofit/>
          </a:bodyPr>
          <a:lstStyle/>
          <a:p>
            <a:pPr marL="0" indent="0" algn="l">
              <a:lnSpc>
                <a:spcPct val="120833"/>
              </a:lnSpc>
              <a:buNone/>
            </a:pPr>
            <a:r>
              <a:rPr lang="en-US" sz="2175" b="1" dirty="0">
                <a:solidFill>
                  <a:srgbClr val="124B68"/>
                </a:solidFill>
                <a:latin typeface="Arial" pitchFamily="34" charset="0"/>
                <a:ea typeface="Arial" pitchFamily="34" charset="-122"/>
                <a:cs typeface="Arial" pitchFamily="34" charset="-120"/>
              </a:rPr>
              <a:t>PRANA is that layer. </a:t>
            </a:r>
            <a:r>
              <a:rPr lang="en-US" sz="2175" dirty="0">
                <a:solidFill>
                  <a:srgbClr val="17324D"/>
                </a:solidFill>
                <a:latin typeface="Arial" pitchFamily="34" charset="0"/>
                <a:ea typeface="Arial" pitchFamily="34" charset="-122"/>
                <a:cs typeface="Arial" pitchFamily="34" charset="-120"/>
              </a:rPr>
              <a:t>It quantifies how much electrical flexibility a process can safely and economically use, and returns one of three answers each morning:</a:t>
            </a:r>
            <a:endParaRPr lang="en-US" sz="2175" dirty="0"/>
          </a:p>
        </p:txBody>
      </p:sp>
      <p:sp>
        <p:nvSpPr>
          <p:cNvPr id="42" name="Shape 40"/>
          <p:cNvSpPr/>
          <p:nvPr/>
        </p:nvSpPr>
        <p:spPr>
          <a:xfrm>
            <a:off x="12725162" y="7693819"/>
            <a:ext cx="1319808" cy="876300"/>
          </a:xfrm>
          <a:prstGeom prst="roundRect">
            <a:avLst>
              <a:gd name="adj" fmla="val 8696"/>
            </a:avLst>
          </a:prstGeom>
          <a:solidFill>
            <a:srgbClr val="FFFFFF"/>
          </a:solidFill>
          <a:ln w="7620">
            <a:solidFill>
              <a:srgbClr val="BFE5D4"/>
            </a:solidFill>
            <a:prstDash val="solid"/>
          </a:ln>
        </p:spPr>
      </p:sp>
      <p:sp>
        <p:nvSpPr>
          <p:cNvPr id="43" name="Text 41"/>
          <p:cNvSpPr/>
          <p:nvPr/>
        </p:nvSpPr>
        <p:spPr>
          <a:xfrm>
            <a:off x="12770882" y="7834789"/>
            <a:ext cx="1228368" cy="632460"/>
          </a:xfrm>
          <a:prstGeom prst="rect">
            <a:avLst/>
          </a:prstGeom>
          <a:noFill/>
          <a:ln/>
        </p:spPr>
        <p:txBody>
          <a:bodyPr wrap="square" lIns="25400" tIns="25400" rIns="25400" bIns="25400" rtlCol="0" anchor="t">
            <a:normAutofit/>
          </a:bodyPr>
          <a:lstStyle/>
          <a:p>
            <a:pPr marL="0" indent="0" algn="ctr">
              <a:buNone/>
            </a:pPr>
            <a:r>
              <a:rPr lang="en-US" sz="2025" b="1" dirty="0">
                <a:solidFill>
                  <a:srgbClr val="22A06B"/>
                </a:solidFill>
                <a:latin typeface="Arial" pitchFamily="34" charset="0"/>
                <a:ea typeface="Arial" pitchFamily="34" charset="-122"/>
                <a:cs typeface="Arial" pitchFamily="34" charset="-120"/>
              </a:rPr>
              <a:t>SHIFT</a:t>
            </a:r>
            <a:endParaRPr lang="en-US" sz="2025" dirty="0"/>
          </a:p>
        </p:txBody>
      </p:sp>
      <p:sp>
        <p:nvSpPr>
          <p:cNvPr id="44" name="Shape 42"/>
          <p:cNvSpPr/>
          <p:nvPr/>
        </p:nvSpPr>
        <p:spPr>
          <a:xfrm>
            <a:off x="14159269" y="7693819"/>
            <a:ext cx="1319927" cy="876300"/>
          </a:xfrm>
          <a:prstGeom prst="roundRect">
            <a:avLst>
              <a:gd name="adj" fmla="val 8696"/>
            </a:avLst>
          </a:prstGeom>
          <a:solidFill>
            <a:srgbClr val="FFFFFF"/>
          </a:solidFill>
          <a:ln w="7620">
            <a:solidFill>
              <a:srgbClr val="DCE8ED"/>
            </a:solidFill>
            <a:prstDash val="solid"/>
          </a:ln>
        </p:spPr>
      </p:sp>
      <p:sp>
        <p:nvSpPr>
          <p:cNvPr id="45" name="Text 43"/>
          <p:cNvSpPr/>
          <p:nvPr/>
        </p:nvSpPr>
        <p:spPr>
          <a:xfrm>
            <a:off x="14204989" y="7834789"/>
            <a:ext cx="1228487" cy="632460"/>
          </a:xfrm>
          <a:prstGeom prst="rect">
            <a:avLst/>
          </a:prstGeom>
          <a:noFill/>
          <a:ln/>
        </p:spPr>
        <p:txBody>
          <a:bodyPr wrap="square" lIns="25400" tIns="25400" rIns="25400" bIns="25400" rtlCol="0" anchor="t">
            <a:normAutofit/>
          </a:bodyPr>
          <a:lstStyle/>
          <a:p>
            <a:pPr marL="0" indent="0" algn="ctr">
              <a:buNone/>
            </a:pPr>
            <a:r>
              <a:rPr lang="en-US" sz="2025" b="1" dirty="0">
                <a:solidFill>
                  <a:srgbClr val="1597D4"/>
                </a:solidFill>
                <a:latin typeface="Arial" pitchFamily="34" charset="0"/>
                <a:ea typeface="Arial" pitchFamily="34" charset="-122"/>
                <a:cs typeface="Arial" pitchFamily="34" charset="-120"/>
              </a:rPr>
              <a:t>HOLD</a:t>
            </a:r>
            <a:endParaRPr lang="en-US" sz="2025" dirty="0"/>
          </a:p>
        </p:txBody>
      </p:sp>
      <p:sp>
        <p:nvSpPr>
          <p:cNvPr id="46" name="Shape 44"/>
          <p:cNvSpPr/>
          <p:nvPr/>
        </p:nvSpPr>
        <p:spPr>
          <a:xfrm>
            <a:off x="15593497" y="7693819"/>
            <a:ext cx="1353384" cy="876300"/>
          </a:xfrm>
          <a:prstGeom prst="roundRect">
            <a:avLst>
              <a:gd name="adj" fmla="val 8696"/>
            </a:avLst>
          </a:prstGeom>
          <a:solidFill>
            <a:srgbClr val="FFFFFF"/>
          </a:solidFill>
          <a:ln w="7620">
            <a:solidFill>
              <a:srgbClr val="DCE8ED"/>
            </a:solidFill>
            <a:prstDash val="solid"/>
          </a:ln>
        </p:spPr>
      </p:sp>
      <p:sp>
        <p:nvSpPr>
          <p:cNvPr id="47" name="Text 45"/>
          <p:cNvSpPr/>
          <p:nvPr/>
        </p:nvSpPr>
        <p:spPr>
          <a:xfrm>
            <a:off x="15639217" y="7834789"/>
            <a:ext cx="1261944" cy="632460"/>
          </a:xfrm>
          <a:prstGeom prst="rect">
            <a:avLst/>
          </a:prstGeom>
          <a:noFill/>
          <a:ln/>
        </p:spPr>
        <p:txBody>
          <a:bodyPr wrap="square" lIns="25400" tIns="25400" rIns="25400" bIns="25400" rtlCol="0" anchor="t">
            <a:normAutofit lnSpcReduction="10000"/>
          </a:bodyPr>
          <a:lstStyle/>
          <a:p>
            <a:pPr marL="0" indent="0" algn="ctr">
              <a:buNone/>
            </a:pPr>
            <a:r>
              <a:rPr lang="en-US" sz="2025" b="1" dirty="0">
                <a:solidFill>
                  <a:srgbClr val="6B7C89"/>
                </a:solidFill>
                <a:latin typeface="Arial" pitchFamily="34" charset="0"/>
                <a:ea typeface="Arial" pitchFamily="34" charset="-122"/>
                <a:cs typeface="Arial" pitchFamily="34" charset="-120"/>
              </a:rPr>
              <a:t>DO NOTHING</a:t>
            </a:r>
            <a:endParaRPr lang="en-US" sz="2025" dirty="0"/>
          </a:p>
        </p:txBody>
      </p:sp>
      <p:sp>
        <p:nvSpPr>
          <p:cNvPr id="48" name="Text 46"/>
          <p:cNvSpPr/>
          <p:nvPr/>
        </p:nvSpPr>
        <p:spPr>
          <a:xfrm>
            <a:off x="12725162" y="8760619"/>
            <a:ext cx="4348370" cy="732473"/>
          </a:xfrm>
          <a:prstGeom prst="rect">
            <a:avLst/>
          </a:prstGeom>
          <a:noFill/>
          <a:ln/>
        </p:spPr>
        <p:txBody>
          <a:bodyPr wrap="square" lIns="25400" tIns="25400" rIns="25400" bIns="25400" rtlCol="0" anchor="t">
            <a:normAutofit lnSpcReduction="10000"/>
          </a:bodyPr>
          <a:lstStyle/>
          <a:p>
            <a:pPr marL="0" indent="0" algn="l">
              <a:lnSpc>
                <a:spcPct val="116827"/>
              </a:lnSpc>
              <a:buNone/>
            </a:pPr>
            <a:r>
              <a:rPr lang="en-US" sz="2025" dirty="0">
                <a:solidFill>
                  <a:srgbClr val="6B7C89"/>
                </a:solidFill>
                <a:latin typeface="Arial" pitchFamily="34" charset="0"/>
                <a:ea typeface="Arial" pitchFamily="34" charset="-122"/>
                <a:cs typeface="Arial" pitchFamily="34" charset="-120"/>
              </a:rPr>
              <a:t>DO NOTHING is a valid, frequent and important result.</a:t>
            </a:r>
            <a:endParaRPr lang="en-US" sz="2025" dirty="0"/>
          </a:p>
        </p:txBody>
      </p:sp>
      <p:sp>
        <p:nvSpPr>
          <p:cNvPr id="50" name="Shape 5">
            <a:extLst>
              <a:ext uri="{FF2B5EF4-FFF2-40B4-BE49-F238E27FC236}">
                <a16:creationId xmlns:a16="http://schemas.microsoft.com/office/drawing/2014/main" id="{6FFF6A57-F282-A2C4-C87D-3574BBC54C86}"/>
              </a:ext>
            </a:extLst>
          </p:cNvPr>
          <p:cNvSpPr/>
          <p:nvPr/>
        </p:nvSpPr>
        <p:spPr>
          <a:xfrm>
            <a:off x="6018529" y="7297014"/>
            <a:ext cx="6089414" cy="45719"/>
          </a:xfrm>
          <a:prstGeom prst="rect">
            <a:avLst/>
          </a:prstGeom>
          <a:solidFill>
            <a:srgbClr val="DCE8ED"/>
          </a:solidFill>
          <a:ln/>
        </p:spPr>
      </p:sp>
      <p:sp>
        <p:nvSpPr>
          <p:cNvPr id="54" name="TextBox 53">
            <a:extLst>
              <a:ext uri="{FF2B5EF4-FFF2-40B4-BE49-F238E27FC236}">
                <a16:creationId xmlns:a16="http://schemas.microsoft.com/office/drawing/2014/main" id="{85A53BE5-25AB-5DA8-24F3-B73FA0FA4483}"/>
              </a:ext>
            </a:extLst>
          </p:cNvPr>
          <p:cNvSpPr txBox="1"/>
          <p:nvPr/>
        </p:nvSpPr>
        <p:spPr>
          <a:xfrm>
            <a:off x="1341119" y="7777718"/>
            <a:ext cx="10683004" cy="1434239"/>
          </a:xfrm>
          <a:prstGeom prst="rect">
            <a:avLst/>
          </a:prstGeom>
          <a:noFill/>
        </p:spPr>
        <p:txBody>
          <a:bodyPr wrap="square">
            <a:spAutoFit/>
          </a:bodyPr>
          <a:lstStyle/>
          <a:p>
            <a:r>
              <a:rPr lang="en-IN" sz="2175" dirty="0">
                <a:solidFill>
                  <a:srgbClr val="17324D"/>
                </a:solidFill>
                <a:latin typeface="Arial" pitchFamily="34" charset="0"/>
                <a:cs typeface="Arial" pitchFamily="34" charset="-120"/>
              </a:rPr>
              <a:t>A price signal alone is not an operating instruction. The same ₹/kWh can produce completely different decisions depending on what the plant is making, where it is operating, and which constraint is binding. PRANA converts that process context into an actionable energy decision.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4143458"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THE GENERAL SOLUTION</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04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4684216" cy="643890"/>
          </a:xfrm>
          <a:prstGeom prst="rect">
            <a:avLst/>
          </a:prstGeom>
          <a:noFill/>
          <a:ln/>
        </p:spPr>
        <p:txBody>
          <a:bodyPr wrap="square" lIns="25400" tIns="25400" rIns="25400" bIns="25400" rtlCol="0" anchor="t">
            <a:normAutofit lnSpcReduction="10000"/>
          </a:bodyPr>
          <a:lstStyle/>
          <a:p>
            <a:pPr marL="0" indent="0" algn="l">
              <a:lnSpc>
                <a:spcPct val="92442"/>
              </a:lnSpc>
              <a:buNone/>
            </a:pPr>
            <a:r>
              <a:rPr lang="en-US" sz="4500" b="1" kern="0" spc="-112" dirty="0">
                <a:solidFill>
                  <a:srgbClr val="124B68"/>
                </a:solidFill>
                <a:latin typeface="Arial" pitchFamily="34" charset="0"/>
                <a:ea typeface="Arial" pitchFamily="34" charset="-122"/>
                <a:cs typeface="Arial" pitchFamily="34" charset="-120"/>
              </a:rPr>
              <a:t>PRANA discovers flexibility it does not assume it</a:t>
            </a:r>
            <a:endParaRPr lang="en-US" sz="4500" dirty="0"/>
          </a:p>
        </p:txBody>
      </p:sp>
      <p:sp>
        <p:nvSpPr>
          <p:cNvPr id="6" name="Text 4"/>
          <p:cNvSpPr/>
          <p:nvPr/>
        </p:nvSpPr>
        <p:spPr>
          <a:xfrm>
            <a:off x="990600" y="2345055"/>
            <a:ext cx="17937480" cy="423863"/>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2250" b="1" dirty="0">
                <a:solidFill>
                  <a:srgbClr val="E9A72C"/>
                </a:solidFill>
                <a:latin typeface="Arial" pitchFamily="34" charset="0"/>
                <a:ea typeface="Arial" pitchFamily="34" charset="-122"/>
                <a:cs typeface="Arial" pitchFamily="34" charset="-120"/>
              </a:rPr>
              <a:t>Potential flexibility sources plant-specific validation required. None of these is assumed flexible until its own physics says so.</a:t>
            </a:r>
            <a:endParaRPr lang="en-US" sz="2250" dirty="0"/>
          </a:p>
        </p:txBody>
      </p:sp>
      <p:sp>
        <p:nvSpPr>
          <p:cNvPr id="7" name="Shape 5"/>
          <p:cNvSpPr/>
          <p:nvPr/>
        </p:nvSpPr>
        <p:spPr>
          <a:xfrm>
            <a:off x="990600" y="3016568"/>
            <a:ext cx="3077766" cy="2705099"/>
          </a:xfrm>
          <a:prstGeom prst="roundRect">
            <a:avLst>
              <a:gd name="adj" fmla="val 4333"/>
            </a:avLst>
          </a:prstGeom>
          <a:solidFill>
            <a:srgbClr val="FFFFFF"/>
          </a:solidFill>
          <a:ln/>
          <a:effectLst>
            <a:outerShdw blurRad="28575" dist="9525" dir="5400000" algn="bl" rotWithShape="0">
              <a:srgbClr val="17324D">
                <a:alpha val="5000"/>
              </a:srgbClr>
            </a:outerShdw>
          </a:effectLst>
        </p:spPr>
      </p:sp>
      <p:sp>
        <p:nvSpPr>
          <p:cNvPr id="8" name="Shape 6"/>
          <p:cNvSpPr/>
          <p:nvPr/>
        </p:nvSpPr>
        <p:spPr>
          <a:xfrm>
            <a:off x="990600" y="8717280"/>
            <a:ext cx="3077766" cy="9525"/>
          </a:xfrm>
          <a:prstGeom prst="rect">
            <a:avLst/>
          </a:prstGeom>
          <a:solidFill>
            <a:srgbClr val="DCE8ED"/>
          </a:solidFill>
          <a:ln/>
        </p:spPr>
      </p:sp>
      <p:sp>
        <p:nvSpPr>
          <p:cNvPr id="9" name="Shape 7"/>
          <p:cNvSpPr/>
          <p:nvPr/>
        </p:nvSpPr>
        <p:spPr>
          <a:xfrm>
            <a:off x="990600" y="3016568"/>
            <a:ext cx="3077766" cy="38100"/>
          </a:xfrm>
          <a:prstGeom prst="rect">
            <a:avLst/>
          </a:prstGeom>
          <a:solidFill>
            <a:srgbClr val="6B7C89"/>
          </a:solidFill>
          <a:ln/>
        </p:spPr>
      </p:sp>
      <p:sp>
        <p:nvSpPr>
          <p:cNvPr id="10" name="Shape 8"/>
          <p:cNvSpPr/>
          <p:nvPr/>
        </p:nvSpPr>
        <p:spPr>
          <a:xfrm>
            <a:off x="990600" y="3016568"/>
            <a:ext cx="9525" cy="5708332"/>
          </a:xfrm>
          <a:prstGeom prst="rect">
            <a:avLst/>
          </a:prstGeom>
          <a:solidFill>
            <a:srgbClr val="DCE8ED"/>
          </a:solidFill>
          <a:ln/>
        </p:spPr>
      </p:sp>
      <p:sp>
        <p:nvSpPr>
          <p:cNvPr id="11" name="Shape 9"/>
          <p:cNvSpPr/>
          <p:nvPr/>
        </p:nvSpPr>
        <p:spPr>
          <a:xfrm>
            <a:off x="4060746" y="3016568"/>
            <a:ext cx="9525" cy="5708332"/>
          </a:xfrm>
          <a:prstGeom prst="rect">
            <a:avLst/>
          </a:prstGeom>
          <a:solidFill>
            <a:srgbClr val="DCE8ED"/>
          </a:solidFill>
          <a:ln/>
        </p:spPr>
      </p:sp>
      <p:sp>
        <p:nvSpPr>
          <p:cNvPr id="12" name="Text 10"/>
          <p:cNvSpPr/>
          <p:nvPr/>
        </p:nvSpPr>
        <p:spPr>
          <a:xfrm>
            <a:off x="1245870" y="3321368"/>
            <a:ext cx="2823948"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24B68"/>
                </a:solidFill>
                <a:latin typeface="Arial" pitchFamily="34" charset="0"/>
                <a:ea typeface="Arial" pitchFamily="34" charset="-122"/>
                <a:cs typeface="Arial" pitchFamily="34" charset="-120"/>
              </a:rPr>
              <a:t>Refinery</a:t>
            </a:r>
            <a:endParaRPr lang="en-US" sz="2325" dirty="0"/>
          </a:p>
        </p:txBody>
      </p:sp>
      <p:sp>
        <p:nvSpPr>
          <p:cNvPr id="13" name="Text 11"/>
          <p:cNvSpPr/>
          <p:nvPr/>
        </p:nvSpPr>
        <p:spPr>
          <a:xfrm>
            <a:off x="1245870" y="3789997"/>
            <a:ext cx="2644242" cy="1457325"/>
          </a:xfrm>
          <a:prstGeom prst="rect">
            <a:avLst/>
          </a:prstGeom>
          <a:noFill/>
          <a:ln/>
        </p:spPr>
        <p:txBody>
          <a:bodyPr wrap="square" lIns="25400" tIns="25400" rIns="25400" bIns="25400" rtlCol="0" anchor="t">
            <a:normAutofit/>
          </a:bodyPr>
          <a:lstStyle/>
          <a:p>
            <a:pPr marL="0" indent="0" algn="l">
              <a:lnSpc>
                <a:spcPct val="119423"/>
              </a:lnSpc>
              <a:buNone/>
            </a:pPr>
            <a:r>
              <a:rPr lang="en-US" sz="2025" dirty="0">
                <a:solidFill>
                  <a:srgbClr val="17324D"/>
                </a:solidFill>
                <a:latin typeface="Arial" pitchFamily="34" charset="0"/>
                <a:ea typeface="Arial" pitchFamily="34" charset="-122"/>
                <a:cs typeface="Arial" pitchFamily="34" charset="-120"/>
              </a:rPr>
              <a:t>Compressors, utilities, intermediate tankage as a process buffer.</a:t>
            </a:r>
            <a:endParaRPr lang="en-US" sz="2025" dirty="0"/>
          </a:p>
        </p:txBody>
      </p:sp>
      <p:sp>
        <p:nvSpPr>
          <p:cNvPr id="14" name="Text 12"/>
          <p:cNvSpPr/>
          <p:nvPr/>
        </p:nvSpPr>
        <p:spPr>
          <a:xfrm>
            <a:off x="1269933" y="5159546"/>
            <a:ext cx="282394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CANDIDATE</a:t>
            </a:r>
            <a:endParaRPr lang="en-US" sz="1800" dirty="0"/>
          </a:p>
        </p:txBody>
      </p:sp>
      <p:sp>
        <p:nvSpPr>
          <p:cNvPr id="15" name="Shape 13"/>
          <p:cNvSpPr/>
          <p:nvPr/>
        </p:nvSpPr>
        <p:spPr>
          <a:xfrm>
            <a:off x="1002352" y="5910262"/>
            <a:ext cx="3066014" cy="2705099"/>
          </a:xfrm>
          <a:prstGeom prst="roundRect">
            <a:avLst>
              <a:gd name="adj" fmla="val 4333"/>
            </a:avLst>
          </a:prstGeom>
          <a:solidFill>
            <a:srgbClr val="FFFFFF"/>
          </a:solidFill>
          <a:ln/>
          <a:effectLst>
            <a:outerShdw blurRad="28575" dist="9525" dir="5400000" algn="bl" rotWithShape="0">
              <a:srgbClr val="17324D">
                <a:alpha val="5000"/>
              </a:srgbClr>
            </a:outerShdw>
          </a:effectLst>
        </p:spPr>
      </p:sp>
      <p:sp>
        <p:nvSpPr>
          <p:cNvPr id="16" name="Shape 14"/>
          <p:cNvSpPr/>
          <p:nvPr/>
        </p:nvSpPr>
        <p:spPr>
          <a:xfrm>
            <a:off x="4220766" y="8717280"/>
            <a:ext cx="3077885" cy="9525"/>
          </a:xfrm>
          <a:prstGeom prst="rect">
            <a:avLst/>
          </a:prstGeom>
          <a:solidFill>
            <a:srgbClr val="DCE8ED"/>
          </a:solidFill>
          <a:ln/>
        </p:spPr>
      </p:sp>
      <p:sp>
        <p:nvSpPr>
          <p:cNvPr id="17" name="Shape 15"/>
          <p:cNvSpPr/>
          <p:nvPr/>
        </p:nvSpPr>
        <p:spPr>
          <a:xfrm>
            <a:off x="987109" y="5922552"/>
            <a:ext cx="3077885" cy="38100"/>
          </a:xfrm>
          <a:prstGeom prst="rect">
            <a:avLst/>
          </a:prstGeom>
          <a:solidFill>
            <a:srgbClr val="6B7C89"/>
          </a:solidFill>
          <a:ln/>
        </p:spPr>
      </p:sp>
      <p:sp>
        <p:nvSpPr>
          <p:cNvPr id="18" name="Shape 16"/>
          <p:cNvSpPr/>
          <p:nvPr/>
        </p:nvSpPr>
        <p:spPr>
          <a:xfrm>
            <a:off x="4220766" y="3016568"/>
            <a:ext cx="9525" cy="5708332"/>
          </a:xfrm>
          <a:prstGeom prst="rect">
            <a:avLst/>
          </a:prstGeom>
          <a:solidFill>
            <a:srgbClr val="DCE8ED"/>
          </a:solidFill>
          <a:ln/>
        </p:spPr>
      </p:sp>
      <p:sp>
        <p:nvSpPr>
          <p:cNvPr id="19" name="Shape 17"/>
          <p:cNvSpPr/>
          <p:nvPr/>
        </p:nvSpPr>
        <p:spPr>
          <a:xfrm>
            <a:off x="7291030" y="3016568"/>
            <a:ext cx="9525" cy="5708332"/>
          </a:xfrm>
          <a:prstGeom prst="rect">
            <a:avLst/>
          </a:prstGeom>
          <a:solidFill>
            <a:srgbClr val="DCE8ED"/>
          </a:solidFill>
          <a:ln/>
        </p:spPr>
      </p:sp>
      <p:sp>
        <p:nvSpPr>
          <p:cNvPr id="20" name="Text 18"/>
          <p:cNvSpPr/>
          <p:nvPr/>
        </p:nvSpPr>
        <p:spPr>
          <a:xfrm>
            <a:off x="1285848" y="6198734"/>
            <a:ext cx="2824079"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24B68"/>
                </a:solidFill>
                <a:latin typeface="Arial" pitchFamily="34" charset="0"/>
                <a:ea typeface="Arial" pitchFamily="34" charset="-122"/>
                <a:cs typeface="Arial" pitchFamily="34" charset="-120"/>
              </a:rPr>
              <a:t>Chemicals</a:t>
            </a:r>
            <a:endParaRPr lang="en-US" sz="2325" dirty="0"/>
          </a:p>
        </p:txBody>
      </p:sp>
      <p:sp>
        <p:nvSpPr>
          <p:cNvPr id="21" name="Text 19"/>
          <p:cNvSpPr/>
          <p:nvPr/>
        </p:nvSpPr>
        <p:spPr>
          <a:xfrm>
            <a:off x="1285848" y="6667363"/>
            <a:ext cx="2644365" cy="1812131"/>
          </a:xfrm>
          <a:prstGeom prst="rect">
            <a:avLst/>
          </a:prstGeom>
          <a:noFill/>
          <a:ln/>
        </p:spPr>
        <p:txBody>
          <a:bodyPr wrap="square" lIns="25400" tIns="25400" rIns="25400" bIns="25400" rtlCol="0" anchor="t">
            <a:normAutofit/>
          </a:bodyPr>
          <a:lstStyle/>
          <a:p>
            <a:pPr marL="0" indent="0" algn="l">
              <a:lnSpc>
                <a:spcPct val="119423"/>
              </a:lnSpc>
              <a:buNone/>
            </a:pPr>
            <a:r>
              <a:rPr lang="en-US" sz="2025" dirty="0">
                <a:solidFill>
                  <a:srgbClr val="17324D"/>
                </a:solidFill>
                <a:latin typeface="Arial" pitchFamily="34" charset="0"/>
                <a:ea typeface="Arial" pitchFamily="34" charset="-122"/>
                <a:cs typeface="Arial" pitchFamily="34" charset="-120"/>
              </a:rPr>
              <a:t>Batch scheduling freedom and intermediate inventory between units.</a:t>
            </a:r>
            <a:endParaRPr lang="en-US" sz="2025" dirty="0"/>
          </a:p>
        </p:txBody>
      </p:sp>
      <p:sp>
        <p:nvSpPr>
          <p:cNvPr id="22" name="Text 20"/>
          <p:cNvSpPr/>
          <p:nvPr/>
        </p:nvSpPr>
        <p:spPr>
          <a:xfrm>
            <a:off x="1247925" y="8230151"/>
            <a:ext cx="282407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CANDIDATE</a:t>
            </a:r>
            <a:endParaRPr lang="en-US" sz="1800" dirty="0"/>
          </a:p>
        </p:txBody>
      </p:sp>
      <p:sp>
        <p:nvSpPr>
          <p:cNvPr id="23" name="Shape 21"/>
          <p:cNvSpPr/>
          <p:nvPr/>
        </p:nvSpPr>
        <p:spPr>
          <a:xfrm>
            <a:off x="4236796" y="3016568"/>
            <a:ext cx="3063760" cy="2705099"/>
          </a:xfrm>
          <a:prstGeom prst="roundRect">
            <a:avLst>
              <a:gd name="adj" fmla="val 4333"/>
            </a:avLst>
          </a:prstGeom>
          <a:solidFill>
            <a:srgbClr val="FFFFFF"/>
          </a:solidFill>
          <a:ln/>
          <a:effectLst>
            <a:outerShdw blurRad="28575" dist="9525" dir="5400000" algn="bl" rotWithShape="0">
              <a:srgbClr val="17324D">
                <a:alpha val="5000"/>
              </a:srgbClr>
            </a:outerShdw>
          </a:effectLst>
        </p:spPr>
      </p:sp>
      <p:sp>
        <p:nvSpPr>
          <p:cNvPr id="25" name="Shape 23"/>
          <p:cNvSpPr/>
          <p:nvPr/>
        </p:nvSpPr>
        <p:spPr>
          <a:xfrm>
            <a:off x="4229175" y="3016568"/>
            <a:ext cx="3077885" cy="38100"/>
          </a:xfrm>
          <a:prstGeom prst="rect">
            <a:avLst/>
          </a:prstGeom>
          <a:solidFill>
            <a:srgbClr val="6B7C89"/>
          </a:solidFill>
          <a:ln/>
        </p:spPr>
      </p:sp>
      <p:sp>
        <p:nvSpPr>
          <p:cNvPr id="28" name="Text 26"/>
          <p:cNvSpPr/>
          <p:nvPr/>
        </p:nvSpPr>
        <p:spPr>
          <a:xfrm>
            <a:off x="4492065" y="3321368"/>
            <a:ext cx="2824079"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24B68"/>
                </a:solidFill>
                <a:latin typeface="Arial" pitchFamily="34" charset="0"/>
                <a:ea typeface="Arial" pitchFamily="34" charset="-122"/>
                <a:cs typeface="Arial" pitchFamily="34" charset="-120"/>
              </a:rPr>
              <a:t>Fertilizer</a:t>
            </a:r>
            <a:endParaRPr lang="en-US" sz="2325" dirty="0"/>
          </a:p>
        </p:txBody>
      </p:sp>
      <p:sp>
        <p:nvSpPr>
          <p:cNvPr id="29" name="Text 27"/>
          <p:cNvSpPr/>
          <p:nvPr/>
        </p:nvSpPr>
        <p:spPr>
          <a:xfrm>
            <a:off x="4492065" y="3789997"/>
            <a:ext cx="2644365" cy="1457325"/>
          </a:xfrm>
          <a:prstGeom prst="rect">
            <a:avLst/>
          </a:prstGeom>
          <a:noFill/>
          <a:ln/>
        </p:spPr>
        <p:txBody>
          <a:bodyPr wrap="square" lIns="25400" tIns="25400" rIns="25400" bIns="25400" rtlCol="0" anchor="t">
            <a:normAutofit lnSpcReduction="10000"/>
          </a:bodyPr>
          <a:lstStyle/>
          <a:p>
            <a:pPr marL="0" indent="0" algn="l">
              <a:lnSpc>
                <a:spcPct val="119423"/>
              </a:lnSpc>
              <a:buNone/>
            </a:pPr>
            <a:r>
              <a:rPr lang="en-US" sz="2025" dirty="0">
                <a:solidFill>
                  <a:srgbClr val="17324D"/>
                </a:solidFill>
                <a:latin typeface="Arial" pitchFamily="34" charset="0"/>
                <a:ea typeface="Arial" pitchFamily="34" charset="-122"/>
                <a:cs typeface="Arial" pitchFamily="34" charset="-120"/>
              </a:rPr>
              <a:t>Utilities, electrolysis where present, ammonia and urea buffers.</a:t>
            </a:r>
            <a:endParaRPr lang="en-US" sz="2025" dirty="0"/>
          </a:p>
        </p:txBody>
      </p:sp>
      <p:sp>
        <p:nvSpPr>
          <p:cNvPr id="30" name="Text 28"/>
          <p:cNvSpPr/>
          <p:nvPr/>
        </p:nvSpPr>
        <p:spPr>
          <a:xfrm>
            <a:off x="4492065" y="5196000"/>
            <a:ext cx="282407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CANDIDATE</a:t>
            </a:r>
            <a:endParaRPr lang="en-US" sz="1800" dirty="0"/>
          </a:p>
        </p:txBody>
      </p:sp>
      <p:sp>
        <p:nvSpPr>
          <p:cNvPr id="31" name="Shape 29"/>
          <p:cNvSpPr/>
          <p:nvPr/>
        </p:nvSpPr>
        <p:spPr>
          <a:xfrm>
            <a:off x="8145947" y="3016568"/>
            <a:ext cx="9227653" cy="1614623"/>
          </a:xfrm>
          <a:prstGeom prst="roundRect">
            <a:avLst>
              <a:gd name="adj" fmla="val 3938"/>
            </a:avLst>
          </a:prstGeom>
          <a:solidFill>
            <a:srgbClr val="EAF7F1"/>
          </a:solidFill>
          <a:ln/>
        </p:spPr>
      </p:sp>
      <p:sp>
        <p:nvSpPr>
          <p:cNvPr id="33" name="Shape 31"/>
          <p:cNvSpPr/>
          <p:nvPr/>
        </p:nvSpPr>
        <p:spPr>
          <a:xfrm>
            <a:off x="8145947" y="3031808"/>
            <a:ext cx="3385899" cy="38100"/>
          </a:xfrm>
          <a:prstGeom prst="rect">
            <a:avLst/>
          </a:prstGeom>
          <a:solidFill>
            <a:srgbClr val="22A06B"/>
          </a:solidFill>
          <a:ln/>
        </p:spPr>
      </p:sp>
      <p:sp>
        <p:nvSpPr>
          <p:cNvPr id="36" name="Text 34"/>
          <p:cNvSpPr/>
          <p:nvPr/>
        </p:nvSpPr>
        <p:spPr>
          <a:xfrm>
            <a:off x="8401218" y="3321368"/>
            <a:ext cx="3162895"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24B68"/>
                </a:solidFill>
                <a:latin typeface="Arial" pitchFamily="34" charset="0"/>
                <a:ea typeface="Arial" pitchFamily="34" charset="-122"/>
                <a:cs typeface="Arial" pitchFamily="34" charset="-120"/>
              </a:rPr>
              <a:t>Chlor-alkali</a:t>
            </a:r>
            <a:endParaRPr lang="en-US" sz="2325" dirty="0"/>
          </a:p>
        </p:txBody>
      </p:sp>
      <p:sp>
        <p:nvSpPr>
          <p:cNvPr id="37" name="Text 35"/>
          <p:cNvSpPr/>
          <p:nvPr/>
        </p:nvSpPr>
        <p:spPr>
          <a:xfrm>
            <a:off x="8401218" y="3789997"/>
            <a:ext cx="8640912" cy="1457325"/>
          </a:xfrm>
          <a:prstGeom prst="rect">
            <a:avLst/>
          </a:prstGeom>
          <a:noFill/>
          <a:ln/>
        </p:spPr>
        <p:txBody>
          <a:bodyPr wrap="square" lIns="25400" tIns="25400" rIns="25400" bIns="25400" rtlCol="0" anchor="t">
            <a:normAutofit/>
          </a:bodyPr>
          <a:lstStyle/>
          <a:p>
            <a:pPr marL="0" indent="0" algn="l">
              <a:lnSpc>
                <a:spcPct val="119423"/>
              </a:lnSpc>
              <a:buNone/>
            </a:pPr>
            <a:r>
              <a:rPr lang="en-US" sz="2025" dirty="0">
                <a:solidFill>
                  <a:srgbClr val="17324D"/>
                </a:solidFill>
                <a:latin typeface="Arial" pitchFamily="34" charset="0"/>
                <a:ea typeface="Arial" pitchFamily="34" charset="-122"/>
                <a:cs typeface="Arial" pitchFamily="34" charset="-120"/>
              </a:rPr>
              <a:t>Rectifier load, caustic inventory, chlorine offtake as the binding downstream constraint.</a:t>
            </a:r>
            <a:endParaRPr lang="en-US" sz="2025" dirty="0"/>
          </a:p>
        </p:txBody>
      </p:sp>
      <p:sp>
        <p:nvSpPr>
          <p:cNvPr id="38" name="Text 36"/>
          <p:cNvSpPr/>
          <p:nvPr/>
        </p:nvSpPr>
        <p:spPr>
          <a:xfrm>
            <a:off x="14227254" y="3205162"/>
            <a:ext cx="2961620" cy="556260"/>
          </a:xfrm>
          <a:prstGeom prst="rect">
            <a:avLst/>
          </a:prstGeom>
          <a:noFill/>
          <a:ln/>
        </p:spPr>
        <p:txBody>
          <a:bodyPr wrap="square" lIns="25400" tIns="25400" rIns="25400" bIns="25400" rtlCol="0" anchor="t">
            <a:normAutofit lnSpcReduction="10000"/>
          </a:bodyPr>
          <a:lstStyle/>
          <a:p>
            <a:pPr marL="0" indent="0" algn="l">
              <a:buNone/>
            </a:pPr>
            <a:r>
              <a:rPr lang="en-US" sz="1800" b="1" kern="0" spc="144" dirty="0">
                <a:solidFill>
                  <a:srgbClr val="22A06B"/>
                </a:solidFill>
                <a:latin typeface="Arial" pitchFamily="34" charset="0"/>
                <a:ea typeface="Arial" pitchFamily="34" charset="-122"/>
                <a:cs typeface="Arial" pitchFamily="34" charset="-120"/>
              </a:rPr>
              <a:t>DEMONSTRATED · 120 DAYS</a:t>
            </a:r>
            <a:endParaRPr lang="en-US" sz="1800" dirty="0"/>
          </a:p>
        </p:txBody>
      </p:sp>
      <p:sp>
        <p:nvSpPr>
          <p:cNvPr id="39" name="Shape 37"/>
          <p:cNvSpPr/>
          <p:nvPr/>
        </p:nvSpPr>
        <p:spPr>
          <a:xfrm>
            <a:off x="4235376" y="5912170"/>
            <a:ext cx="3077766" cy="2655570"/>
          </a:xfrm>
          <a:prstGeom prst="roundRect">
            <a:avLst>
              <a:gd name="adj" fmla="val 4333"/>
            </a:avLst>
          </a:prstGeom>
          <a:solidFill>
            <a:srgbClr val="FFFFFF"/>
          </a:solidFill>
          <a:ln/>
          <a:effectLst>
            <a:outerShdw blurRad="28575" dist="9525" dir="5400000" algn="bl" rotWithShape="0">
              <a:srgbClr val="17324D">
                <a:alpha val="5000"/>
              </a:srgbClr>
            </a:outerShdw>
          </a:effectLst>
        </p:spPr>
      </p:sp>
      <p:sp>
        <p:nvSpPr>
          <p:cNvPr id="41" name="Shape 39"/>
          <p:cNvSpPr/>
          <p:nvPr/>
        </p:nvSpPr>
        <p:spPr>
          <a:xfrm>
            <a:off x="4227756" y="5928795"/>
            <a:ext cx="3077766" cy="38100"/>
          </a:xfrm>
          <a:prstGeom prst="rect">
            <a:avLst/>
          </a:prstGeom>
          <a:solidFill>
            <a:srgbClr val="6B7C89"/>
          </a:solidFill>
          <a:ln/>
        </p:spPr>
      </p:sp>
      <p:sp>
        <p:nvSpPr>
          <p:cNvPr id="44" name="Text 42"/>
          <p:cNvSpPr/>
          <p:nvPr/>
        </p:nvSpPr>
        <p:spPr>
          <a:xfrm>
            <a:off x="4513507" y="6216970"/>
            <a:ext cx="2823948"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24B68"/>
                </a:solidFill>
                <a:latin typeface="Arial" pitchFamily="34" charset="0"/>
                <a:ea typeface="Arial" pitchFamily="34" charset="-122"/>
                <a:cs typeface="Arial" pitchFamily="34" charset="-120"/>
              </a:rPr>
              <a:t>Hydrogen</a:t>
            </a:r>
            <a:endParaRPr lang="en-US" sz="2325" dirty="0"/>
          </a:p>
        </p:txBody>
      </p:sp>
      <p:sp>
        <p:nvSpPr>
          <p:cNvPr id="45" name="Text 43"/>
          <p:cNvSpPr/>
          <p:nvPr/>
        </p:nvSpPr>
        <p:spPr>
          <a:xfrm>
            <a:off x="4513507" y="6685599"/>
            <a:ext cx="2644242" cy="1457325"/>
          </a:xfrm>
          <a:prstGeom prst="rect">
            <a:avLst/>
          </a:prstGeom>
          <a:noFill/>
          <a:ln/>
        </p:spPr>
        <p:txBody>
          <a:bodyPr wrap="square" lIns="25400" tIns="25400" rIns="25400" bIns="25400" rtlCol="0" anchor="t">
            <a:normAutofit lnSpcReduction="10000"/>
          </a:bodyPr>
          <a:lstStyle/>
          <a:p>
            <a:pPr marL="0" indent="0" algn="l">
              <a:lnSpc>
                <a:spcPct val="119423"/>
              </a:lnSpc>
              <a:buNone/>
            </a:pPr>
            <a:r>
              <a:rPr lang="en-US" sz="2025" dirty="0">
                <a:solidFill>
                  <a:srgbClr val="17324D"/>
                </a:solidFill>
                <a:latin typeface="Arial" pitchFamily="34" charset="0"/>
                <a:ea typeface="Arial" pitchFamily="34" charset="-122"/>
                <a:cs typeface="Arial" pitchFamily="34" charset="-120"/>
              </a:rPr>
              <a:t>Electrolyser operating envelope and downstream storage pressure.</a:t>
            </a:r>
            <a:endParaRPr lang="en-US" sz="2025" dirty="0"/>
          </a:p>
        </p:txBody>
      </p:sp>
      <p:sp>
        <p:nvSpPr>
          <p:cNvPr id="46" name="Text 44"/>
          <p:cNvSpPr/>
          <p:nvPr/>
        </p:nvSpPr>
        <p:spPr>
          <a:xfrm>
            <a:off x="4301444" y="8203738"/>
            <a:ext cx="282394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CANDIDATE</a:t>
            </a:r>
            <a:endParaRPr lang="en-US" sz="1800" dirty="0"/>
          </a:p>
        </p:txBody>
      </p:sp>
      <p:sp>
        <p:nvSpPr>
          <p:cNvPr id="47" name="Shape 45"/>
          <p:cNvSpPr/>
          <p:nvPr/>
        </p:nvSpPr>
        <p:spPr>
          <a:xfrm>
            <a:off x="990600" y="8991600"/>
            <a:ext cx="16306800" cy="9525"/>
          </a:xfrm>
          <a:prstGeom prst="rect">
            <a:avLst/>
          </a:prstGeom>
          <a:solidFill>
            <a:srgbClr val="DCE8ED"/>
          </a:solidFill>
          <a:ln/>
        </p:spPr>
      </p:sp>
      <p:sp>
        <p:nvSpPr>
          <p:cNvPr id="48" name="Text 46"/>
          <p:cNvSpPr/>
          <p:nvPr/>
        </p:nvSpPr>
        <p:spPr>
          <a:xfrm>
            <a:off x="990600" y="9189720"/>
            <a:ext cx="16796004" cy="44958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2400" b="1" dirty="0">
                <a:solidFill>
                  <a:srgbClr val="124B68"/>
                </a:solidFill>
                <a:latin typeface="Arial" pitchFamily="34" charset="0"/>
                <a:ea typeface="Arial" pitchFamily="34" charset="-122"/>
                <a:cs typeface="Arial" pitchFamily="34" charset="-120"/>
              </a:rPr>
              <a:t>The physics changes from industry to industry. The flexibility-intelligence framework remains the same.</a:t>
            </a:r>
            <a:endParaRPr lang="en-US" sz="2400" dirty="0"/>
          </a:p>
        </p:txBody>
      </p:sp>
      <p:sp>
        <p:nvSpPr>
          <p:cNvPr id="50" name="Shape 18">
            <a:extLst>
              <a:ext uri="{FF2B5EF4-FFF2-40B4-BE49-F238E27FC236}">
                <a16:creationId xmlns:a16="http://schemas.microsoft.com/office/drawing/2014/main" id="{C0222D7A-E2F5-5F1A-BB98-5FFD1E8C0956}"/>
              </a:ext>
            </a:extLst>
          </p:cNvPr>
          <p:cNvSpPr/>
          <p:nvPr/>
        </p:nvSpPr>
        <p:spPr>
          <a:xfrm>
            <a:off x="8875052" y="4746607"/>
            <a:ext cx="7616190" cy="4210050"/>
          </a:xfrm>
          <a:prstGeom prst="roundRect">
            <a:avLst>
              <a:gd name="adj" fmla="val 3167"/>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52" name="Text 20">
            <a:extLst>
              <a:ext uri="{FF2B5EF4-FFF2-40B4-BE49-F238E27FC236}">
                <a16:creationId xmlns:a16="http://schemas.microsoft.com/office/drawing/2014/main" id="{B30D2A55-F651-00DD-4E9D-0873EA5072C4}"/>
              </a:ext>
            </a:extLst>
          </p:cNvPr>
          <p:cNvSpPr/>
          <p:nvPr/>
        </p:nvSpPr>
        <p:spPr>
          <a:xfrm>
            <a:off x="9206523" y="5390497"/>
            <a:ext cx="7648575" cy="388620"/>
          </a:xfrm>
          <a:prstGeom prst="rect">
            <a:avLst/>
          </a:prstGeom>
          <a:noFill/>
          <a:ln/>
        </p:spPr>
        <p:txBody>
          <a:bodyPr wrap="square" lIns="25400" tIns="25400" rIns="25400" bIns="25400" rtlCol="0" anchor="t">
            <a:normAutofit lnSpcReduction="10000"/>
          </a:bodyPr>
          <a:lstStyle/>
          <a:p>
            <a:pPr marL="0" indent="0" algn="l">
              <a:lnSpc>
                <a:spcPct val="102222"/>
              </a:lnSpc>
              <a:buNone/>
            </a:pPr>
            <a:r>
              <a:rPr lang="en-US" sz="2400" b="1" dirty="0">
                <a:solidFill>
                  <a:srgbClr val="124B68"/>
                </a:solidFill>
                <a:latin typeface="Arial" pitchFamily="34" charset="0"/>
                <a:ea typeface="Arial" pitchFamily="34" charset="-122"/>
                <a:cs typeface="Arial" pitchFamily="34" charset="-120"/>
              </a:rPr>
              <a:t>Where the storage already sits</a:t>
            </a:r>
            <a:endParaRPr lang="en-US" sz="2400" dirty="0"/>
          </a:p>
        </p:txBody>
      </p:sp>
      <p:pic>
        <p:nvPicPr>
          <p:cNvPr id="54" name="Image 1" descr="preencoded.png">
            <a:extLst>
              <a:ext uri="{FF2B5EF4-FFF2-40B4-BE49-F238E27FC236}">
                <a16:creationId xmlns:a16="http://schemas.microsoft.com/office/drawing/2014/main" id="{08A9ACDE-3E5B-007A-A28C-F0A49FD617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6523" y="5836267"/>
            <a:ext cx="6953250" cy="1413510"/>
          </a:xfrm>
          <a:prstGeom prst="rect">
            <a:avLst/>
          </a:prstGeom>
        </p:spPr>
      </p:pic>
      <p:sp>
        <p:nvSpPr>
          <p:cNvPr id="56" name="Text 21">
            <a:extLst>
              <a:ext uri="{FF2B5EF4-FFF2-40B4-BE49-F238E27FC236}">
                <a16:creationId xmlns:a16="http://schemas.microsoft.com/office/drawing/2014/main" id="{5FCEC330-6418-46B6-AAD0-898C4F52B12A}"/>
              </a:ext>
            </a:extLst>
          </p:cNvPr>
          <p:cNvSpPr/>
          <p:nvPr/>
        </p:nvSpPr>
        <p:spPr>
          <a:xfrm>
            <a:off x="9206523" y="7345027"/>
            <a:ext cx="7161848" cy="1375410"/>
          </a:xfrm>
          <a:prstGeom prst="rect">
            <a:avLst/>
          </a:prstGeom>
          <a:noFill/>
          <a:ln/>
        </p:spPr>
        <p:txBody>
          <a:bodyPr wrap="square" lIns="25400" tIns="25400" rIns="25400" bIns="25400" rtlCol="0" anchor="t">
            <a:normAutofit/>
          </a:bodyPr>
          <a:lstStyle/>
          <a:p>
            <a:pPr marL="0" indent="0" algn="l">
              <a:lnSpc>
                <a:spcPct val="118581"/>
              </a:lnSpc>
              <a:buNone/>
            </a:pPr>
            <a:r>
              <a:rPr lang="en-US" sz="1950" dirty="0">
                <a:solidFill>
                  <a:srgbClr val="17324D"/>
                </a:solidFill>
                <a:latin typeface="Arial" pitchFamily="34" charset="0"/>
                <a:ea typeface="Arial" pitchFamily="34" charset="-122"/>
                <a:cs typeface="Arial" pitchFamily="34" charset="-120"/>
              </a:rPr>
              <a:t>Four rectifier trains, one caustic tank. The tank is the state of charge: run the cells hard on cheap power, then coast through the evening on stored caustic. Tonnes shipped stay the same.</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4153281"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THE ENGINEERING CORE</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05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984975" cy="643890"/>
          </a:xfrm>
          <a:prstGeom prst="rect">
            <a:avLst/>
          </a:prstGeom>
          <a:noFill/>
          <a:ln/>
        </p:spPr>
        <p:txBody>
          <a:bodyPr wrap="square" lIns="25400" tIns="25400" rIns="25400" bIns="25400" rtlCol="0" anchor="t">
            <a:normAutofit lnSpcReduction="10000"/>
          </a:bodyPr>
          <a:lstStyle/>
          <a:p>
            <a:pPr marL="0" indent="0" algn="l">
              <a:lnSpc>
                <a:spcPct val="92442"/>
              </a:lnSpc>
              <a:buNone/>
            </a:pPr>
            <a:r>
              <a:rPr lang="en-US" sz="4500" b="1" kern="0" spc="-112" dirty="0">
                <a:solidFill>
                  <a:srgbClr val="124B68"/>
                </a:solidFill>
                <a:latin typeface="Arial" pitchFamily="34" charset="0"/>
                <a:ea typeface="Arial" pitchFamily="34" charset="-122"/>
                <a:cs typeface="Arial" pitchFamily="34" charset="-120"/>
              </a:rPr>
              <a:t>From process physics to flexibility</a:t>
            </a:r>
            <a:endParaRPr lang="en-US" sz="4500" dirty="0"/>
          </a:p>
        </p:txBody>
      </p:sp>
      <p:sp>
        <p:nvSpPr>
          <p:cNvPr id="6" name="Text 4"/>
          <p:cNvSpPr/>
          <p:nvPr/>
        </p:nvSpPr>
        <p:spPr>
          <a:xfrm>
            <a:off x="990600" y="2345055"/>
            <a:ext cx="16796004" cy="809625"/>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2250" b="1" dirty="0">
                <a:solidFill>
                  <a:srgbClr val="E9A72C"/>
                </a:solidFill>
                <a:latin typeface="Arial" pitchFamily="34" charset="0"/>
                <a:ea typeface="Arial" pitchFamily="34" charset="-122"/>
                <a:cs typeface="Arial" pitchFamily="34" charset="-120"/>
              </a:rPr>
              <a:t>PRANA uses a plant-specific physics model. Chlor-alkali is our demonstrated implementation — the equations below are its, not everyone's.</a:t>
            </a:r>
            <a:endParaRPr lang="en-US" sz="2250" dirty="0"/>
          </a:p>
        </p:txBody>
      </p:sp>
      <p:sp>
        <p:nvSpPr>
          <p:cNvPr id="7" name="Shape 5"/>
          <p:cNvSpPr/>
          <p:nvPr/>
        </p:nvSpPr>
        <p:spPr>
          <a:xfrm>
            <a:off x="990600" y="3383280"/>
            <a:ext cx="8905637" cy="5280660"/>
          </a:xfrm>
          <a:prstGeom prst="roundRect">
            <a:avLst>
              <a:gd name="adj" fmla="val 2525"/>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8" name="Text 6"/>
          <p:cNvSpPr/>
          <p:nvPr/>
        </p:nvSpPr>
        <p:spPr>
          <a:xfrm>
            <a:off x="1341120" y="3432810"/>
            <a:ext cx="9025057"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56" dirty="0">
                <a:solidFill>
                  <a:srgbClr val="1597D4"/>
                </a:solidFill>
                <a:latin typeface="Arial" pitchFamily="34" charset="0"/>
                <a:ea typeface="Arial" pitchFamily="34" charset="-122"/>
                <a:cs typeface="Arial" pitchFamily="34" charset="-120"/>
              </a:rPr>
              <a:t>DERIVED, NOT FITTED</a:t>
            </a:r>
            <a:endParaRPr lang="en-US" sz="1950" dirty="0"/>
          </a:p>
        </p:txBody>
      </p:sp>
      <p:sp>
        <p:nvSpPr>
          <p:cNvPr id="9" name="Text 7"/>
          <p:cNvSpPr/>
          <p:nvPr/>
        </p:nvSpPr>
        <p:spPr>
          <a:xfrm>
            <a:off x="1341120" y="3886200"/>
            <a:ext cx="2011418" cy="518160"/>
          </a:xfrm>
          <a:prstGeom prst="rect">
            <a:avLst/>
          </a:prstGeom>
          <a:noFill/>
          <a:ln/>
        </p:spPr>
        <p:txBody>
          <a:bodyPr wrap="square" lIns="25400" tIns="25400" rIns="25400" bIns="25400" rtlCol="0" anchor="t">
            <a:normAutofit/>
          </a:bodyPr>
          <a:lstStyle/>
          <a:p>
            <a:pPr marL="0" indent="0" algn="l">
              <a:buNone/>
            </a:pPr>
            <a:r>
              <a:rPr lang="en-US" sz="2850" b="1" dirty="0">
                <a:solidFill>
                  <a:srgbClr val="1597D4"/>
                </a:solidFill>
                <a:latin typeface="Arial" pitchFamily="34" charset="0"/>
                <a:ea typeface="Arial" pitchFamily="34" charset="-122"/>
                <a:cs typeface="Arial" pitchFamily="34" charset="-120"/>
              </a:rPr>
              <a:t>V = V₀ + k·i</a:t>
            </a:r>
            <a:endParaRPr lang="en-US" sz="2850" dirty="0"/>
          </a:p>
        </p:txBody>
      </p:sp>
      <p:sp>
        <p:nvSpPr>
          <p:cNvPr id="10" name="Text 8"/>
          <p:cNvSpPr/>
          <p:nvPr/>
        </p:nvSpPr>
        <p:spPr>
          <a:xfrm>
            <a:off x="3360182" y="4038600"/>
            <a:ext cx="1991904" cy="33528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6B7C89"/>
                </a:solidFill>
                <a:latin typeface="Arial" pitchFamily="34" charset="0"/>
                <a:ea typeface="Arial" pitchFamily="34" charset="-122"/>
                <a:cs typeface="Arial" pitchFamily="34" charset="-120"/>
              </a:rPr>
              <a:t>cell voltage law</a:t>
            </a:r>
            <a:endParaRPr lang="en-US" sz="1950" dirty="0"/>
          </a:p>
        </p:txBody>
      </p:sp>
      <p:sp>
        <p:nvSpPr>
          <p:cNvPr id="11" name="Text 9"/>
          <p:cNvSpPr/>
          <p:nvPr/>
        </p:nvSpPr>
        <p:spPr>
          <a:xfrm>
            <a:off x="1341120" y="4523855"/>
            <a:ext cx="820698" cy="487680"/>
          </a:xfrm>
          <a:prstGeom prst="rect">
            <a:avLst/>
          </a:prstGeom>
          <a:noFill/>
          <a:ln/>
        </p:spPr>
        <p:txBody>
          <a:bodyPr wrap="square" lIns="25400" tIns="25400" rIns="25400" bIns="25400" rtlCol="0" anchor="t">
            <a:normAutofit fontScale="92500"/>
          </a:bodyPr>
          <a:lstStyle/>
          <a:p>
            <a:pPr marL="0" indent="0" algn="l">
              <a:buNone/>
            </a:pPr>
            <a:r>
              <a:rPr lang="en-US" sz="2850" b="1" dirty="0">
                <a:solidFill>
                  <a:srgbClr val="1597D4"/>
                </a:solidFill>
                <a:latin typeface="Arial" pitchFamily="34" charset="0"/>
                <a:ea typeface="Arial" pitchFamily="34" charset="-122"/>
                <a:cs typeface="Arial" pitchFamily="34" charset="-120"/>
              </a:rPr>
              <a:t>q ∝ i</a:t>
            </a:r>
            <a:endParaRPr lang="en-US" sz="2850" dirty="0"/>
          </a:p>
        </p:txBody>
      </p:sp>
      <p:sp>
        <p:nvSpPr>
          <p:cNvPr id="12" name="Text 10"/>
          <p:cNvSpPr/>
          <p:nvPr/>
        </p:nvSpPr>
        <p:spPr>
          <a:xfrm>
            <a:off x="2276118" y="4636770"/>
            <a:ext cx="1775543" cy="33528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6B7C89"/>
                </a:solidFill>
                <a:latin typeface="Arial" pitchFamily="34" charset="0"/>
                <a:ea typeface="Arial" pitchFamily="34" charset="-122"/>
                <a:cs typeface="Arial" pitchFamily="34" charset="-120"/>
              </a:rPr>
              <a:t>Faraday's law</a:t>
            </a:r>
            <a:endParaRPr lang="en-US" sz="1950" dirty="0"/>
          </a:p>
        </p:txBody>
      </p:sp>
      <p:sp>
        <p:nvSpPr>
          <p:cNvPr id="13" name="Text 11"/>
          <p:cNvSpPr/>
          <p:nvPr/>
        </p:nvSpPr>
        <p:spPr>
          <a:xfrm>
            <a:off x="1341120" y="5330190"/>
            <a:ext cx="9025057" cy="739140"/>
          </a:xfrm>
          <a:prstGeom prst="rect">
            <a:avLst/>
          </a:prstGeom>
          <a:noFill/>
          <a:ln/>
        </p:spPr>
        <p:txBody>
          <a:bodyPr wrap="square" lIns="25400" tIns="25400" rIns="25400" bIns="25400" rtlCol="0" anchor="t">
            <a:normAutofit lnSpcReduction="10000"/>
          </a:bodyPr>
          <a:lstStyle/>
          <a:p>
            <a:pPr marL="0" indent="0" algn="l">
              <a:buNone/>
            </a:pPr>
            <a:r>
              <a:rPr lang="en-US" sz="4800" b="1" kern="0" spc="-144" dirty="0">
                <a:solidFill>
                  <a:srgbClr val="124B68"/>
                </a:solidFill>
                <a:latin typeface="Arial" pitchFamily="34" charset="0"/>
                <a:ea typeface="Arial" pitchFamily="34" charset="-122"/>
                <a:cs typeface="Arial" pitchFamily="34" charset="-120"/>
              </a:rPr>
              <a:t>P(q) = αq + βq²</a:t>
            </a:r>
            <a:endParaRPr lang="en-US" sz="4800" dirty="0"/>
          </a:p>
        </p:txBody>
      </p:sp>
      <p:sp>
        <p:nvSpPr>
          <p:cNvPr id="14" name="Text 12"/>
          <p:cNvSpPr/>
          <p:nvPr/>
        </p:nvSpPr>
        <p:spPr>
          <a:xfrm>
            <a:off x="1341120" y="6202680"/>
            <a:ext cx="8450735" cy="1531620"/>
          </a:xfrm>
          <a:prstGeom prst="rect">
            <a:avLst/>
          </a:prstGeom>
          <a:noFill/>
          <a:ln/>
        </p:spPr>
        <p:txBody>
          <a:bodyPr wrap="square" lIns="25400" tIns="25400" rIns="25400" bIns="25400" rtlCol="0" anchor="t">
            <a:normAutofit lnSpcReduction="10000"/>
          </a:bodyPr>
          <a:lstStyle/>
          <a:p>
            <a:pPr marL="0" indent="0" algn="l">
              <a:lnSpc>
                <a:spcPct val="122500"/>
              </a:lnSpc>
              <a:buNone/>
            </a:pPr>
            <a:r>
              <a:rPr lang="en-US" sz="2100" dirty="0">
                <a:solidFill>
                  <a:srgbClr val="17324D"/>
                </a:solidFill>
                <a:latin typeface="Arial" pitchFamily="34" charset="0"/>
                <a:ea typeface="Arial" pitchFamily="34" charset="-122"/>
                <a:cs typeface="Arial" pitchFamily="34" charset="-120"/>
              </a:rPr>
              <a:t>Convex by electrochemistry, not by parameter choice. Splitting output into a turn-down leg and a rebuild leg therefore always burns more kWh than steady operation  that excess is the true physical cost of flexibility.</a:t>
            </a:r>
            <a:endParaRPr lang="en-US" sz="2100" dirty="0"/>
          </a:p>
        </p:txBody>
      </p:sp>
      <p:sp>
        <p:nvSpPr>
          <p:cNvPr id="15" name="Text 13"/>
          <p:cNvSpPr/>
          <p:nvPr/>
        </p:nvSpPr>
        <p:spPr>
          <a:xfrm>
            <a:off x="1341120" y="7867650"/>
            <a:ext cx="8450735" cy="784860"/>
          </a:xfrm>
          <a:prstGeom prst="rect">
            <a:avLst/>
          </a:prstGeom>
          <a:noFill/>
          <a:ln/>
        </p:spPr>
        <p:txBody>
          <a:bodyPr wrap="square" lIns="25400" tIns="25400" rIns="25400" bIns="25400" rtlCol="0" anchor="t">
            <a:normAutofit lnSpcReduction="10000"/>
          </a:bodyPr>
          <a:lstStyle/>
          <a:p>
            <a:pPr marL="0" indent="0" algn="l">
              <a:lnSpc>
                <a:spcPct val="122500"/>
              </a:lnSpc>
              <a:buNone/>
            </a:pPr>
            <a:r>
              <a:rPr lang="en-US" sz="2100" dirty="0">
                <a:solidFill>
                  <a:srgbClr val="17324D"/>
                </a:solidFill>
                <a:latin typeface="Arial" pitchFamily="34" charset="0"/>
                <a:ea typeface="Arial" pitchFamily="34" charset="-122"/>
                <a:cs typeface="Arial" pitchFamily="34" charset="-120"/>
              </a:rPr>
              <a:t>The published cell curve implies β of 0.30–0.45; this model uses </a:t>
            </a:r>
            <a:r>
              <a:rPr lang="en-US" sz="2100" b="1" dirty="0">
                <a:solidFill>
                  <a:srgbClr val="124B68"/>
                </a:solidFill>
                <a:latin typeface="Arial" pitchFamily="34" charset="0"/>
                <a:ea typeface="Arial" pitchFamily="34" charset="-122"/>
                <a:cs typeface="Arial" pitchFamily="34" charset="-120"/>
              </a:rPr>
              <a:t>0.21</a:t>
            </a:r>
            <a:r>
              <a:rPr lang="en-US" sz="2100" dirty="0">
                <a:solidFill>
                  <a:srgbClr val="17324D"/>
                </a:solidFill>
                <a:latin typeface="Arial" pitchFamily="34" charset="0"/>
                <a:ea typeface="Arial" pitchFamily="34" charset="-122"/>
                <a:cs typeface="Arial" pitchFamily="34" charset="-120"/>
              </a:rPr>
              <a:t>, so we charge ourselves the larger round-trip loss.</a:t>
            </a:r>
            <a:endParaRPr lang="en-US" sz="2100" dirty="0"/>
          </a:p>
        </p:txBody>
      </p:sp>
      <p:sp>
        <p:nvSpPr>
          <p:cNvPr id="16" name="Shape 14"/>
          <p:cNvSpPr/>
          <p:nvPr/>
        </p:nvSpPr>
        <p:spPr>
          <a:xfrm>
            <a:off x="10162937" y="3383280"/>
            <a:ext cx="7134463" cy="644604"/>
          </a:xfrm>
          <a:prstGeom prst="roundRect">
            <a:avLst>
              <a:gd name="adj" fmla="val 17732"/>
            </a:avLst>
          </a:prstGeom>
          <a:solidFill>
            <a:srgbClr val="FFFFFF"/>
          </a:solidFill>
          <a:ln/>
          <a:effectLst>
            <a:outerShdw blurRad="28575" dist="9525" dir="5400000" algn="bl" rotWithShape="0">
              <a:srgbClr val="17324D">
                <a:alpha val="5000"/>
              </a:srgbClr>
            </a:outerShdw>
          </a:effectLst>
        </p:spPr>
      </p:sp>
      <p:sp>
        <p:nvSpPr>
          <p:cNvPr id="17" name="Shape 15"/>
          <p:cNvSpPr/>
          <p:nvPr/>
        </p:nvSpPr>
        <p:spPr>
          <a:xfrm>
            <a:off x="10162937" y="4020265"/>
            <a:ext cx="7134463" cy="9525"/>
          </a:xfrm>
          <a:prstGeom prst="rect">
            <a:avLst/>
          </a:prstGeom>
          <a:solidFill>
            <a:srgbClr val="DCE8ED"/>
          </a:solidFill>
          <a:ln/>
        </p:spPr>
      </p:sp>
      <p:sp>
        <p:nvSpPr>
          <p:cNvPr id="18" name="Shape 16"/>
          <p:cNvSpPr/>
          <p:nvPr/>
        </p:nvSpPr>
        <p:spPr>
          <a:xfrm>
            <a:off x="10162937" y="3383280"/>
            <a:ext cx="7134463" cy="9525"/>
          </a:xfrm>
          <a:prstGeom prst="rect">
            <a:avLst/>
          </a:prstGeom>
          <a:solidFill>
            <a:srgbClr val="DCE8ED"/>
          </a:solidFill>
          <a:ln/>
        </p:spPr>
      </p:sp>
      <p:sp>
        <p:nvSpPr>
          <p:cNvPr id="19" name="Shape 17"/>
          <p:cNvSpPr/>
          <p:nvPr/>
        </p:nvSpPr>
        <p:spPr>
          <a:xfrm>
            <a:off x="10162937" y="3383280"/>
            <a:ext cx="38100" cy="644604"/>
          </a:xfrm>
          <a:prstGeom prst="rect">
            <a:avLst/>
          </a:prstGeom>
          <a:solidFill>
            <a:srgbClr val="1597D4"/>
          </a:solidFill>
          <a:ln/>
        </p:spPr>
      </p:sp>
      <p:sp>
        <p:nvSpPr>
          <p:cNvPr id="20" name="Shape 18"/>
          <p:cNvSpPr/>
          <p:nvPr/>
        </p:nvSpPr>
        <p:spPr>
          <a:xfrm>
            <a:off x="17289780" y="3383280"/>
            <a:ext cx="9525" cy="644604"/>
          </a:xfrm>
          <a:prstGeom prst="rect">
            <a:avLst/>
          </a:prstGeom>
          <a:solidFill>
            <a:srgbClr val="DCE8ED"/>
          </a:solidFill>
          <a:ln/>
        </p:spPr>
      </p:sp>
      <p:sp>
        <p:nvSpPr>
          <p:cNvPr id="21" name="Text 19"/>
          <p:cNvSpPr/>
          <p:nvPr/>
        </p:nvSpPr>
        <p:spPr>
          <a:xfrm>
            <a:off x="10448687" y="3384590"/>
            <a:ext cx="7252788" cy="35814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24B68"/>
                </a:solidFill>
                <a:latin typeface="Arial" pitchFamily="34" charset="0"/>
                <a:ea typeface="Arial" pitchFamily="34" charset="-122"/>
                <a:cs typeface="Arial" pitchFamily="34" charset="-120"/>
              </a:rPr>
              <a:t>Process physics</a:t>
            </a:r>
            <a:endParaRPr lang="en-US" sz="2175" dirty="0"/>
          </a:p>
        </p:txBody>
      </p:sp>
      <p:sp>
        <p:nvSpPr>
          <p:cNvPr id="22" name="Text 20"/>
          <p:cNvSpPr/>
          <p:nvPr/>
        </p:nvSpPr>
        <p:spPr>
          <a:xfrm>
            <a:off x="10448687" y="3704630"/>
            <a:ext cx="7252788" cy="360045"/>
          </a:xfrm>
          <a:prstGeom prst="rect">
            <a:avLst/>
          </a:prstGeom>
          <a:noFill/>
          <a:ln/>
        </p:spPr>
        <p:txBody>
          <a:bodyPr wrap="square" lIns="25400" tIns="25400" rIns="25400" bIns="25400" rtlCol="0" anchor="t">
            <a:normAutofit lnSpcReduction="10000"/>
          </a:bodyPr>
          <a:lstStyle/>
          <a:p>
            <a:pPr marL="0" indent="0" algn="l">
              <a:lnSpc>
                <a:spcPct val="114189"/>
              </a:lnSpc>
              <a:buNone/>
            </a:pPr>
            <a:r>
              <a:rPr lang="en-US" sz="1950" dirty="0">
                <a:solidFill>
                  <a:srgbClr val="17324D"/>
                </a:solidFill>
                <a:latin typeface="Arial" pitchFamily="34" charset="0"/>
                <a:ea typeface="Arial" pitchFamily="34" charset="-122"/>
                <a:cs typeface="Arial" pitchFamily="34" charset="-120"/>
              </a:rPr>
              <a:t>Convex load curve, energy per tonne, power factor</a:t>
            </a:r>
            <a:endParaRPr lang="en-US" sz="1950" dirty="0"/>
          </a:p>
        </p:txBody>
      </p:sp>
      <p:sp>
        <p:nvSpPr>
          <p:cNvPr id="23" name="Text 21"/>
          <p:cNvSpPr/>
          <p:nvPr/>
        </p:nvSpPr>
        <p:spPr>
          <a:xfrm>
            <a:off x="9806213" y="4161234"/>
            <a:ext cx="7847910" cy="285750"/>
          </a:xfrm>
          <a:prstGeom prst="rect">
            <a:avLst/>
          </a:prstGeom>
          <a:noFill/>
          <a:ln/>
        </p:spPr>
        <p:txBody>
          <a:bodyPr wrap="square" lIns="25400" tIns="25400" rIns="25400" bIns="25400" rtlCol="0" anchor="t">
            <a:normAutofit fontScale="92500" lnSpcReduction="10000"/>
          </a:bodyPr>
          <a:lstStyle/>
          <a:p>
            <a:pPr marL="0" indent="0" algn="ctr">
              <a:lnSpc>
                <a:spcPct val="87838"/>
              </a:lnSpc>
              <a:buNone/>
            </a:pPr>
            <a:r>
              <a:rPr lang="en-US" sz="1950" dirty="0">
                <a:solidFill>
                  <a:srgbClr val="38BDF2"/>
                </a:solidFill>
                <a:latin typeface="Arial" pitchFamily="34" charset="0"/>
                <a:ea typeface="Arial" pitchFamily="34" charset="-122"/>
                <a:cs typeface="Arial" pitchFamily="34" charset="-120"/>
              </a:rPr>
              <a:t>↓</a:t>
            </a:r>
            <a:endParaRPr lang="en-US" sz="1950" dirty="0"/>
          </a:p>
        </p:txBody>
      </p:sp>
      <p:sp>
        <p:nvSpPr>
          <p:cNvPr id="24" name="Shape 22"/>
          <p:cNvSpPr/>
          <p:nvPr/>
        </p:nvSpPr>
        <p:spPr>
          <a:xfrm>
            <a:off x="10162937" y="4542234"/>
            <a:ext cx="7134463" cy="644723"/>
          </a:xfrm>
          <a:prstGeom prst="roundRect">
            <a:avLst>
              <a:gd name="adj" fmla="val 17729"/>
            </a:avLst>
          </a:prstGeom>
          <a:solidFill>
            <a:srgbClr val="FFFFFF"/>
          </a:solidFill>
          <a:ln/>
          <a:effectLst>
            <a:outerShdw blurRad="28575" dist="9525" dir="5400000" algn="bl" rotWithShape="0">
              <a:srgbClr val="17324D">
                <a:alpha val="5000"/>
              </a:srgbClr>
            </a:outerShdw>
          </a:effectLst>
        </p:spPr>
      </p:sp>
      <p:sp>
        <p:nvSpPr>
          <p:cNvPr id="25" name="Shape 23"/>
          <p:cNvSpPr/>
          <p:nvPr/>
        </p:nvSpPr>
        <p:spPr>
          <a:xfrm>
            <a:off x="10162937" y="5179338"/>
            <a:ext cx="7134463" cy="9525"/>
          </a:xfrm>
          <a:prstGeom prst="rect">
            <a:avLst/>
          </a:prstGeom>
          <a:solidFill>
            <a:srgbClr val="DCE8ED"/>
          </a:solidFill>
          <a:ln/>
        </p:spPr>
      </p:sp>
      <p:sp>
        <p:nvSpPr>
          <p:cNvPr id="26" name="Shape 24"/>
          <p:cNvSpPr/>
          <p:nvPr/>
        </p:nvSpPr>
        <p:spPr>
          <a:xfrm>
            <a:off x="10162937" y="4542234"/>
            <a:ext cx="7134463" cy="9525"/>
          </a:xfrm>
          <a:prstGeom prst="rect">
            <a:avLst/>
          </a:prstGeom>
          <a:solidFill>
            <a:srgbClr val="DCE8ED"/>
          </a:solidFill>
          <a:ln/>
        </p:spPr>
      </p:sp>
      <p:sp>
        <p:nvSpPr>
          <p:cNvPr id="27" name="Shape 25"/>
          <p:cNvSpPr/>
          <p:nvPr/>
        </p:nvSpPr>
        <p:spPr>
          <a:xfrm>
            <a:off x="10162937" y="4542234"/>
            <a:ext cx="38100" cy="644723"/>
          </a:xfrm>
          <a:prstGeom prst="rect">
            <a:avLst/>
          </a:prstGeom>
          <a:solidFill>
            <a:srgbClr val="1597D4"/>
          </a:solidFill>
          <a:ln/>
        </p:spPr>
      </p:sp>
      <p:sp>
        <p:nvSpPr>
          <p:cNvPr id="28" name="Shape 26"/>
          <p:cNvSpPr/>
          <p:nvPr/>
        </p:nvSpPr>
        <p:spPr>
          <a:xfrm>
            <a:off x="17289780" y="4542234"/>
            <a:ext cx="9525" cy="644723"/>
          </a:xfrm>
          <a:prstGeom prst="rect">
            <a:avLst/>
          </a:prstGeom>
          <a:solidFill>
            <a:srgbClr val="DCE8ED"/>
          </a:solidFill>
          <a:ln/>
        </p:spPr>
      </p:sp>
      <p:sp>
        <p:nvSpPr>
          <p:cNvPr id="29" name="Text 27"/>
          <p:cNvSpPr/>
          <p:nvPr/>
        </p:nvSpPr>
        <p:spPr>
          <a:xfrm>
            <a:off x="10448687" y="4543663"/>
            <a:ext cx="7252788" cy="35814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24B68"/>
                </a:solidFill>
                <a:latin typeface="Arial" pitchFamily="34" charset="0"/>
                <a:ea typeface="Arial" pitchFamily="34" charset="-122"/>
                <a:cs typeface="Arial" pitchFamily="34" charset="-120"/>
              </a:rPr>
              <a:t>Operating envelope</a:t>
            </a:r>
            <a:endParaRPr lang="en-US" sz="2175" dirty="0"/>
          </a:p>
        </p:txBody>
      </p:sp>
      <p:sp>
        <p:nvSpPr>
          <p:cNvPr id="30" name="Text 28"/>
          <p:cNvSpPr/>
          <p:nvPr/>
        </p:nvSpPr>
        <p:spPr>
          <a:xfrm>
            <a:off x="10448687" y="4863703"/>
            <a:ext cx="7252788" cy="360045"/>
          </a:xfrm>
          <a:prstGeom prst="rect">
            <a:avLst/>
          </a:prstGeom>
          <a:noFill/>
          <a:ln/>
        </p:spPr>
        <p:txBody>
          <a:bodyPr wrap="square" lIns="25400" tIns="25400" rIns="25400" bIns="25400" rtlCol="0" anchor="t">
            <a:normAutofit lnSpcReduction="10000"/>
          </a:bodyPr>
          <a:lstStyle/>
          <a:p>
            <a:pPr marL="0" indent="0" algn="l">
              <a:lnSpc>
                <a:spcPct val="114189"/>
              </a:lnSpc>
              <a:buNone/>
            </a:pPr>
            <a:r>
              <a:rPr lang="en-US" sz="1950" dirty="0">
                <a:solidFill>
                  <a:srgbClr val="17324D"/>
                </a:solidFill>
                <a:latin typeface="Arial" pitchFamily="34" charset="0"/>
                <a:ea typeface="Arial" pitchFamily="34" charset="-122"/>
                <a:cs typeface="Arial" pitchFamily="34" charset="-120"/>
              </a:rPr>
              <a:t>Hard interlocks and equipment limits as bounds</a:t>
            </a:r>
            <a:endParaRPr lang="en-US" sz="1950" dirty="0"/>
          </a:p>
        </p:txBody>
      </p:sp>
      <p:sp>
        <p:nvSpPr>
          <p:cNvPr id="31" name="Text 29"/>
          <p:cNvSpPr/>
          <p:nvPr/>
        </p:nvSpPr>
        <p:spPr>
          <a:xfrm>
            <a:off x="9806213" y="5320308"/>
            <a:ext cx="7847910" cy="285750"/>
          </a:xfrm>
          <a:prstGeom prst="rect">
            <a:avLst/>
          </a:prstGeom>
          <a:noFill/>
          <a:ln/>
        </p:spPr>
        <p:txBody>
          <a:bodyPr wrap="square" lIns="25400" tIns="25400" rIns="25400" bIns="25400" rtlCol="0" anchor="t">
            <a:normAutofit fontScale="92500" lnSpcReduction="10000"/>
          </a:bodyPr>
          <a:lstStyle/>
          <a:p>
            <a:pPr marL="0" indent="0" algn="ctr">
              <a:lnSpc>
                <a:spcPct val="87838"/>
              </a:lnSpc>
              <a:buNone/>
            </a:pPr>
            <a:r>
              <a:rPr lang="en-US" sz="1950" dirty="0">
                <a:solidFill>
                  <a:srgbClr val="38BDF2"/>
                </a:solidFill>
                <a:latin typeface="Arial" pitchFamily="34" charset="0"/>
                <a:ea typeface="Arial" pitchFamily="34" charset="-122"/>
                <a:cs typeface="Arial" pitchFamily="34" charset="-120"/>
              </a:rPr>
              <a:t>↓</a:t>
            </a:r>
            <a:endParaRPr lang="en-US" sz="1950" dirty="0"/>
          </a:p>
        </p:txBody>
      </p:sp>
      <p:sp>
        <p:nvSpPr>
          <p:cNvPr id="32" name="Shape 30"/>
          <p:cNvSpPr/>
          <p:nvPr/>
        </p:nvSpPr>
        <p:spPr>
          <a:xfrm>
            <a:off x="10162937" y="5701308"/>
            <a:ext cx="7134463" cy="644604"/>
          </a:xfrm>
          <a:prstGeom prst="roundRect">
            <a:avLst>
              <a:gd name="adj" fmla="val 17732"/>
            </a:avLst>
          </a:prstGeom>
          <a:solidFill>
            <a:srgbClr val="FFFFFF"/>
          </a:solidFill>
          <a:ln/>
          <a:effectLst>
            <a:outerShdw blurRad="28575" dist="9525" dir="5400000" algn="bl" rotWithShape="0">
              <a:srgbClr val="17324D">
                <a:alpha val="5000"/>
              </a:srgbClr>
            </a:outerShdw>
          </a:effectLst>
        </p:spPr>
      </p:sp>
      <p:sp>
        <p:nvSpPr>
          <p:cNvPr id="33" name="Shape 31"/>
          <p:cNvSpPr/>
          <p:nvPr/>
        </p:nvSpPr>
        <p:spPr>
          <a:xfrm>
            <a:off x="10162937" y="6338292"/>
            <a:ext cx="7134463" cy="9525"/>
          </a:xfrm>
          <a:prstGeom prst="rect">
            <a:avLst/>
          </a:prstGeom>
          <a:solidFill>
            <a:srgbClr val="DCE8ED"/>
          </a:solidFill>
          <a:ln/>
        </p:spPr>
      </p:sp>
      <p:sp>
        <p:nvSpPr>
          <p:cNvPr id="34" name="Shape 32"/>
          <p:cNvSpPr/>
          <p:nvPr/>
        </p:nvSpPr>
        <p:spPr>
          <a:xfrm>
            <a:off x="10162937" y="5701308"/>
            <a:ext cx="7134463" cy="9525"/>
          </a:xfrm>
          <a:prstGeom prst="rect">
            <a:avLst/>
          </a:prstGeom>
          <a:solidFill>
            <a:srgbClr val="DCE8ED"/>
          </a:solidFill>
          <a:ln/>
        </p:spPr>
      </p:sp>
      <p:sp>
        <p:nvSpPr>
          <p:cNvPr id="35" name="Shape 33"/>
          <p:cNvSpPr/>
          <p:nvPr/>
        </p:nvSpPr>
        <p:spPr>
          <a:xfrm>
            <a:off x="10162937" y="5701308"/>
            <a:ext cx="38100" cy="644604"/>
          </a:xfrm>
          <a:prstGeom prst="rect">
            <a:avLst/>
          </a:prstGeom>
          <a:solidFill>
            <a:srgbClr val="38BDF2"/>
          </a:solidFill>
          <a:ln/>
        </p:spPr>
      </p:sp>
      <p:sp>
        <p:nvSpPr>
          <p:cNvPr id="36" name="Shape 34"/>
          <p:cNvSpPr/>
          <p:nvPr/>
        </p:nvSpPr>
        <p:spPr>
          <a:xfrm>
            <a:off x="17289780" y="5701308"/>
            <a:ext cx="9525" cy="644604"/>
          </a:xfrm>
          <a:prstGeom prst="rect">
            <a:avLst/>
          </a:prstGeom>
          <a:solidFill>
            <a:srgbClr val="DCE8ED"/>
          </a:solidFill>
          <a:ln/>
        </p:spPr>
      </p:sp>
      <p:sp>
        <p:nvSpPr>
          <p:cNvPr id="37" name="Text 35"/>
          <p:cNvSpPr/>
          <p:nvPr/>
        </p:nvSpPr>
        <p:spPr>
          <a:xfrm>
            <a:off x="10448687" y="5702618"/>
            <a:ext cx="7252788" cy="35814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24B68"/>
                </a:solidFill>
                <a:latin typeface="Arial" pitchFamily="34" charset="0"/>
                <a:ea typeface="Arial" pitchFamily="34" charset="-122"/>
                <a:cs typeface="Arial" pitchFamily="34" charset="-120"/>
              </a:rPr>
              <a:t>Production &amp; downstream</a:t>
            </a:r>
            <a:endParaRPr lang="en-US" sz="2175" dirty="0"/>
          </a:p>
        </p:txBody>
      </p:sp>
      <p:sp>
        <p:nvSpPr>
          <p:cNvPr id="38" name="Text 36"/>
          <p:cNvSpPr/>
          <p:nvPr/>
        </p:nvSpPr>
        <p:spPr>
          <a:xfrm>
            <a:off x="10448687" y="6022657"/>
            <a:ext cx="7252788" cy="360045"/>
          </a:xfrm>
          <a:prstGeom prst="rect">
            <a:avLst/>
          </a:prstGeom>
          <a:noFill/>
          <a:ln/>
        </p:spPr>
        <p:txBody>
          <a:bodyPr wrap="square" lIns="25400" tIns="25400" rIns="25400" bIns="25400" rtlCol="0" anchor="t">
            <a:normAutofit lnSpcReduction="10000"/>
          </a:bodyPr>
          <a:lstStyle/>
          <a:p>
            <a:pPr marL="0" indent="0" algn="l">
              <a:lnSpc>
                <a:spcPct val="114189"/>
              </a:lnSpc>
              <a:buNone/>
            </a:pPr>
            <a:r>
              <a:rPr lang="en-US" sz="1950" dirty="0">
                <a:solidFill>
                  <a:srgbClr val="17324D"/>
                </a:solidFill>
                <a:latin typeface="Arial" pitchFamily="34" charset="0"/>
                <a:ea typeface="Arial" pitchFamily="34" charset="-122"/>
                <a:cs typeface="Arial" pitchFamily="34" charset="-120"/>
              </a:rPr>
              <a:t>Tonnes committed, offtake that cannot be stored</a:t>
            </a:r>
            <a:endParaRPr lang="en-US" sz="1950" dirty="0"/>
          </a:p>
        </p:txBody>
      </p:sp>
      <p:sp>
        <p:nvSpPr>
          <p:cNvPr id="39" name="Text 37"/>
          <p:cNvSpPr/>
          <p:nvPr/>
        </p:nvSpPr>
        <p:spPr>
          <a:xfrm>
            <a:off x="9806213" y="6479262"/>
            <a:ext cx="7847910" cy="285750"/>
          </a:xfrm>
          <a:prstGeom prst="rect">
            <a:avLst/>
          </a:prstGeom>
          <a:noFill/>
          <a:ln/>
        </p:spPr>
        <p:txBody>
          <a:bodyPr wrap="square" lIns="25400" tIns="25400" rIns="25400" bIns="25400" rtlCol="0" anchor="t">
            <a:normAutofit fontScale="92500" lnSpcReduction="10000"/>
          </a:bodyPr>
          <a:lstStyle/>
          <a:p>
            <a:pPr marL="0" indent="0" algn="ctr">
              <a:lnSpc>
                <a:spcPct val="87838"/>
              </a:lnSpc>
              <a:buNone/>
            </a:pPr>
            <a:r>
              <a:rPr lang="en-US" sz="1950" dirty="0">
                <a:solidFill>
                  <a:srgbClr val="38BDF2"/>
                </a:solidFill>
                <a:latin typeface="Arial" pitchFamily="34" charset="0"/>
                <a:ea typeface="Arial" pitchFamily="34" charset="-122"/>
                <a:cs typeface="Arial" pitchFamily="34" charset="-120"/>
              </a:rPr>
              <a:t>↓</a:t>
            </a:r>
            <a:endParaRPr lang="en-US" sz="1950" dirty="0"/>
          </a:p>
        </p:txBody>
      </p:sp>
      <p:sp>
        <p:nvSpPr>
          <p:cNvPr id="40" name="Shape 38"/>
          <p:cNvSpPr/>
          <p:nvPr/>
        </p:nvSpPr>
        <p:spPr>
          <a:xfrm>
            <a:off x="10162937" y="6860262"/>
            <a:ext cx="7134463" cy="644723"/>
          </a:xfrm>
          <a:prstGeom prst="roundRect">
            <a:avLst>
              <a:gd name="adj" fmla="val 17729"/>
            </a:avLst>
          </a:prstGeom>
          <a:solidFill>
            <a:srgbClr val="FFFFFF"/>
          </a:solidFill>
          <a:ln/>
          <a:effectLst>
            <a:outerShdw blurRad="28575" dist="9525" dir="5400000" algn="bl" rotWithShape="0">
              <a:srgbClr val="17324D">
                <a:alpha val="5000"/>
              </a:srgbClr>
            </a:outerShdw>
          </a:effectLst>
        </p:spPr>
      </p:sp>
      <p:sp>
        <p:nvSpPr>
          <p:cNvPr id="41" name="Shape 39"/>
          <p:cNvSpPr/>
          <p:nvPr/>
        </p:nvSpPr>
        <p:spPr>
          <a:xfrm>
            <a:off x="10162937" y="7497366"/>
            <a:ext cx="7134463" cy="9525"/>
          </a:xfrm>
          <a:prstGeom prst="rect">
            <a:avLst/>
          </a:prstGeom>
          <a:solidFill>
            <a:srgbClr val="DCE8ED"/>
          </a:solidFill>
          <a:ln/>
        </p:spPr>
      </p:sp>
      <p:sp>
        <p:nvSpPr>
          <p:cNvPr id="42" name="Shape 40"/>
          <p:cNvSpPr/>
          <p:nvPr/>
        </p:nvSpPr>
        <p:spPr>
          <a:xfrm>
            <a:off x="10162937" y="6860262"/>
            <a:ext cx="7134463" cy="9525"/>
          </a:xfrm>
          <a:prstGeom prst="rect">
            <a:avLst/>
          </a:prstGeom>
          <a:solidFill>
            <a:srgbClr val="DCE8ED"/>
          </a:solidFill>
          <a:ln/>
        </p:spPr>
      </p:sp>
      <p:sp>
        <p:nvSpPr>
          <p:cNvPr id="43" name="Shape 41"/>
          <p:cNvSpPr/>
          <p:nvPr/>
        </p:nvSpPr>
        <p:spPr>
          <a:xfrm>
            <a:off x="10162937" y="6860262"/>
            <a:ext cx="38100" cy="644723"/>
          </a:xfrm>
          <a:prstGeom prst="rect">
            <a:avLst/>
          </a:prstGeom>
          <a:solidFill>
            <a:srgbClr val="38BDF2"/>
          </a:solidFill>
          <a:ln/>
        </p:spPr>
      </p:sp>
      <p:sp>
        <p:nvSpPr>
          <p:cNvPr id="44" name="Shape 42"/>
          <p:cNvSpPr/>
          <p:nvPr/>
        </p:nvSpPr>
        <p:spPr>
          <a:xfrm>
            <a:off x="17289780" y="6860262"/>
            <a:ext cx="9525" cy="644723"/>
          </a:xfrm>
          <a:prstGeom prst="rect">
            <a:avLst/>
          </a:prstGeom>
          <a:solidFill>
            <a:srgbClr val="DCE8ED"/>
          </a:solidFill>
          <a:ln/>
        </p:spPr>
      </p:sp>
      <p:sp>
        <p:nvSpPr>
          <p:cNvPr id="45" name="Text 43"/>
          <p:cNvSpPr/>
          <p:nvPr/>
        </p:nvSpPr>
        <p:spPr>
          <a:xfrm>
            <a:off x="10448687" y="6861691"/>
            <a:ext cx="7252788" cy="35814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24B68"/>
                </a:solidFill>
                <a:latin typeface="Arial" pitchFamily="34" charset="0"/>
                <a:ea typeface="Arial" pitchFamily="34" charset="-122"/>
                <a:cs typeface="Arial" pitchFamily="34" charset="-120"/>
              </a:rPr>
              <a:t>Inventory &amp; ramp limits</a:t>
            </a:r>
            <a:endParaRPr lang="en-US" sz="2175" dirty="0"/>
          </a:p>
        </p:txBody>
      </p:sp>
      <p:sp>
        <p:nvSpPr>
          <p:cNvPr id="46" name="Text 44"/>
          <p:cNvSpPr/>
          <p:nvPr/>
        </p:nvSpPr>
        <p:spPr>
          <a:xfrm>
            <a:off x="10448687" y="7181731"/>
            <a:ext cx="7252788" cy="360045"/>
          </a:xfrm>
          <a:prstGeom prst="rect">
            <a:avLst/>
          </a:prstGeom>
          <a:noFill/>
          <a:ln/>
        </p:spPr>
        <p:txBody>
          <a:bodyPr wrap="square" lIns="25400" tIns="25400" rIns="25400" bIns="25400" rtlCol="0" anchor="t">
            <a:normAutofit lnSpcReduction="10000"/>
          </a:bodyPr>
          <a:lstStyle/>
          <a:p>
            <a:pPr marL="0" indent="0" algn="l">
              <a:lnSpc>
                <a:spcPct val="114189"/>
              </a:lnSpc>
              <a:buNone/>
            </a:pPr>
            <a:r>
              <a:rPr lang="en-US" sz="1950" dirty="0">
                <a:solidFill>
                  <a:srgbClr val="17324D"/>
                </a:solidFill>
                <a:latin typeface="Arial" pitchFamily="34" charset="0"/>
                <a:ea typeface="Arial" pitchFamily="34" charset="-122"/>
                <a:cs typeface="Arial" pitchFamily="34" charset="-120"/>
              </a:rPr>
              <a:t>Buffer capacity, rate of change the plant tolerates</a:t>
            </a:r>
            <a:endParaRPr lang="en-US" sz="1950" dirty="0"/>
          </a:p>
        </p:txBody>
      </p:sp>
      <p:sp>
        <p:nvSpPr>
          <p:cNvPr id="47" name="Text 45"/>
          <p:cNvSpPr/>
          <p:nvPr/>
        </p:nvSpPr>
        <p:spPr>
          <a:xfrm>
            <a:off x="9806213" y="7638336"/>
            <a:ext cx="7847910" cy="285750"/>
          </a:xfrm>
          <a:prstGeom prst="rect">
            <a:avLst/>
          </a:prstGeom>
          <a:noFill/>
          <a:ln/>
        </p:spPr>
        <p:txBody>
          <a:bodyPr wrap="square" lIns="25400" tIns="25400" rIns="25400" bIns="25400" rtlCol="0" anchor="t">
            <a:normAutofit fontScale="92500" lnSpcReduction="10000"/>
          </a:bodyPr>
          <a:lstStyle/>
          <a:p>
            <a:pPr marL="0" indent="0" algn="ctr">
              <a:lnSpc>
                <a:spcPct val="87838"/>
              </a:lnSpc>
              <a:buNone/>
            </a:pPr>
            <a:r>
              <a:rPr lang="en-US" sz="1950" dirty="0">
                <a:solidFill>
                  <a:srgbClr val="22A06B"/>
                </a:solidFill>
                <a:latin typeface="Arial" pitchFamily="34" charset="0"/>
                <a:ea typeface="Arial" pitchFamily="34" charset="-122"/>
                <a:cs typeface="Arial" pitchFamily="34" charset="-120"/>
              </a:rPr>
              <a:t>↓</a:t>
            </a:r>
            <a:endParaRPr lang="en-US" sz="1950" dirty="0"/>
          </a:p>
        </p:txBody>
      </p:sp>
      <p:sp>
        <p:nvSpPr>
          <p:cNvPr id="48" name="Shape 46"/>
          <p:cNvSpPr/>
          <p:nvPr/>
        </p:nvSpPr>
        <p:spPr>
          <a:xfrm>
            <a:off x="10162937" y="8019336"/>
            <a:ext cx="7134463" cy="644604"/>
          </a:xfrm>
          <a:prstGeom prst="roundRect">
            <a:avLst>
              <a:gd name="adj" fmla="val 17732"/>
            </a:avLst>
          </a:prstGeom>
          <a:solidFill>
            <a:srgbClr val="EAF7F1"/>
          </a:solidFill>
          <a:ln/>
        </p:spPr>
      </p:sp>
      <p:sp>
        <p:nvSpPr>
          <p:cNvPr id="49" name="Shape 47"/>
          <p:cNvSpPr/>
          <p:nvPr/>
        </p:nvSpPr>
        <p:spPr>
          <a:xfrm>
            <a:off x="10162937" y="8656320"/>
            <a:ext cx="7134463" cy="9525"/>
          </a:xfrm>
          <a:prstGeom prst="rect">
            <a:avLst/>
          </a:prstGeom>
          <a:solidFill>
            <a:srgbClr val="BFE5D4"/>
          </a:solidFill>
          <a:ln/>
        </p:spPr>
      </p:sp>
      <p:sp>
        <p:nvSpPr>
          <p:cNvPr id="50" name="Shape 48"/>
          <p:cNvSpPr/>
          <p:nvPr/>
        </p:nvSpPr>
        <p:spPr>
          <a:xfrm>
            <a:off x="10162937" y="8019336"/>
            <a:ext cx="7134463" cy="9525"/>
          </a:xfrm>
          <a:prstGeom prst="rect">
            <a:avLst/>
          </a:prstGeom>
          <a:solidFill>
            <a:srgbClr val="BFE5D4"/>
          </a:solidFill>
          <a:ln/>
        </p:spPr>
      </p:sp>
      <p:sp>
        <p:nvSpPr>
          <p:cNvPr id="51" name="Shape 49"/>
          <p:cNvSpPr/>
          <p:nvPr/>
        </p:nvSpPr>
        <p:spPr>
          <a:xfrm>
            <a:off x="10162937" y="8019336"/>
            <a:ext cx="38100" cy="644604"/>
          </a:xfrm>
          <a:prstGeom prst="rect">
            <a:avLst/>
          </a:prstGeom>
          <a:solidFill>
            <a:srgbClr val="22A06B"/>
          </a:solidFill>
          <a:ln/>
        </p:spPr>
      </p:sp>
      <p:sp>
        <p:nvSpPr>
          <p:cNvPr id="52" name="Shape 50"/>
          <p:cNvSpPr/>
          <p:nvPr/>
        </p:nvSpPr>
        <p:spPr>
          <a:xfrm>
            <a:off x="17289780" y="8019336"/>
            <a:ext cx="9525" cy="644604"/>
          </a:xfrm>
          <a:prstGeom prst="rect">
            <a:avLst/>
          </a:prstGeom>
          <a:solidFill>
            <a:srgbClr val="BFE5D4"/>
          </a:solidFill>
          <a:ln/>
        </p:spPr>
      </p:sp>
      <p:sp>
        <p:nvSpPr>
          <p:cNvPr id="53" name="Text 51"/>
          <p:cNvSpPr/>
          <p:nvPr/>
        </p:nvSpPr>
        <p:spPr>
          <a:xfrm>
            <a:off x="10448687" y="8020645"/>
            <a:ext cx="7252788" cy="35814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24B68"/>
                </a:solidFill>
                <a:latin typeface="Arial" pitchFamily="34" charset="0"/>
                <a:ea typeface="Arial" pitchFamily="34" charset="-122"/>
                <a:cs typeface="Arial" pitchFamily="34" charset="-120"/>
              </a:rPr>
              <a:t>Flexibility cost φ</a:t>
            </a:r>
            <a:endParaRPr lang="en-US" sz="2175" dirty="0"/>
          </a:p>
        </p:txBody>
      </p:sp>
      <p:sp>
        <p:nvSpPr>
          <p:cNvPr id="54" name="Text 52"/>
          <p:cNvSpPr/>
          <p:nvPr/>
        </p:nvSpPr>
        <p:spPr>
          <a:xfrm>
            <a:off x="10448687" y="8340686"/>
            <a:ext cx="7252788" cy="360045"/>
          </a:xfrm>
          <a:prstGeom prst="rect">
            <a:avLst/>
          </a:prstGeom>
          <a:noFill/>
          <a:ln/>
        </p:spPr>
        <p:txBody>
          <a:bodyPr wrap="square" lIns="25400" tIns="25400" rIns="25400" bIns="25400" rtlCol="0" anchor="t">
            <a:normAutofit lnSpcReduction="10000"/>
          </a:bodyPr>
          <a:lstStyle/>
          <a:p>
            <a:pPr marL="0" indent="0" algn="l">
              <a:lnSpc>
                <a:spcPct val="114189"/>
              </a:lnSpc>
              <a:buNone/>
            </a:pPr>
            <a:r>
              <a:rPr lang="en-US" sz="1950" dirty="0">
                <a:solidFill>
                  <a:srgbClr val="17324D"/>
                </a:solidFill>
                <a:latin typeface="Arial" pitchFamily="34" charset="0"/>
                <a:ea typeface="Arial" pitchFamily="34" charset="-122"/>
                <a:cs typeface="Arial" pitchFamily="34" charset="-120"/>
              </a:rPr>
              <a:t>₹/MWh to move load, output held constant</a:t>
            </a:r>
            <a:endParaRPr lang="en-US" sz="1950" dirty="0"/>
          </a:p>
        </p:txBody>
      </p:sp>
      <p:sp>
        <p:nvSpPr>
          <p:cNvPr id="55" name="Shape 53"/>
          <p:cNvSpPr/>
          <p:nvPr/>
        </p:nvSpPr>
        <p:spPr>
          <a:xfrm>
            <a:off x="990600" y="8873490"/>
            <a:ext cx="16306800" cy="9525"/>
          </a:xfrm>
          <a:prstGeom prst="rect">
            <a:avLst/>
          </a:prstGeom>
          <a:solidFill>
            <a:srgbClr val="DCE8ED"/>
          </a:solidFill>
          <a:ln/>
        </p:spPr>
      </p:sp>
      <p:sp>
        <p:nvSpPr>
          <p:cNvPr id="56" name="Text 54"/>
          <p:cNvSpPr/>
          <p:nvPr/>
        </p:nvSpPr>
        <p:spPr>
          <a:xfrm>
            <a:off x="990600" y="9052560"/>
            <a:ext cx="16796004" cy="58674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C89"/>
                </a:solidFill>
                <a:latin typeface="Arial" pitchFamily="34" charset="0"/>
                <a:ea typeface="Arial" pitchFamily="34" charset="-122"/>
                <a:cs typeface="Arial" pitchFamily="34" charset="-120"/>
              </a:rPr>
              <a:t>NPC India, Chlor-Alkali Sector Manual, p.28 (voltage law) and p.29 (empirical cell curve, E = 2.41 + 0.329·i + 0.24·log i). Linearised for the MILP by 16 tangent hyperplanes; measured error 0.025%.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3294519"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THE NOVEL OBJECT</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06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10665"/>
            <a:ext cx="15383459" cy="643890"/>
          </a:xfrm>
          <a:prstGeom prst="rect">
            <a:avLst/>
          </a:prstGeom>
          <a:noFill/>
          <a:ln/>
        </p:spPr>
        <p:txBody>
          <a:bodyPr wrap="square" lIns="25400" tIns="25400" rIns="25400" bIns="25400" rtlCol="0" anchor="t">
            <a:normAutofit lnSpcReduction="10000"/>
          </a:bodyPr>
          <a:lstStyle/>
          <a:p>
            <a:pPr marL="0" indent="0" algn="l">
              <a:lnSpc>
                <a:spcPct val="92442"/>
              </a:lnSpc>
              <a:buNone/>
            </a:pPr>
            <a:r>
              <a:rPr lang="en-US" sz="4500" b="1" kern="0" spc="-112" dirty="0">
                <a:solidFill>
                  <a:srgbClr val="124B68"/>
                </a:solidFill>
                <a:latin typeface="Arial" pitchFamily="34" charset="0"/>
                <a:ea typeface="Arial" pitchFamily="34" charset="-122"/>
                <a:cs typeface="Arial" pitchFamily="34" charset="-120"/>
              </a:rPr>
              <a:t>PRANA gives the plant a number it didn't have</a:t>
            </a:r>
            <a:endParaRPr lang="en-US" sz="4500" dirty="0"/>
          </a:p>
        </p:txBody>
      </p:sp>
      <p:sp>
        <p:nvSpPr>
          <p:cNvPr id="6" name="Text 4"/>
          <p:cNvSpPr/>
          <p:nvPr/>
        </p:nvSpPr>
        <p:spPr>
          <a:xfrm>
            <a:off x="990600" y="2327910"/>
            <a:ext cx="3289542" cy="739140"/>
          </a:xfrm>
          <a:prstGeom prst="rect">
            <a:avLst/>
          </a:prstGeom>
          <a:noFill/>
          <a:ln/>
        </p:spPr>
        <p:txBody>
          <a:bodyPr wrap="none" lIns="25400" tIns="25400" rIns="25400" bIns="25400" rtlCol="0" anchor="t">
            <a:normAutofit lnSpcReduction="10000"/>
          </a:bodyPr>
          <a:lstStyle/>
          <a:p>
            <a:pPr marL="0" indent="0" algn="l">
              <a:buNone/>
            </a:pPr>
            <a:r>
              <a:rPr lang="en-US" sz="4800" b="1" kern="0" spc="-144" dirty="0">
                <a:solidFill>
                  <a:srgbClr val="124B68"/>
                </a:solidFill>
                <a:latin typeface="Arial" pitchFamily="34" charset="0"/>
                <a:ea typeface="Arial" pitchFamily="34" charset="-122"/>
                <a:cs typeface="Arial" pitchFamily="34" charset="-120"/>
              </a:rPr>
              <a:t>φ(ΔMW, Δt)</a:t>
            </a:r>
            <a:endParaRPr lang="en-US" sz="4800" dirty="0"/>
          </a:p>
        </p:txBody>
      </p:sp>
      <p:sp>
        <p:nvSpPr>
          <p:cNvPr id="7" name="Text 5"/>
          <p:cNvSpPr/>
          <p:nvPr/>
        </p:nvSpPr>
        <p:spPr>
          <a:xfrm>
            <a:off x="4323993" y="2306955"/>
            <a:ext cx="10769138" cy="781050"/>
          </a:xfrm>
          <a:prstGeom prst="rect">
            <a:avLst/>
          </a:prstGeom>
          <a:noFill/>
          <a:ln/>
        </p:spPr>
        <p:txBody>
          <a:bodyPr wrap="square" lIns="25400" tIns="25400" rIns="25400" bIns="25400" rtlCol="0" anchor="t">
            <a:normAutofit lnSpcReduction="10000"/>
          </a:bodyPr>
          <a:lstStyle/>
          <a:p>
            <a:pPr marL="0" indent="0" algn="l">
              <a:lnSpc>
                <a:spcPct val="113372"/>
              </a:lnSpc>
              <a:buNone/>
            </a:pPr>
            <a:r>
              <a:rPr lang="en-US" sz="2250" dirty="0">
                <a:solidFill>
                  <a:srgbClr val="17324D"/>
                </a:solidFill>
                <a:latin typeface="Arial" pitchFamily="34" charset="0"/>
                <a:ea typeface="Arial" pitchFamily="34" charset="-122"/>
                <a:cs typeface="Arial" pitchFamily="34" charset="-120"/>
              </a:rPr>
              <a:t>The cost to this process of shifting electrical load by ΔMW for Δt hours, while respecting every production and engineering constraint.</a:t>
            </a:r>
            <a:endParaRPr lang="en-US" sz="2250" dirty="0"/>
          </a:p>
        </p:txBody>
      </p:sp>
      <p:sp>
        <p:nvSpPr>
          <p:cNvPr id="8" name="Shape 6"/>
          <p:cNvSpPr/>
          <p:nvPr/>
        </p:nvSpPr>
        <p:spPr>
          <a:xfrm>
            <a:off x="990600" y="3278505"/>
            <a:ext cx="3736538" cy="5455920"/>
          </a:xfrm>
          <a:prstGeom prst="roundRect">
            <a:avLst>
              <a:gd name="adj" fmla="val 3569"/>
            </a:avLst>
          </a:prstGeom>
          <a:solidFill>
            <a:srgbClr val="EAF7F1"/>
          </a:solidFill>
          <a:ln/>
        </p:spPr>
      </p:sp>
      <p:sp>
        <p:nvSpPr>
          <p:cNvPr id="9" name="Shape 7"/>
          <p:cNvSpPr/>
          <p:nvPr/>
        </p:nvSpPr>
        <p:spPr>
          <a:xfrm>
            <a:off x="990600" y="8726805"/>
            <a:ext cx="3736538" cy="9525"/>
          </a:xfrm>
          <a:prstGeom prst="rect">
            <a:avLst/>
          </a:prstGeom>
          <a:solidFill>
            <a:srgbClr val="BFE5D4"/>
          </a:solidFill>
          <a:ln/>
        </p:spPr>
      </p:sp>
      <p:sp>
        <p:nvSpPr>
          <p:cNvPr id="10" name="Shape 8"/>
          <p:cNvSpPr/>
          <p:nvPr/>
        </p:nvSpPr>
        <p:spPr>
          <a:xfrm>
            <a:off x="990600" y="3278505"/>
            <a:ext cx="3736538" cy="45720"/>
          </a:xfrm>
          <a:prstGeom prst="rect">
            <a:avLst/>
          </a:prstGeom>
          <a:solidFill>
            <a:srgbClr val="22A06B"/>
          </a:solidFill>
          <a:ln/>
        </p:spPr>
      </p:sp>
      <p:sp>
        <p:nvSpPr>
          <p:cNvPr id="11" name="Shape 9"/>
          <p:cNvSpPr/>
          <p:nvPr/>
        </p:nvSpPr>
        <p:spPr>
          <a:xfrm>
            <a:off x="990600" y="3278505"/>
            <a:ext cx="9525" cy="5455920"/>
          </a:xfrm>
          <a:prstGeom prst="rect">
            <a:avLst/>
          </a:prstGeom>
          <a:solidFill>
            <a:srgbClr val="BFE5D4"/>
          </a:solidFill>
          <a:ln/>
        </p:spPr>
      </p:sp>
      <p:sp>
        <p:nvSpPr>
          <p:cNvPr id="12" name="Shape 10"/>
          <p:cNvSpPr/>
          <p:nvPr/>
        </p:nvSpPr>
        <p:spPr>
          <a:xfrm>
            <a:off x="4719518" y="3278505"/>
            <a:ext cx="9525" cy="5455920"/>
          </a:xfrm>
          <a:prstGeom prst="rect">
            <a:avLst/>
          </a:prstGeom>
          <a:solidFill>
            <a:srgbClr val="BFE5D4"/>
          </a:solidFill>
          <a:ln/>
        </p:spPr>
      </p:sp>
      <p:sp>
        <p:nvSpPr>
          <p:cNvPr id="13" name="Text 11"/>
          <p:cNvSpPr/>
          <p:nvPr/>
        </p:nvSpPr>
        <p:spPr>
          <a:xfrm>
            <a:off x="1322070" y="3701416"/>
            <a:ext cx="3380958"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95" dirty="0">
                <a:solidFill>
                  <a:srgbClr val="22A06B"/>
                </a:solidFill>
                <a:latin typeface="Arial" pitchFamily="34" charset="0"/>
                <a:ea typeface="Arial" pitchFamily="34" charset="-122"/>
                <a:cs typeface="Arial" pitchFamily="34" charset="-120"/>
              </a:rPr>
              <a:t>LOW COST</a:t>
            </a:r>
            <a:endParaRPr lang="en-US" sz="1950" dirty="0"/>
          </a:p>
        </p:txBody>
      </p:sp>
      <p:sp>
        <p:nvSpPr>
          <p:cNvPr id="14" name="Text 12"/>
          <p:cNvSpPr/>
          <p:nvPr/>
        </p:nvSpPr>
        <p:spPr>
          <a:xfrm>
            <a:off x="1322070" y="4236188"/>
            <a:ext cx="3380958" cy="499110"/>
          </a:xfrm>
          <a:prstGeom prst="rect">
            <a:avLst/>
          </a:prstGeom>
          <a:noFill/>
          <a:ln/>
        </p:spPr>
        <p:txBody>
          <a:bodyPr wrap="square" lIns="25400" tIns="25400" rIns="25400" bIns="25400" rtlCol="0" anchor="t">
            <a:normAutofit lnSpcReduction="10000"/>
          </a:bodyPr>
          <a:lstStyle/>
          <a:p>
            <a:pPr marL="0" indent="0" algn="l">
              <a:lnSpc>
                <a:spcPct val="94531"/>
              </a:lnSpc>
              <a:buNone/>
            </a:pPr>
            <a:r>
              <a:rPr lang="en-US" sz="3300" b="1" dirty="0">
                <a:solidFill>
                  <a:srgbClr val="124B68"/>
                </a:solidFill>
                <a:latin typeface="Arial" pitchFamily="34" charset="0"/>
                <a:ea typeface="Arial" pitchFamily="34" charset="-122"/>
                <a:cs typeface="Arial" pitchFamily="34" charset="-120"/>
              </a:rPr>
              <a:t>Usable flexibility</a:t>
            </a:r>
            <a:endParaRPr lang="en-US" sz="3300" dirty="0"/>
          </a:p>
        </p:txBody>
      </p:sp>
      <p:sp>
        <p:nvSpPr>
          <p:cNvPr id="15" name="Text 13"/>
          <p:cNvSpPr/>
          <p:nvPr/>
        </p:nvSpPr>
        <p:spPr>
          <a:xfrm>
            <a:off x="1322070" y="4811498"/>
            <a:ext cx="3165806" cy="1885831"/>
          </a:xfrm>
          <a:prstGeom prst="rect">
            <a:avLst/>
          </a:prstGeom>
          <a:noFill/>
          <a:ln/>
        </p:spPr>
        <p:txBody>
          <a:bodyPr wrap="square" lIns="25400" tIns="25400" rIns="25400" bIns="25400" rtlCol="0" anchor="t">
            <a:normAutofit/>
          </a:bodyPr>
          <a:lstStyle/>
          <a:p>
            <a:pPr marL="0" indent="0" algn="l">
              <a:lnSpc>
                <a:spcPct val="120750"/>
              </a:lnSpc>
              <a:buNone/>
            </a:pPr>
            <a:r>
              <a:rPr lang="en-US" sz="2100" dirty="0">
                <a:solidFill>
                  <a:srgbClr val="17324D"/>
                </a:solidFill>
                <a:latin typeface="Arial" pitchFamily="34" charset="0"/>
                <a:ea typeface="Arial" pitchFamily="34" charset="-122"/>
                <a:cs typeface="Arial" pitchFamily="34" charset="-120"/>
              </a:rPr>
              <a:t>The process can absorb the movement for less than the market pays for it. Recommend </a:t>
            </a:r>
            <a:r>
              <a:rPr lang="en-US" sz="2100" b="1" dirty="0">
                <a:solidFill>
                  <a:srgbClr val="17324D"/>
                </a:solidFill>
                <a:latin typeface="Arial" pitchFamily="34" charset="0"/>
                <a:ea typeface="Arial" pitchFamily="34" charset="-122"/>
                <a:cs typeface="Arial" pitchFamily="34" charset="-120"/>
              </a:rPr>
              <a:t>SHIFT</a:t>
            </a:r>
            <a:r>
              <a:rPr lang="en-US" sz="2100" dirty="0">
                <a:solidFill>
                  <a:srgbClr val="17324D"/>
                </a:solidFill>
                <a:latin typeface="Arial" pitchFamily="34" charset="0"/>
                <a:ea typeface="Arial" pitchFamily="34" charset="-122"/>
                <a:cs typeface="Arial" pitchFamily="34" charset="-120"/>
              </a:rPr>
              <a:t>.</a:t>
            </a:r>
            <a:endParaRPr lang="en-US" sz="2100" dirty="0"/>
          </a:p>
        </p:txBody>
      </p:sp>
      <p:sp>
        <p:nvSpPr>
          <p:cNvPr id="16" name="Shape 14"/>
          <p:cNvSpPr/>
          <p:nvPr/>
        </p:nvSpPr>
        <p:spPr>
          <a:xfrm>
            <a:off x="4898589" y="3278505"/>
            <a:ext cx="3736658" cy="5455920"/>
          </a:xfrm>
          <a:prstGeom prst="roundRect">
            <a:avLst>
              <a:gd name="adj" fmla="val 3569"/>
            </a:avLst>
          </a:prstGeom>
          <a:solidFill>
            <a:srgbClr val="FFFFFF"/>
          </a:solidFill>
          <a:ln/>
          <a:effectLst>
            <a:outerShdw blurRad="28575" dist="9525" dir="5400000" algn="bl" rotWithShape="0">
              <a:srgbClr val="17324D">
                <a:alpha val="5000"/>
              </a:srgbClr>
            </a:outerShdw>
          </a:effectLst>
        </p:spPr>
      </p:sp>
      <p:sp>
        <p:nvSpPr>
          <p:cNvPr id="17" name="Shape 15"/>
          <p:cNvSpPr/>
          <p:nvPr/>
        </p:nvSpPr>
        <p:spPr>
          <a:xfrm>
            <a:off x="4898589" y="8726805"/>
            <a:ext cx="3736658" cy="9525"/>
          </a:xfrm>
          <a:prstGeom prst="rect">
            <a:avLst/>
          </a:prstGeom>
          <a:solidFill>
            <a:srgbClr val="DCE8ED"/>
          </a:solidFill>
          <a:ln/>
        </p:spPr>
      </p:sp>
      <p:sp>
        <p:nvSpPr>
          <p:cNvPr id="18" name="Shape 16"/>
          <p:cNvSpPr/>
          <p:nvPr/>
        </p:nvSpPr>
        <p:spPr>
          <a:xfrm>
            <a:off x="4898589" y="3278505"/>
            <a:ext cx="3736658" cy="45720"/>
          </a:xfrm>
          <a:prstGeom prst="rect">
            <a:avLst/>
          </a:prstGeom>
          <a:solidFill>
            <a:srgbClr val="E9A72C"/>
          </a:solidFill>
          <a:ln/>
        </p:spPr>
      </p:sp>
      <p:sp>
        <p:nvSpPr>
          <p:cNvPr id="19" name="Shape 17"/>
          <p:cNvSpPr/>
          <p:nvPr/>
        </p:nvSpPr>
        <p:spPr>
          <a:xfrm>
            <a:off x="4898589" y="3278505"/>
            <a:ext cx="9525" cy="5455920"/>
          </a:xfrm>
          <a:prstGeom prst="rect">
            <a:avLst/>
          </a:prstGeom>
          <a:solidFill>
            <a:srgbClr val="DCE8ED"/>
          </a:solidFill>
          <a:ln/>
        </p:spPr>
      </p:sp>
      <p:sp>
        <p:nvSpPr>
          <p:cNvPr id="20" name="Shape 18"/>
          <p:cNvSpPr/>
          <p:nvPr/>
        </p:nvSpPr>
        <p:spPr>
          <a:xfrm>
            <a:off x="8627626" y="3278505"/>
            <a:ext cx="9525" cy="5455920"/>
          </a:xfrm>
          <a:prstGeom prst="rect">
            <a:avLst/>
          </a:prstGeom>
          <a:solidFill>
            <a:srgbClr val="DCE8ED"/>
          </a:solidFill>
          <a:ln/>
        </p:spPr>
      </p:sp>
      <p:sp>
        <p:nvSpPr>
          <p:cNvPr id="21" name="Text 19"/>
          <p:cNvSpPr/>
          <p:nvPr/>
        </p:nvSpPr>
        <p:spPr>
          <a:xfrm>
            <a:off x="5230059" y="3674878"/>
            <a:ext cx="3381089"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95" dirty="0">
                <a:solidFill>
                  <a:srgbClr val="E9A72C"/>
                </a:solidFill>
                <a:latin typeface="Arial" pitchFamily="34" charset="0"/>
                <a:ea typeface="Arial" pitchFamily="34" charset="-122"/>
                <a:cs typeface="Arial" pitchFamily="34" charset="-120"/>
              </a:rPr>
              <a:t>HIGH COST</a:t>
            </a:r>
            <a:endParaRPr lang="en-US" sz="1950" dirty="0"/>
          </a:p>
        </p:txBody>
      </p:sp>
      <p:sp>
        <p:nvSpPr>
          <p:cNvPr id="22" name="Text 20"/>
          <p:cNvSpPr/>
          <p:nvPr/>
        </p:nvSpPr>
        <p:spPr>
          <a:xfrm>
            <a:off x="5230059" y="4071118"/>
            <a:ext cx="3165929" cy="960120"/>
          </a:xfrm>
          <a:prstGeom prst="rect">
            <a:avLst/>
          </a:prstGeom>
          <a:noFill/>
          <a:ln/>
        </p:spPr>
        <p:txBody>
          <a:bodyPr wrap="square" lIns="25400" tIns="25400" rIns="25400" bIns="25400" rtlCol="0" anchor="t">
            <a:normAutofit lnSpcReduction="10000"/>
          </a:bodyPr>
          <a:lstStyle/>
          <a:p>
            <a:pPr marL="0" indent="0" algn="l">
              <a:lnSpc>
                <a:spcPct val="94531"/>
              </a:lnSpc>
              <a:buNone/>
            </a:pPr>
            <a:r>
              <a:rPr lang="en-US" sz="3300" b="1" dirty="0">
                <a:solidFill>
                  <a:srgbClr val="124B68"/>
                </a:solidFill>
                <a:latin typeface="Arial" pitchFamily="34" charset="0"/>
                <a:ea typeface="Arial" pitchFamily="34" charset="-122"/>
                <a:cs typeface="Arial" pitchFamily="34" charset="-120"/>
              </a:rPr>
              <a:t>Probably uneconomic</a:t>
            </a:r>
            <a:endParaRPr lang="en-US" sz="3300" dirty="0"/>
          </a:p>
        </p:txBody>
      </p:sp>
      <p:sp>
        <p:nvSpPr>
          <p:cNvPr id="23" name="Text 21"/>
          <p:cNvSpPr/>
          <p:nvPr/>
        </p:nvSpPr>
        <p:spPr>
          <a:xfrm>
            <a:off x="5230059" y="5107438"/>
            <a:ext cx="3165929" cy="2253853"/>
          </a:xfrm>
          <a:prstGeom prst="rect">
            <a:avLst/>
          </a:prstGeom>
          <a:noFill/>
          <a:ln/>
        </p:spPr>
        <p:txBody>
          <a:bodyPr wrap="square" lIns="25400" tIns="25400" rIns="25400" bIns="25400" rtlCol="0" anchor="t">
            <a:normAutofit/>
          </a:bodyPr>
          <a:lstStyle/>
          <a:p>
            <a:pPr marL="0" indent="0" algn="l">
              <a:lnSpc>
                <a:spcPct val="120750"/>
              </a:lnSpc>
              <a:buNone/>
            </a:pPr>
            <a:r>
              <a:rPr lang="en-US" sz="2100" dirty="0">
                <a:solidFill>
                  <a:srgbClr val="17324D"/>
                </a:solidFill>
                <a:latin typeface="Arial" pitchFamily="34" charset="0"/>
                <a:ea typeface="Arial" pitchFamily="34" charset="-122"/>
                <a:cs typeface="Arial" pitchFamily="34" charset="-120"/>
              </a:rPr>
              <a:t>Membrane wear, diverted product and reactive-power penalties eat the spread. Recommend </a:t>
            </a:r>
            <a:r>
              <a:rPr lang="en-US" sz="2100" b="1" dirty="0">
                <a:solidFill>
                  <a:srgbClr val="17324D"/>
                </a:solidFill>
                <a:latin typeface="Arial" pitchFamily="34" charset="0"/>
                <a:ea typeface="Arial" pitchFamily="34" charset="-122"/>
                <a:cs typeface="Arial" pitchFamily="34" charset="-120"/>
              </a:rPr>
              <a:t>HOLD</a:t>
            </a:r>
            <a:r>
              <a:rPr lang="en-US" sz="2100" dirty="0">
                <a:solidFill>
                  <a:srgbClr val="17324D"/>
                </a:solidFill>
                <a:latin typeface="Arial" pitchFamily="34" charset="0"/>
                <a:ea typeface="Arial" pitchFamily="34" charset="-122"/>
                <a:cs typeface="Arial" pitchFamily="34" charset="-120"/>
              </a:rPr>
              <a:t>.</a:t>
            </a:r>
            <a:endParaRPr lang="en-US" sz="2100" dirty="0"/>
          </a:p>
        </p:txBody>
      </p:sp>
      <p:sp>
        <p:nvSpPr>
          <p:cNvPr id="24" name="Shape 22"/>
          <p:cNvSpPr/>
          <p:nvPr/>
        </p:nvSpPr>
        <p:spPr>
          <a:xfrm>
            <a:off x="8806696" y="3278505"/>
            <a:ext cx="3736658" cy="5455920"/>
          </a:xfrm>
          <a:prstGeom prst="roundRect">
            <a:avLst>
              <a:gd name="adj" fmla="val 3569"/>
            </a:avLst>
          </a:prstGeom>
          <a:solidFill>
            <a:srgbClr val="FFFFFF"/>
          </a:solidFill>
          <a:ln/>
          <a:effectLst>
            <a:outerShdw blurRad="28575" dist="9525" dir="5400000" algn="bl" rotWithShape="0">
              <a:srgbClr val="17324D">
                <a:alpha val="5000"/>
              </a:srgbClr>
            </a:outerShdw>
          </a:effectLst>
        </p:spPr>
      </p:sp>
      <p:sp>
        <p:nvSpPr>
          <p:cNvPr id="25" name="Shape 23"/>
          <p:cNvSpPr/>
          <p:nvPr/>
        </p:nvSpPr>
        <p:spPr>
          <a:xfrm>
            <a:off x="8806696" y="8726805"/>
            <a:ext cx="3736658" cy="9525"/>
          </a:xfrm>
          <a:prstGeom prst="rect">
            <a:avLst/>
          </a:prstGeom>
          <a:solidFill>
            <a:srgbClr val="DCE8ED"/>
          </a:solidFill>
          <a:ln/>
        </p:spPr>
      </p:sp>
      <p:sp>
        <p:nvSpPr>
          <p:cNvPr id="26" name="Shape 24"/>
          <p:cNvSpPr/>
          <p:nvPr/>
        </p:nvSpPr>
        <p:spPr>
          <a:xfrm>
            <a:off x="8806696" y="3278505"/>
            <a:ext cx="3736658" cy="45720"/>
          </a:xfrm>
          <a:prstGeom prst="rect">
            <a:avLst/>
          </a:prstGeom>
          <a:solidFill>
            <a:srgbClr val="D95C5C"/>
          </a:solidFill>
          <a:ln/>
        </p:spPr>
      </p:sp>
      <p:sp>
        <p:nvSpPr>
          <p:cNvPr id="27" name="Shape 25"/>
          <p:cNvSpPr/>
          <p:nvPr/>
        </p:nvSpPr>
        <p:spPr>
          <a:xfrm>
            <a:off x="8806696" y="3278505"/>
            <a:ext cx="9525" cy="5455920"/>
          </a:xfrm>
          <a:prstGeom prst="rect">
            <a:avLst/>
          </a:prstGeom>
          <a:solidFill>
            <a:srgbClr val="DCE8ED"/>
          </a:solidFill>
          <a:ln/>
        </p:spPr>
      </p:sp>
      <p:sp>
        <p:nvSpPr>
          <p:cNvPr id="28" name="Shape 26"/>
          <p:cNvSpPr/>
          <p:nvPr/>
        </p:nvSpPr>
        <p:spPr>
          <a:xfrm>
            <a:off x="12535734" y="3278505"/>
            <a:ext cx="9525" cy="5455920"/>
          </a:xfrm>
          <a:prstGeom prst="rect">
            <a:avLst/>
          </a:prstGeom>
          <a:solidFill>
            <a:srgbClr val="DCE8ED"/>
          </a:solidFill>
          <a:ln/>
        </p:spPr>
      </p:sp>
      <p:sp>
        <p:nvSpPr>
          <p:cNvPr id="29" name="Text 27"/>
          <p:cNvSpPr/>
          <p:nvPr/>
        </p:nvSpPr>
        <p:spPr>
          <a:xfrm>
            <a:off x="9138166" y="3671271"/>
            <a:ext cx="3165929" cy="601980"/>
          </a:xfrm>
          <a:prstGeom prst="rect">
            <a:avLst/>
          </a:prstGeom>
          <a:noFill/>
          <a:ln/>
        </p:spPr>
        <p:txBody>
          <a:bodyPr wrap="square" lIns="25400" tIns="25400" rIns="25400" bIns="25400" rtlCol="0" anchor="t">
            <a:normAutofit lnSpcReduction="10000"/>
          </a:bodyPr>
          <a:lstStyle/>
          <a:p>
            <a:pPr marL="0" indent="0" algn="l">
              <a:buNone/>
            </a:pPr>
            <a:r>
              <a:rPr lang="en-US" sz="1950" b="1" kern="0" spc="195" dirty="0">
                <a:solidFill>
                  <a:srgbClr val="D95C5C"/>
                </a:solidFill>
                <a:latin typeface="Arial" pitchFamily="34" charset="0"/>
                <a:ea typeface="Arial" pitchFamily="34" charset="-122"/>
                <a:cs typeface="Arial" pitchFamily="34" charset="-120"/>
              </a:rPr>
              <a:t>INFINITE · UNAVAILABLE</a:t>
            </a:r>
            <a:endParaRPr lang="en-US" sz="1950" dirty="0"/>
          </a:p>
        </p:txBody>
      </p:sp>
      <p:sp>
        <p:nvSpPr>
          <p:cNvPr id="30" name="Text 28"/>
          <p:cNvSpPr/>
          <p:nvPr/>
        </p:nvSpPr>
        <p:spPr>
          <a:xfrm>
            <a:off x="9138166" y="4349451"/>
            <a:ext cx="3381089" cy="499110"/>
          </a:xfrm>
          <a:prstGeom prst="rect">
            <a:avLst/>
          </a:prstGeom>
          <a:noFill/>
          <a:ln/>
        </p:spPr>
        <p:txBody>
          <a:bodyPr wrap="square" lIns="25400" tIns="25400" rIns="25400" bIns="25400" rtlCol="0" anchor="t">
            <a:normAutofit lnSpcReduction="10000"/>
          </a:bodyPr>
          <a:lstStyle/>
          <a:p>
            <a:pPr marL="0" indent="0" algn="l">
              <a:lnSpc>
                <a:spcPct val="94531"/>
              </a:lnSpc>
              <a:buNone/>
            </a:pPr>
            <a:r>
              <a:rPr lang="en-US" sz="3300" b="1" dirty="0">
                <a:solidFill>
                  <a:srgbClr val="124B68"/>
                </a:solidFill>
                <a:latin typeface="Arial" pitchFamily="34" charset="0"/>
                <a:ea typeface="Arial" pitchFamily="34" charset="-122"/>
                <a:cs typeface="Arial" pitchFamily="34" charset="-120"/>
              </a:rPr>
              <a:t>Do not touch</a:t>
            </a:r>
            <a:endParaRPr lang="en-US" sz="3300" dirty="0"/>
          </a:p>
        </p:txBody>
      </p:sp>
      <p:sp>
        <p:nvSpPr>
          <p:cNvPr id="31" name="Text 29"/>
          <p:cNvSpPr/>
          <p:nvPr/>
        </p:nvSpPr>
        <p:spPr>
          <a:xfrm>
            <a:off x="9138166" y="4924761"/>
            <a:ext cx="3165929" cy="1885831"/>
          </a:xfrm>
          <a:prstGeom prst="rect">
            <a:avLst/>
          </a:prstGeom>
          <a:noFill/>
          <a:ln/>
        </p:spPr>
        <p:txBody>
          <a:bodyPr wrap="square" lIns="25400" tIns="25400" rIns="25400" bIns="25400" rtlCol="0" anchor="t">
            <a:normAutofit lnSpcReduction="10000"/>
          </a:bodyPr>
          <a:lstStyle/>
          <a:p>
            <a:pPr marL="0" indent="0" algn="l">
              <a:lnSpc>
                <a:spcPct val="120750"/>
              </a:lnSpc>
              <a:buNone/>
            </a:pPr>
            <a:r>
              <a:rPr lang="en-US" sz="2100" dirty="0">
                <a:solidFill>
                  <a:srgbClr val="17324D"/>
                </a:solidFill>
                <a:latin typeface="Arial" pitchFamily="34" charset="0"/>
                <a:ea typeface="Arial" pitchFamily="34" charset="-122"/>
                <a:cs typeface="Arial" pitchFamily="34" charset="-120"/>
              </a:rPr>
              <a:t>The flexibility does not exist at that depth or duration. φ returns infinity rather than a number. </a:t>
            </a:r>
            <a:r>
              <a:rPr lang="en-US" sz="2100" b="1" dirty="0">
                <a:solidFill>
                  <a:srgbClr val="17324D"/>
                </a:solidFill>
                <a:latin typeface="Arial" pitchFamily="34" charset="0"/>
                <a:ea typeface="Arial" pitchFamily="34" charset="-122"/>
                <a:cs typeface="Arial" pitchFamily="34" charset="-120"/>
              </a:rPr>
              <a:t>DO NOTHING</a:t>
            </a:r>
            <a:r>
              <a:rPr lang="en-US" sz="2100" dirty="0">
                <a:solidFill>
                  <a:srgbClr val="17324D"/>
                </a:solidFill>
                <a:latin typeface="Arial" pitchFamily="34" charset="0"/>
                <a:ea typeface="Arial" pitchFamily="34" charset="-122"/>
                <a:cs typeface="Arial" pitchFamily="34" charset="-120"/>
              </a:rPr>
              <a:t>.</a:t>
            </a:r>
            <a:endParaRPr lang="en-US" sz="2100" dirty="0"/>
          </a:p>
        </p:txBody>
      </p:sp>
      <p:sp>
        <p:nvSpPr>
          <p:cNvPr id="32" name="Shape 30"/>
          <p:cNvSpPr/>
          <p:nvPr/>
        </p:nvSpPr>
        <p:spPr>
          <a:xfrm>
            <a:off x="12714804" y="3278505"/>
            <a:ext cx="4582597" cy="5455920"/>
          </a:xfrm>
          <a:prstGeom prst="roundRect">
            <a:avLst>
              <a:gd name="adj" fmla="val 2910"/>
            </a:avLst>
          </a:prstGeom>
          <a:solidFill>
            <a:srgbClr val="EAF5FB"/>
          </a:solidFill>
          <a:ln w="7620">
            <a:solidFill>
              <a:srgbClr val="C7E2F1"/>
            </a:solidFill>
            <a:prstDash val="solid"/>
          </a:ln>
        </p:spPr>
      </p:sp>
      <p:sp>
        <p:nvSpPr>
          <p:cNvPr id="33" name="Text 31"/>
          <p:cNvSpPr/>
          <p:nvPr/>
        </p:nvSpPr>
        <p:spPr>
          <a:xfrm>
            <a:off x="13008173" y="3533775"/>
            <a:ext cx="4115732" cy="601980"/>
          </a:xfrm>
          <a:prstGeom prst="rect">
            <a:avLst/>
          </a:prstGeom>
          <a:noFill/>
          <a:ln/>
        </p:spPr>
        <p:txBody>
          <a:bodyPr wrap="square" lIns="25400" tIns="25400" rIns="25400" bIns="25400" rtlCol="0" anchor="t">
            <a:normAutofit lnSpcReduction="10000"/>
          </a:bodyPr>
          <a:lstStyle/>
          <a:p>
            <a:pPr marL="0" indent="0" algn="l">
              <a:buNone/>
            </a:pPr>
            <a:r>
              <a:rPr lang="en-US" sz="1950" b="1" kern="0" spc="195" dirty="0">
                <a:solidFill>
                  <a:srgbClr val="1597D4"/>
                </a:solidFill>
                <a:latin typeface="Arial" pitchFamily="34" charset="0"/>
                <a:ea typeface="Arial" pitchFamily="34" charset="-122"/>
                <a:cs typeface="Arial" pitchFamily="34" charset="-120"/>
              </a:rPr>
              <a:t>WHERE THE VIRTUAL BATTERY FITS</a:t>
            </a:r>
            <a:endParaRPr lang="en-US" sz="1950" dirty="0"/>
          </a:p>
        </p:txBody>
      </p:sp>
      <p:sp>
        <p:nvSpPr>
          <p:cNvPr id="34" name="Shape 32"/>
          <p:cNvSpPr/>
          <p:nvPr/>
        </p:nvSpPr>
        <p:spPr>
          <a:xfrm>
            <a:off x="13008173" y="4379833"/>
            <a:ext cx="1749504" cy="839152"/>
          </a:xfrm>
          <a:prstGeom prst="roundRect">
            <a:avLst>
              <a:gd name="adj" fmla="val 9081"/>
            </a:avLst>
          </a:prstGeom>
          <a:solidFill>
            <a:srgbClr val="FFFFFF"/>
          </a:solidFill>
          <a:ln w="7620">
            <a:solidFill>
              <a:srgbClr val="C7E2F1"/>
            </a:solidFill>
            <a:prstDash val="solid"/>
          </a:ln>
        </p:spPr>
      </p:sp>
      <p:sp>
        <p:nvSpPr>
          <p:cNvPr id="35" name="Text 33"/>
          <p:cNvSpPr/>
          <p:nvPr/>
        </p:nvSpPr>
        <p:spPr>
          <a:xfrm>
            <a:off x="13149143" y="4487898"/>
            <a:ext cx="1543764" cy="633412"/>
          </a:xfrm>
          <a:prstGeom prst="rect">
            <a:avLst/>
          </a:prstGeom>
          <a:noFill/>
          <a:ln/>
        </p:spPr>
        <p:txBody>
          <a:bodyPr wrap="square" lIns="25400" tIns="25400" rIns="25400" bIns="25400" rtlCol="0" anchor="t">
            <a:normAutofit fontScale="92500"/>
          </a:bodyPr>
          <a:lstStyle/>
          <a:p>
            <a:pPr marL="0" indent="0" algn="l">
              <a:lnSpc>
                <a:spcPct val="108507"/>
              </a:lnSpc>
              <a:buNone/>
            </a:pPr>
            <a:r>
              <a:rPr lang="en-US" sz="1875" b="1" dirty="0">
                <a:solidFill>
                  <a:srgbClr val="124B68"/>
                </a:solidFill>
                <a:latin typeface="Arial" pitchFamily="34" charset="0"/>
                <a:ea typeface="Arial" pitchFamily="34" charset="-122"/>
                <a:cs typeface="Arial" pitchFamily="34" charset="-120"/>
              </a:rPr>
              <a:t>Quantify safe flexibility</a:t>
            </a:r>
            <a:endParaRPr lang="en-US" sz="1875" dirty="0"/>
          </a:p>
        </p:txBody>
      </p:sp>
      <p:sp>
        <p:nvSpPr>
          <p:cNvPr id="36" name="Text 34"/>
          <p:cNvSpPr/>
          <p:nvPr/>
        </p:nvSpPr>
        <p:spPr>
          <a:xfrm>
            <a:off x="14891028" y="4620339"/>
            <a:ext cx="306348" cy="396240"/>
          </a:xfrm>
          <a:prstGeom prst="rect">
            <a:avLst/>
          </a:prstGeom>
          <a:noFill/>
          <a:ln/>
        </p:spPr>
        <p:txBody>
          <a:bodyPr wrap="square" lIns="25400" tIns="25400" rIns="25400" bIns="25400" rtlCol="0" anchor="t">
            <a:normAutofit/>
          </a:bodyPr>
          <a:lstStyle/>
          <a:p>
            <a:pPr marL="0" indent="0" algn="l">
              <a:buNone/>
            </a:pPr>
            <a:r>
              <a:rPr lang="en-US" sz="2100" dirty="0">
                <a:solidFill>
                  <a:srgbClr val="38BDF2"/>
                </a:solidFill>
                <a:latin typeface="Arial" pitchFamily="34" charset="0"/>
                <a:ea typeface="Arial" pitchFamily="34" charset="-122"/>
                <a:cs typeface="Arial" pitchFamily="34" charset="-120"/>
              </a:rPr>
              <a:t>→</a:t>
            </a:r>
            <a:endParaRPr lang="en-US" sz="2100" dirty="0"/>
          </a:p>
        </p:txBody>
      </p:sp>
      <p:sp>
        <p:nvSpPr>
          <p:cNvPr id="37" name="Shape 35"/>
          <p:cNvSpPr/>
          <p:nvPr/>
        </p:nvSpPr>
        <p:spPr>
          <a:xfrm>
            <a:off x="15254526" y="4231005"/>
            <a:ext cx="1749504" cy="1136809"/>
          </a:xfrm>
          <a:prstGeom prst="roundRect">
            <a:avLst>
              <a:gd name="adj" fmla="val 6703"/>
            </a:avLst>
          </a:prstGeom>
          <a:solidFill>
            <a:srgbClr val="FFFFFF"/>
          </a:solidFill>
          <a:ln w="7620">
            <a:solidFill>
              <a:srgbClr val="C7E2F1"/>
            </a:solidFill>
            <a:prstDash val="solid"/>
          </a:ln>
        </p:spPr>
      </p:sp>
      <p:sp>
        <p:nvSpPr>
          <p:cNvPr id="38" name="Text 36"/>
          <p:cNvSpPr/>
          <p:nvPr/>
        </p:nvSpPr>
        <p:spPr>
          <a:xfrm>
            <a:off x="15395496" y="4352925"/>
            <a:ext cx="1543764" cy="931069"/>
          </a:xfrm>
          <a:prstGeom prst="rect">
            <a:avLst/>
          </a:prstGeom>
          <a:noFill/>
          <a:ln/>
        </p:spPr>
        <p:txBody>
          <a:bodyPr wrap="square" lIns="25400" tIns="25400" rIns="25400" bIns="25400" rtlCol="0" anchor="t">
            <a:normAutofit lnSpcReduction="10000"/>
          </a:bodyPr>
          <a:lstStyle/>
          <a:p>
            <a:pPr marL="0" indent="0" algn="l">
              <a:lnSpc>
                <a:spcPct val="108507"/>
              </a:lnSpc>
              <a:buNone/>
            </a:pPr>
            <a:r>
              <a:rPr lang="en-US" sz="1875" b="1" dirty="0">
                <a:solidFill>
                  <a:srgbClr val="124B68"/>
                </a:solidFill>
                <a:latin typeface="Arial" pitchFamily="34" charset="0"/>
                <a:ea typeface="Arial" pitchFamily="34" charset="-122"/>
                <a:cs typeface="Arial" pitchFamily="34" charset="-120"/>
              </a:rPr>
              <a:t>Represent as power × duration</a:t>
            </a:r>
            <a:endParaRPr lang="en-US" sz="1875" dirty="0"/>
          </a:p>
        </p:txBody>
      </p:sp>
      <p:sp>
        <p:nvSpPr>
          <p:cNvPr id="39" name="Text 37"/>
          <p:cNvSpPr/>
          <p:nvPr/>
        </p:nvSpPr>
        <p:spPr>
          <a:xfrm>
            <a:off x="13008173" y="5501164"/>
            <a:ext cx="4115732" cy="2393633"/>
          </a:xfrm>
          <a:prstGeom prst="rect">
            <a:avLst/>
          </a:prstGeom>
          <a:noFill/>
          <a:ln/>
        </p:spPr>
        <p:txBody>
          <a:bodyPr wrap="square" lIns="25400" tIns="25400" rIns="25400" bIns="25400" rtlCol="0" anchor="t">
            <a:normAutofit/>
          </a:bodyPr>
          <a:lstStyle/>
          <a:p>
            <a:pPr marL="0" indent="0" algn="l">
              <a:lnSpc>
                <a:spcPct val="118581"/>
              </a:lnSpc>
              <a:buNone/>
            </a:pPr>
            <a:r>
              <a:rPr lang="en-US" sz="1950" dirty="0">
                <a:solidFill>
                  <a:srgbClr val="17324D"/>
                </a:solidFill>
                <a:latin typeface="Arial" pitchFamily="34" charset="0"/>
                <a:ea typeface="Arial" pitchFamily="34" charset="-122"/>
                <a:cs typeface="Arial" pitchFamily="34" charset="-120"/>
              </a:rPr>
              <a:t>The virtual battery is a </a:t>
            </a:r>
            <a:r>
              <a:rPr lang="en-US" sz="1950" b="1" dirty="0">
                <a:solidFill>
                  <a:srgbClr val="124B68"/>
                </a:solidFill>
                <a:latin typeface="Arial" pitchFamily="34" charset="0"/>
                <a:ea typeface="Arial" pitchFamily="34" charset="-122"/>
                <a:cs typeface="Arial" pitchFamily="34" charset="-120"/>
              </a:rPr>
              <a:t>representation of measured flexibility</a:t>
            </a:r>
            <a:r>
              <a:rPr lang="en-US" sz="1950" dirty="0">
                <a:solidFill>
                  <a:srgbClr val="17324D"/>
                </a:solidFill>
                <a:latin typeface="Arial" pitchFamily="34" charset="0"/>
                <a:ea typeface="Arial" pitchFamily="34" charset="-122"/>
                <a:cs typeface="Arial" pitchFamily="34" charset="-120"/>
              </a:rPr>
              <a:t> never the purpose of the plant. We do not assume a process is a battery; we find what it can spare, then describe it in grid units.</a:t>
            </a:r>
            <a:endParaRPr lang="en-US" sz="1950" dirty="0"/>
          </a:p>
        </p:txBody>
      </p:sp>
      <p:sp>
        <p:nvSpPr>
          <p:cNvPr id="40" name="Shape 38"/>
          <p:cNvSpPr/>
          <p:nvPr/>
        </p:nvSpPr>
        <p:spPr>
          <a:xfrm>
            <a:off x="990600" y="8982075"/>
            <a:ext cx="16306800" cy="9525"/>
          </a:xfrm>
          <a:prstGeom prst="rect">
            <a:avLst/>
          </a:prstGeom>
          <a:solidFill>
            <a:srgbClr val="DCE8ED"/>
          </a:solidFill>
          <a:ln/>
        </p:spPr>
      </p:sp>
      <p:sp>
        <p:nvSpPr>
          <p:cNvPr id="41" name="Text 39"/>
          <p:cNvSpPr/>
          <p:nvPr/>
        </p:nvSpPr>
        <p:spPr>
          <a:xfrm>
            <a:off x="990600" y="9180195"/>
            <a:ext cx="16796004" cy="459105"/>
          </a:xfrm>
          <a:prstGeom prst="rect">
            <a:avLst/>
          </a:prstGeom>
          <a:noFill/>
          <a:ln/>
        </p:spPr>
        <p:txBody>
          <a:bodyPr wrap="square" lIns="25400" tIns="25400" rIns="25400" bIns="25400" rtlCol="0" anchor="t">
            <a:normAutofit lnSpcReduction="10000"/>
          </a:bodyPr>
          <a:lstStyle/>
          <a:p>
            <a:pPr marL="0" indent="0" algn="l">
              <a:lnSpc>
                <a:spcPct val="115104"/>
              </a:lnSpc>
              <a:buNone/>
            </a:pPr>
            <a:r>
              <a:rPr lang="en-US" sz="2550" b="1" dirty="0">
                <a:solidFill>
                  <a:srgbClr val="124B68"/>
                </a:solidFill>
                <a:latin typeface="Arial" pitchFamily="34" charset="0"/>
                <a:ea typeface="Arial" pitchFamily="34" charset="-122"/>
                <a:cs typeface="Arial" pitchFamily="34" charset="-120"/>
              </a:rPr>
              <a:t>PRANA does not ask “how much load can we shed?” It asks “how much flexibility can we safely afford?”</a:t>
            </a:r>
            <a:endParaRPr lang="en-US" sz="2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1348978" cy="3200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1" i="0" u="none" strike="noStrike" kern="0" cap="none" spc="273" normalizeH="0" baseline="0" noProof="0" dirty="0">
                <a:ln>
                  <a:noFill/>
                </a:ln>
                <a:solidFill>
                  <a:srgbClr val="6B7C89"/>
                </a:solidFill>
                <a:effectLst/>
                <a:uLnTx/>
                <a:uFillTx/>
                <a:latin typeface="Arial" pitchFamily="34" charset="0"/>
                <a:ea typeface="Arial" pitchFamily="34" charset="-122"/>
                <a:cs typeface="Arial" pitchFamily="34" charset="-120"/>
              </a:rPr>
              <a:t>SYSTEM</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1" i="0" u="none" strike="noStrike" kern="0" cap="none" spc="273" normalizeH="0" baseline="0" noProof="0" dirty="0">
                <a:ln>
                  <a:noFill/>
                </a:ln>
                <a:solidFill>
                  <a:srgbClr val="6B7C89"/>
                </a:solidFill>
                <a:effectLst/>
                <a:uLnTx/>
                <a:uFillTx/>
                <a:latin typeface="Arial" pitchFamily="34" charset="0"/>
                <a:ea typeface="Arial" pitchFamily="34" charset="-122"/>
                <a:cs typeface="Arial" pitchFamily="34" charset="-120"/>
              </a:rPr>
              <a:t>07 / 10</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984975" cy="64389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92442"/>
              </a:lnSpc>
              <a:spcBef>
                <a:spcPts val="0"/>
              </a:spcBef>
              <a:spcAft>
                <a:spcPts val="0"/>
              </a:spcAft>
              <a:buClrTx/>
              <a:buSzTx/>
              <a:buFontTx/>
              <a:buNone/>
              <a:tabLst/>
              <a:defRPr/>
            </a:pPr>
            <a:r>
              <a:rPr kumimoji="0" lang="en-US" sz="4500" b="1" i="0" u="none" strike="noStrike" kern="0" cap="none" spc="-112" normalizeH="0" baseline="0" noProof="0" dirty="0">
                <a:ln>
                  <a:noFill/>
                </a:ln>
                <a:solidFill>
                  <a:srgbClr val="124B68"/>
                </a:solidFill>
                <a:effectLst/>
                <a:uLnTx/>
                <a:uFillTx/>
                <a:latin typeface="Arial" pitchFamily="34" charset="0"/>
                <a:ea typeface="Arial" pitchFamily="34" charset="-122"/>
                <a:cs typeface="Arial" pitchFamily="34" charset="-120"/>
              </a:rPr>
              <a:t>Data to setpoint, in five stages that already run</a:t>
            </a:r>
            <a:endParaRPr kumimoji="0" lang="en-US" sz="4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990600" y="2516505"/>
            <a:ext cx="2824401" cy="5880735"/>
          </a:xfrm>
          <a:prstGeom prst="roundRect">
            <a:avLst>
              <a:gd name="adj" fmla="val 4721"/>
            </a:avLst>
          </a:prstGeom>
          <a:solidFill>
            <a:srgbClr val="FFFFFF"/>
          </a:solidFill>
          <a:ln/>
          <a:effectLst>
            <a:outerShdw blurRad="28575" dist="9525" dir="5400000" algn="bl" rotWithShape="0">
              <a:srgbClr val="17324D">
                <a:alpha val="5000"/>
              </a:srgbClr>
            </a:outerShdw>
          </a:effectLst>
        </p:spPr>
      </p:sp>
      <p:sp>
        <p:nvSpPr>
          <p:cNvPr id="7" name="Shape 5"/>
          <p:cNvSpPr/>
          <p:nvPr/>
        </p:nvSpPr>
        <p:spPr>
          <a:xfrm>
            <a:off x="990600" y="8389620"/>
            <a:ext cx="2824401" cy="9525"/>
          </a:xfrm>
          <a:prstGeom prst="rect">
            <a:avLst/>
          </a:prstGeom>
          <a:solidFill>
            <a:srgbClr val="DCE8ED"/>
          </a:solidFill>
          <a:ln/>
        </p:spPr>
      </p:sp>
      <p:sp>
        <p:nvSpPr>
          <p:cNvPr id="8" name="Shape 6"/>
          <p:cNvSpPr/>
          <p:nvPr/>
        </p:nvSpPr>
        <p:spPr>
          <a:xfrm>
            <a:off x="990600" y="2516505"/>
            <a:ext cx="2824401" cy="38100"/>
          </a:xfrm>
          <a:prstGeom prst="rect">
            <a:avLst/>
          </a:prstGeom>
          <a:solidFill>
            <a:srgbClr val="1597D4"/>
          </a:solidFill>
          <a:ln/>
        </p:spPr>
      </p:sp>
      <p:sp>
        <p:nvSpPr>
          <p:cNvPr id="9" name="Shape 7"/>
          <p:cNvSpPr/>
          <p:nvPr/>
        </p:nvSpPr>
        <p:spPr>
          <a:xfrm>
            <a:off x="990600" y="2516505"/>
            <a:ext cx="9525" cy="5880735"/>
          </a:xfrm>
          <a:prstGeom prst="rect">
            <a:avLst/>
          </a:prstGeom>
          <a:solidFill>
            <a:srgbClr val="DCE8ED"/>
          </a:solidFill>
          <a:ln/>
        </p:spPr>
      </p:sp>
      <p:sp>
        <p:nvSpPr>
          <p:cNvPr id="10" name="Shape 8"/>
          <p:cNvSpPr/>
          <p:nvPr/>
        </p:nvSpPr>
        <p:spPr>
          <a:xfrm>
            <a:off x="3807381" y="2516505"/>
            <a:ext cx="9525" cy="5880735"/>
          </a:xfrm>
          <a:prstGeom prst="rect">
            <a:avLst/>
          </a:prstGeom>
          <a:solidFill>
            <a:srgbClr val="DCE8ED"/>
          </a:solidFill>
          <a:ln/>
        </p:spPr>
      </p:sp>
      <p:sp>
        <p:nvSpPr>
          <p:cNvPr id="11" name="Text 9"/>
          <p:cNvSpPr/>
          <p:nvPr/>
        </p:nvSpPr>
        <p:spPr>
          <a:xfrm>
            <a:off x="1245870" y="2821305"/>
            <a:ext cx="2545247" cy="31242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75" b="1" i="0" u="none" strike="noStrike" kern="0" cap="none" spc="188" normalizeH="0" baseline="0" noProof="0" dirty="0">
                <a:ln>
                  <a:noFill/>
                </a:ln>
                <a:solidFill>
                  <a:srgbClr val="1597D4"/>
                </a:solidFill>
                <a:effectLst/>
                <a:uLnTx/>
                <a:uFillTx/>
                <a:latin typeface="Arial" pitchFamily="34" charset="0"/>
                <a:ea typeface="Arial" pitchFamily="34" charset="-122"/>
                <a:cs typeface="Arial" pitchFamily="34" charset="-120"/>
              </a:rPr>
              <a:t>01 · DATA</a:t>
            </a:r>
            <a:endParaRPr kumimoji="0" lang="en-US" sz="18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245870" y="3228975"/>
            <a:ext cx="2390061" cy="74676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5682"/>
              </a:lnSpc>
              <a:spcBef>
                <a:spcPts val="0"/>
              </a:spcBef>
              <a:spcAft>
                <a:spcPts val="0"/>
              </a:spcAft>
              <a:buClrTx/>
              <a:buSzTx/>
              <a:buFontTx/>
              <a:buNone/>
              <a:tabLst/>
              <a:defRPr/>
            </a:pPr>
            <a:r>
              <a:rPr kumimoji="0" lang="en-US" sz="2325" b="1" i="0" u="none" strike="noStrike" kern="1200" cap="none" spc="0" normalizeH="0" baseline="0" noProof="0" dirty="0">
                <a:ln>
                  <a:noFill/>
                </a:ln>
                <a:solidFill>
                  <a:srgbClr val="124B68"/>
                </a:solidFill>
                <a:effectLst/>
                <a:uLnTx/>
                <a:uFillTx/>
                <a:latin typeface="Arial" pitchFamily="34" charset="0"/>
                <a:ea typeface="Arial" pitchFamily="34" charset="-122"/>
                <a:cs typeface="Arial" pitchFamily="34" charset="-120"/>
              </a:rPr>
              <a:t>Settled market panel</a:t>
            </a:r>
            <a:endParaRPr kumimoji="0" lang="en-US" sz="23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245870" y="4070985"/>
            <a:ext cx="2390061" cy="2088356"/>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21216"/>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17324D"/>
                </a:solidFill>
                <a:effectLst/>
                <a:uLnTx/>
                <a:uFillTx/>
                <a:latin typeface="Arial" pitchFamily="34" charset="0"/>
                <a:ea typeface="Arial" pitchFamily="34" charset="-122"/>
                <a:cs typeface="Arial" pitchFamily="34" charset="-120"/>
              </a:rPr>
              <a:t>152,542 IEX blocks, 1,588 complete days. MERC Case 75 of 2025, post-remand, read from the primary order.</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948351" y="5239703"/>
            <a:ext cx="355640" cy="4724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50" b="0" i="0" u="none" strike="noStrike" kern="1200" cap="none" spc="0" normalizeH="0" baseline="0" noProof="0" dirty="0">
                <a:ln>
                  <a:noFill/>
                </a:ln>
                <a:solidFill>
                  <a:srgbClr val="38BDF2"/>
                </a:solidFill>
                <a:effectLst/>
                <a:uLnTx/>
                <a:uFillTx/>
                <a:latin typeface="Arial" pitchFamily="34" charset="0"/>
                <a:ea typeface="Arial" pitchFamily="34" charset="-122"/>
                <a:cs typeface="Arial" pitchFamily="34" charset="-120"/>
              </a:rPr>
              <a:t>→</a:t>
            </a:r>
            <a:endParaRPr kumimoji="0" lang="en-US" sz="2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361140" y="2516505"/>
            <a:ext cx="2824520" cy="5880735"/>
          </a:xfrm>
          <a:prstGeom prst="roundRect">
            <a:avLst>
              <a:gd name="adj" fmla="val 4721"/>
            </a:avLst>
          </a:prstGeom>
          <a:solidFill>
            <a:srgbClr val="FFFFFF"/>
          </a:solidFill>
          <a:ln/>
          <a:effectLst>
            <a:outerShdw blurRad="28575" dist="9525" dir="5400000" algn="bl" rotWithShape="0">
              <a:srgbClr val="17324D">
                <a:alpha val="5000"/>
              </a:srgbClr>
            </a:outerShdw>
          </a:effectLst>
        </p:spPr>
      </p:sp>
      <p:sp>
        <p:nvSpPr>
          <p:cNvPr id="16" name="Shape 14"/>
          <p:cNvSpPr/>
          <p:nvPr/>
        </p:nvSpPr>
        <p:spPr>
          <a:xfrm>
            <a:off x="4361140" y="8389620"/>
            <a:ext cx="2824520" cy="9525"/>
          </a:xfrm>
          <a:prstGeom prst="rect">
            <a:avLst/>
          </a:prstGeom>
          <a:solidFill>
            <a:srgbClr val="DCE8ED"/>
          </a:solidFill>
          <a:ln/>
        </p:spPr>
      </p:sp>
      <p:sp>
        <p:nvSpPr>
          <p:cNvPr id="17" name="Shape 15"/>
          <p:cNvSpPr/>
          <p:nvPr/>
        </p:nvSpPr>
        <p:spPr>
          <a:xfrm>
            <a:off x="4361140" y="2516505"/>
            <a:ext cx="2824520" cy="38100"/>
          </a:xfrm>
          <a:prstGeom prst="rect">
            <a:avLst/>
          </a:prstGeom>
          <a:solidFill>
            <a:srgbClr val="1597D4"/>
          </a:solidFill>
          <a:ln/>
        </p:spPr>
      </p:sp>
      <p:sp>
        <p:nvSpPr>
          <p:cNvPr id="18" name="Shape 16"/>
          <p:cNvSpPr/>
          <p:nvPr/>
        </p:nvSpPr>
        <p:spPr>
          <a:xfrm>
            <a:off x="4361140" y="2516505"/>
            <a:ext cx="9525" cy="5880735"/>
          </a:xfrm>
          <a:prstGeom prst="rect">
            <a:avLst/>
          </a:prstGeom>
          <a:solidFill>
            <a:srgbClr val="DCE8ED"/>
          </a:solidFill>
          <a:ln/>
        </p:spPr>
      </p:sp>
      <p:sp>
        <p:nvSpPr>
          <p:cNvPr id="19" name="Shape 17"/>
          <p:cNvSpPr/>
          <p:nvPr/>
        </p:nvSpPr>
        <p:spPr>
          <a:xfrm>
            <a:off x="7178040" y="2516505"/>
            <a:ext cx="9525" cy="5880735"/>
          </a:xfrm>
          <a:prstGeom prst="rect">
            <a:avLst/>
          </a:prstGeom>
          <a:solidFill>
            <a:srgbClr val="DCE8ED"/>
          </a:solidFill>
          <a:ln/>
        </p:spPr>
      </p:sp>
      <p:sp>
        <p:nvSpPr>
          <p:cNvPr id="20" name="Text 18"/>
          <p:cNvSpPr/>
          <p:nvPr/>
        </p:nvSpPr>
        <p:spPr>
          <a:xfrm>
            <a:off x="4616410" y="2821305"/>
            <a:ext cx="2545378" cy="31242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75" b="1" i="0" u="none" strike="noStrike" kern="0" cap="none" spc="188" normalizeH="0" baseline="0" noProof="0" dirty="0">
                <a:ln>
                  <a:noFill/>
                </a:ln>
                <a:solidFill>
                  <a:srgbClr val="1597D4"/>
                </a:solidFill>
                <a:effectLst/>
                <a:uLnTx/>
                <a:uFillTx/>
                <a:latin typeface="Arial" pitchFamily="34" charset="0"/>
                <a:ea typeface="Arial" pitchFamily="34" charset="-122"/>
                <a:cs typeface="Arial" pitchFamily="34" charset="-120"/>
              </a:rPr>
              <a:t>02 · TWIN</a:t>
            </a:r>
            <a:endParaRPr kumimoji="0" lang="en-US" sz="18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16410" y="3228975"/>
            <a:ext cx="2390180" cy="74676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5682"/>
              </a:lnSpc>
              <a:spcBef>
                <a:spcPts val="0"/>
              </a:spcBef>
              <a:spcAft>
                <a:spcPts val="0"/>
              </a:spcAft>
              <a:buClrTx/>
              <a:buSzTx/>
              <a:buFontTx/>
              <a:buNone/>
              <a:tabLst/>
              <a:defRPr/>
            </a:pPr>
            <a:r>
              <a:rPr kumimoji="0" lang="en-US" sz="2325" b="1" i="0" u="none" strike="noStrike" kern="1200" cap="none" spc="0" normalizeH="0" baseline="0" noProof="0" dirty="0">
                <a:ln>
                  <a:noFill/>
                </a:ln>
                <a:solidFill>
                  <a:srgbClr val="124B68"/>
                </a:solidFill>
                <a:effectLst/>
                <a:uLnTx/>
                <a:uFillTx/>
                <a:latin typeface="Arial" pitchFamily="34" charset="0"/>
                <a:ea typeface="Arial" pitchFamily="34" charset="-122"/>
                <a:cs typeface="Arial" pitchFamily="34" charset="-120"/>
              </a:rPr>
              <a:t>Cell-house physics</a:t>
            </a:r>
            <a:endParaRPr kumimoji="0" lang="en-US" sz="23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444961" y="4070985"/>
            <a:ext cx="2716827" cy="2088356"/>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21216"/>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17324D"/>
                </a:solidFill>
                <a:effectLst/>
                <a:uLnTx/>
                <a:uFillTx/>
                <a:latin typeface="Arial" pitchFamily="34" charset="0"/>
                <a:ea typeface="Arial" pitchFamily="34" charset="-122"/>
                <a:cs typeface="Arial" pitchFamily="34" charset="-120"/>
              </a:rPr>
              <a:t>Convex power curve, caustic tank as state of charge, chlorine balance, H₂-in-Cl₂ as a hard bound. Emits φ.</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7319010" y="5239703"/>
            <a:ext cx="355640" cy="4724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50" b="0" i="0" u="none" strike="noStrike" kern="1200" cap="none" spc="0" normalizeH="0" baseline="0" noProof="0" dirty="0">
                <a:ln>
                  <a:noFill/>
                </a:ln>
                <a:solidFill>
                  <a:srgbClr val="38BDF2"/>
                </a:solidFill>
                <a:effectLst/>
                <a:uLnTx/>
                <a:uFillTx/>
                <a:latin typeface="Arial" pitchFamily="34" charset="0"/>
                <a:ea typeface="Arial" pitchFamily="34" charset="-122"/>
                <a:cs typeface="Arial" pitchFamily="34" charset="-120"/>
              </a:rPr>
              <a:t>→</a:t>
            </a:r>
            <a:endParaRPr kumimoji="0" lang="en-US" sz="2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731800" y="2516505"/>
            <a:ext cx="2824401" cy="5880735"/>
          </a:xfrm>
          <a:prstGeom prst="roundRect">
            <a:avLst>
              <a:gd name="adj" fmla="val 4721"/>
            </a:avLst>
          </a:prstGeom>
          <a:solidFill>
            <a:srgbClr val="FFFFFF"/>
          </a:solidFill>
          <a:ln/>
          <a:effectLst>
            <a:outerShdw blurRad="28575" dist="9525" dir="5400000" algn="bl" rotWithShape="0">
              <a:srgbClr val="17324D">
                <a:alpha val="5000"/>
              </a:srgbClr>
            </a:outerShdw>
          </a:effectLst>
        </p:spPr>
      </p:sp>
      <p:sp>
        <p:nvSpPr>
          <p:cNvPr id="25" name="Shape 23"/>
          <p:cNvSpPr/>
          <p:nvPr/>
        </p:nvSpPr>
        <p:spPr>
          <a:xfrm>
            <a:off x="7731800" y="8389620"/>
            <a:ext cx="2824401" cy="9525"/>
          </a:xfrm>
          <a:prstGeom prst="rect">
            <a:avLst/>
          </a:prstGeom>
          <a:solidFill>
            <a:srgbClr val="DCE8ED"/>
          </a:solidFill>
          <a:ln/>
        </p:spPr>
      </p:sp>
      <p:sp>
        <p:nvSpPr>
          <p:cNvPr id="26" name="Shape 24"/>
          <p:cNvSpPr/>
          <p:nvPr/>
        </p:nvSpPr>
        <p:spPr>
          <a:xfrm>
            <a:off x="7731800" y="2516505"/>
            <a:ext cx="2824401" cy="38100"/>
          </a:xfrm>
          <a:prstGeom prst="rect">
            <a:avLst/>
          </a:prstGeom>
          <a:solidFill>
            <a:srgbClr val="38BDF2"/>
          </a:solidFill>
          <a:ln/>
        </p:spPr>
      </p:sp>
      <p:sp>
        <p:nvSpPr>
          <p:cNvPr id="27" name="Shape 25"/>
          <p:cNvSpPr/>
          <p:nvPr/>
        </p:nvSpPr>
        <p:spPr>
          <a:xfrm>
            <a:off x="7731800" y="2516505"/>
            <a:ext cx="9525" cy="5880735"/>
          </a:xfrm>
          <a:prstGeom prst="rect">
            <a:avLst/>
          </a:prstGeom>
          <a:solidFill>
            <a:srgbClr val="DCE8ED"/>
          </a:solidFill>
          <a:ln/>
        </p:spPr>
      </p:sp>
      <p:sp>
        <p:nvSpPr>
          <p:cNvPr id="28" name="Shape 26"/>
          <p:cNvSpPr/>
          <p:nvPr/>
        </p:nvSpPr>
        <p:spPr>
          <a:xfrm>
            <a:off x="10548580" y="2516505"/>
            <a:ext cx="9525" cy="5880735"/>
          </a:xfrm>
          <a:prstGeom prst="rect">
            <a:avLst/>
          </a:prstGeom>
          <a:solidFill>
            <a:srgbClr val="DCE8ED"/>
          </a:solidFill>
          <a:ln/>
        </p:spPr>
      </p:sp>
      <p:sp>
        <p:nvSpPr>
          <p:cNvPr id="29" name="Text 27"/>
          <p:cNvSpPr/>
          <p:nvPr/>
        </p:nvSpPr>
        <p:spPr>
          <a:xfrm>
            <a:off x="7987070" y="2821305"/>
            <a:ext cx="2545247" cy="31242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75" b="1" i="0" u="none" strike="noStrike" kern="0" cap="none" spc="188" normalizeH="0" baseline="0" noProof="0" dirty="0">
                <a:ln>
                  <a:noFill/>
                </a:ln>
                <a:solidFill>
                  <a:srgbClr val="38BDF2"/>
                </a:solidFill>
                <a:effectLst/>
                <a:uLnTx/>
                <a:uFillTx/>
                <a:latin typeface="Arial" pitchFamily="34" charset="0"/>
                <a:ea typeface="Arial" pitchFamily="34" charset="-122"/>
                <a:cs typeface="Arial" pitchFamily="34" charset="-120"/>
              </a:rPr>
              <a:t>03 · FORECAST</a:t>
            </a:r>
            <a:endParaRPr kumimoji="0" lang="en-US" sz="18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7987070" y="3228975"/>
            <a:ext cx="2390061" cy="74676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5682"/>
              </a:lnSpc>
              <a:spcBef>
                <a:spcPts val="0"/>
              </a:spcBef>
              <a:spcAft>
                <a:spcPts val="0"/>
              </a:spcAft>
              <a:buClrTx/>
              <a:buSzTx/>
              <a:buFontTx/>
              <a:buNone/>
              <a:tabLst/>
              <a:defRPr/>
            </a:pPr>
            <a:r>
              <a:rPr kumimoji="0" lang="en-US" sz="2325" b="1" i="0" u="none" strike="noStrike" kern="1200" cap="none" spc="0" normalizeH="0" baseline="0" noProof="0" dirty="0">
                <a:ln>
                  <a:noFill/>
                </a:ln>
                <a:solidFill>
                  <a:srgbClr val="124B68"/>
                </a:solidFill>
                <a:effectLst/>
                <a:uLnTx/>
                <a:uFillTx/>
                <a:latin typeface="Arial" pitchFamily="34" charset="0"/>
                <a:ea typeface="Arial" pitchFamily="34" charset="-122"/>
                <a:cs typeface="Arial" pitchFamily="34" charset="-120"/>
              </a:rPr>
              <a:t>Quantile price fan</a:t>
            </a:r>
            <a:endParaRPr kumimoji="0" lang="en-US" sz="23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7987070" y="4070985"/>
            <a:ext cx="2390061" cy="2430066"/>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21216"/>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17324D"/>
                </a:solidFill>
                <a:effectLst/>
                <a:uLnTx/>
                <a:uFillTx/>
                <a:latin typeface="Arial" pitchFamily="34" charset="0"/>
                <a:ea typeface="Arial" pitchFamily="34" charset="-122"/>
                <a:cs typeface="Arial" pitchFamily="34" charset="-120"/>
              </a:rPr>
              <a:t>LightGBM q10/q50/q90, conformally widened out of sample. MAE 1,072 against three baselines.</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10689551" y="5239703"/>
            <a:ext cx="355640" cy="4724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50" b="0" i="0" u="none" strike="noStrike" kern="1200" cap="none" spc="0" normalizeH="0" baseline="0" noProof="0" dirty="0">
                <a:ln>
                  <a:noFill/>
                </a:ln>
                <a:solidFill>
                  <a:srgbClr val="38BDF2"/>
                </a:solidFill>
                <a:effectLst/>
                <a:uLnTx/>
                <a:uFillTx/>
                <a:latin typeface="Arial" pitchFamily="34" charset="0"/>
                <a:ea typeface="Arial" pitchFamily="34" charset="-122"/>
                <a:cs typeface="Arial" pitchFamily="34" charset="-120"/>
              </a:rPr>
              <a:t>→</a:t>
            </a:r>
            <a:endParaRPr kumimoji="0" lang="en-US" sz="2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11102340" y="2516505"/>
            <a:ext cx="2824520" cy="5880735"/>
          </a:xfrm>
          <a:prstGeom prst="roundRect">
            <a:avLst>
              <a:gd name="adj" fmla="val 4721"/>
            </a:avLst>
          </a:prstGeom>
          <a:solidFill>
            <a:srgbClr val="FFFFFF"/>
          </a:solidFill>
          <a:ln/>
          <a:effectLst>
            <a:outerShdw blurRad="28575" dist="9525" dir="5400000" algn="bl" rotWithShape="0">
              <a:srgbClr val="17324D">
                <a:alpha val="5000"/>
              </a:srgbClr>
            </a:outerShdw>
          </a:effectLst>
        </p:spPr>
      </p:sp>
      <p:sp>
        <p:nvSpPr>
          <p:cNvPr id="34" name="Shape 32"/>
          <p:cNvSpPr/>
          <p:nvPr/>
        </p:nvSpPr>
        <p:spPr>
          <a:xfrm>
            <a:off x="11102340" y="8389620"/>
            <a:ext cx="2824520" cy="9525"/>
          </a:xfrm>
          <a:prstGeom prst="rect">
            <a:avLst/>
          </a:prstGeom>
          <a:solidFill>
            <a:srgbClr val="DCE8ED"/>
          </a:solidFill>
          <a:ln/>
        </p:spPr>
      </p:sp>
      <p:sp>
        <p:nvSpPr>
          <p:cNvPr id="35" name="Shape 33"/>
          <p:cNvSpPr/>
          <p:nvPr/>
        </p:nvSpPr>
        <p:spPr>
          <a:xfrm>
            <a:off x="11102340" y="2516505"/>
            <a:ext cx="2824520" cy="38100"/>
          </a:xfrm>
          <a:prstGeom prst="rect">
            <a:avLst/>
          </a:prstGeom>
          <a:solidFill>
            <a:srgbClr val="22A06B"/>
          </a:solidFill>
          <a:ln/>
        </p:spPr>
      </p:sp>
      <p:sp>
        <p:nvSpPr>
          <p:cNvPr id="36" name="Shape 34"/>
          <p:cNvSpPr/>
          <p:nvPr/>
        </p:nvSpPr>
        <p:spPr>
          <a:xfrm>
            <a:off x="11102340" y="2516505"/>
            <a:ext cx="9525" cy="5880735"/>
          </a:xfrm>
          <a:prstGeom prst="rect">
            <a:avLst/>
          </a:prstGeom>
          <a:solidFill>
            <a:srgbClr val="DCE8ED"/>
          </a:solidFill>
          <a:ln/>
        </p:spPr>
      </p:sp>
      <p:sp>
        <p:nvSpPr>
          <p:cNvPr id="37" name="Shape 35"/>
          <p:cNvSpPr/>
          <p:nvPr/>
        </p:nvSpPr>
        <p:spPr>
          <a:xfrm>
            <a:off x="13919240" y="2516505"/>
            <a:ext cx="9525" cy="5880735"/>
          </a:xfrm>
          <a:prstGeom prst="rect">
            <a:avLst/>
          </a:prstGeom>
          <a:solidFill>
            <a:srgbClr val="DCE8ED"/>
          </a:solidFill>
          <a:ln/>
        </p:spPr>
      </p:sp>
      <p:sp>
        <p:nvSpPr>
          <p:cNvPr id="38" name="Text 36"/>
          <p:cNvSpPr/>
          <p:nvPr/>
        </p:nvSpPr>
        <p:spPr>
          <a:xfrm>
            <a:off x="11357610" y="2821305"/>
            <a:ext cx="2545378" cy="31242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75" b="1" i="0" u="none" strike="noStrike" kern="0" cap="none" spc="188" normalizeH="0" baseline="0" noProof="0" dirty="0">
                <a:ln>
                  <a:noFill/>
                </a:ln>
                <a:solidFill>
                  <a:srgbClr val="22A06B"/>
                </a:solidFill>
                <a:effectLst/>
                <a:uLnTx/>
                <a:uFillTx/>
                <a:latin typeface="Arial" pitchFamily="34" charset="0"/>
                <a:ea typeface="Arial" pitchFamily="34" charset="-122"/>
                <a:cs typeface="Arial" pitchFamily="34" charset="-120"/>
              </a:rPr>
              <a:t>04 · DECISION</a:t>
            </a:r>
            <a:endParaRPr kumimoji="0" lang="en-US" sz="18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11357610" y="3228975"/>
            <a:ext cx="2545378" cy="39243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5682"/>
              </a:lnSpc>
              <a:spcBef>
                <a:spcPts val="0"/>
              </a:spcBef>
              <a:spcAft>
                <a:spcPts val="0"/>
              </a:spcAft>
              <a:buClrTx/>
              <a:buSzTx/>
              <a:buFontTx/>
              <a:buNone/>
              <a:tabLst/>
              <a:defRPr/>
            </a:pPr>
            <a:r>
              <a:rPr kumimoji="0" lang="en-US" sz="2325" b="1" i="0" u="none" strike="noStrike" kern="1200" cap="none" spc="0" normalizeH="0" baseline="0" noProof="0" dirty="0">
                <a:ln>
                  <a:noFill/>
                </a:ln>
                <a:solidFill>
                  <a:srgbClr val="124B68"/>
                </a:solidFill>
                <a:effectLst/>
                <a:uLnTx/>
                <a:uFillTx/>
                <a:latin typeface="Arial" pitchFamily="34" charset="0"/>
                <a:ea typeface="Arial" pitchFamily="34" charset="-122"/>
                <a:cs typeface="Arial" pitchFamily="34" charset="-120"/>
              </a:rPr>
              <a:t>Stochastic MILP</a:t>
            </a:r>
            <a:endParaRPr kumimoji="0" lang="en-US" sz="23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11357610" y="3716655"/>
            <a:ext cx="2545378" cy="2430066"/>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21216"/>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17324D"/>
                </a:solidFill>
                <a:effectLst/>
                <a:uLnTx/>
                <a:uFillTx/>
                <a:latin typeface="Arial" pitchFamily="34" charset="0"/>
                <a:ea typeface="Arial" pitchFamily="34" charset="-122"/>
                <a:cs typeface="Arial" pitchFamily="34" charset="-120"/>
              </a:rPr>
              <a:t>96 blocks against landed cost, CVaR₉₅ risk term, demand charge inside the objective. CBC, 0.3 s.</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14060210" y="5239703"/>
            <a:ext cx="355640" cy="4724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50" b="0" i="0" u="none" strike="noStrike" kern="1200" cap="none" spc="0" normalizeH="0" baseline="0" noProof="0" dirty="0">
                <a:ln>
                  <a:noFill/>
                </a:ln>
                <a:solidFill>
                  <a:srgbClr val="22A06B"/>
                </a:solidFill>
                <a:effectLst/>
                <a:uLnTx/>
                <a:uFillTx/>
                <a:latin typeface="Arial" pitchFamily="34" charset="0"/>
                <a:ea typeface="Arial" pitchFamily="34" charset="-122"/>
                <a:cs typeface="Arial" pitchFamily="34" charset="-120"/>
              </a:rPr>
              <a:t>→</a:t>
            </a:r>
            <a:endParaRPr kumimoji="0" lang="en-US" sz="2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14472999" y="2516505"/>
            <a:ext cx="2824401" cy="5880735"/>
          </a:xfrm>
          <a:prstGeom prst="roundRect">
            <a:avLst>
              <a:gd name="adj" fmla="val 4721"/>
            </a:avLst>
          </a:prstGeom>
          <a:solidFill>
            <a:srgbClr val="FFFFFF"/>
          </a:solidFill>
          <a:ln/>
          <a:effectLst>
            <a:outerShdw blurRad="28575" dist="9525" dir="5400000" algn="bl" rotWithShape="0">
              <a:srgbClr val="17324D">
                <a:alpha val="5000"/>
              </a:srgbClr>
            </a:outerShdw>
          </a:effectLst>
        </p:spPr>
      </p:sp>
      <p:sp>
        <p:nvSpPr>
          <p:cNvPr id="43" name="Shape 41"/>
          <p:cNvSpPr/>
          <p:nvPr/>
        </p:nvSpPr>
        <p:spPr>
          <a:xfrm>
            <a:off x="14472999" y="8389620"/>
            <a:ext cx="2824401" cy="9525"/>
          </a:xfrm>
          <a:prstGeom prst="rect">
            <a:avLst/>
          </a:prstGeom>
          <a:solidFill>
            <a:srgbClr val="DCE8ED"/>
          </a:solidFill>
          <a:ln/>
        </p:spPr>
      </p:sp>
      <p:sp>
        <p:nvSpPr>
          <p:cNvPr id="44" name="Shape 42"/>
          <p:cNvSpPr/>
          <p:nvPr/>
        </p:nvSpPr>
        <p:spPr>
          <a:xfrm>
            <a:off x="14472999" y="2516505"/>
            <a:ext cx="2824401" cy="38100"/>
          </a:xfrm>
          <a:prstGeom prst="rect">
            <a:avLst/>
          </a:prstGeom>
          <a:solidFill>
            <a:srgbClr val="22A06B"/>
          </a:solidFill>
          <a:ln/>
        </p:spPr>
      </p:sp>
      <p:sp>
        <p:nvSpPr>
          <p:cNvPr id="45" name="Shape 43"/>
          <p:cNvSpPr/>
          <p:nvPr/>
        </p:nvSpPr>
        <p:spPr>
          <a:xfrm>
            <a:off x="14472999" y="2516505"/>
            <a:ext cx="9525" cy="5880735"/>
          </a:xfrm>
          <a:prstGeom prst="rect">
            <a:avLst/>
          </a:prstGeom>
          <a:solidFill>
            <a:srgbClr val="DCE8ED"/>
          </a:solidFill>
          <a:ln/>
        </p:spPr>
      </p:sp>
      <p:sp>
        <p:nvSpPr>
          <p:cNvPr id="46" name="Shape 44"/>
          <p:cNvSpPr/>
          <p:nvPr/>
        </p:nvSpPr>
        <p:spPr>
          <a:xfrm>
            <a:off x="17289780" y="2516505"/>
            <a:ext cx="9525" cy="5880735"/>
          </a:xfrm>
          <a:prstGeom prst="rect">
            <a:avLst/>
          </a:prstGeom>
          <a:solidFill>
            <a:srgbClr val="DCE8ED"/>
          </a:solidFill>
          <a:ln/>
        </p:spPr>
      </p:sp>
      <p:sp>
        <p:nvSpPr>
          <p:cNvPr id="47" name="Text 45"/>
          <p:cNvSpPr/>
          <p:nvPr/>
        </p:nvSpPr>
        <p:spPr>
          <a:xfrm>
            <a:off x="14728270" y="2821305"/>
            <a:ext cx="2545247" cy="31242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75" b="1" i="0" u="none" strike="noStrike" kern="0" cap="none" spc="188" normalizeH="0" baseline="0" noProof="0" dirty="0">
                <a:ln>
                  <a:noFill/>
                </a:ln>
                <a:solidFill>
                  <a:srgbClr val="22A06B"/>
                </a:solidFill>
                <a:effectLst/>
                <a:uLnTx/>
                <a:uFillTx/>
                <a:latin typeface="Arial" pitchFamily="34" charset="0"/>
                <a:ea typeface="Arial" pitchFamily="34" charset="-122"/>
                <a:cs typeface="Arial" pitchFamily="34" charset="-120"/>
              </a:rPr>
              <a:t>05 · AGENT</a:t>
            </a:r>
            <a:endParaRPr kumimoji="0" lang="en-US" sz="18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14728270" y="3228975"/>
            <a:ext cx="2390061" cy="74676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5682"/>
              </a:lnSpc>
              <a:spcBef>
                <a:spcPts val="0"/>
              </a:spcBef>
              <a:spcAft>
                <a:spcPts val="0"/>
              </a:spcAft>
              <a:buClrTx/>
              <a:buSzTx/>
              <a:buFontTx/>
              <a:buNone/>
              <a:tabLst/>
              <a:defRPr/>
            </a:pPr>
            <a:r>
              <a:rPr kumimoji="0" lang="en-US" sz="2325" b="1" i="0" u="none" strike="noStrike" kern="1200" cap="none" spc="0" normalizeH="0" baseline="0" noProof="0" dirty="0">
                <a:ln>
                  <a:noFill/>
                </a:ln>
                <a:solidFill>
                  <a:srgbClr val="124B68"/>
                </a:solidFill>
                <a:effectLst/>
                <a:uLnTx/>
                <a:uFillTx/>
                <a:latin typeface="Arial" pitchFamily="34" charset="0"/>
                <a:ea typeface="Arial" pitchFamily="34" charset="-122"/>
                <a:cs typeface="Arial" pitchFamily="34" charset="-120"/>
              </a:rPr>
              <a:t>Constraints and reasons</a:t>
            </a:r>
            <a:endParaRPr kumimoji="0" lang="en-US" sz="23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7"/>
          <p:cNvSpPr/>
          <p:nvPr/>
        </p:nvSpPr>
        <p:spPr>
          <a:xfrm>
            <a:off x="14728270" y="4070985"/>
            <a:ext cx="2390061" cy="2430066"/>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21216"/>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17324D"/>
                </a:solidFill>
                <a:effectLst/>
                <a:uLnTx/>
                <a:uFillTx/>
                <a:latin typeface="Arial" pitchFamily="34" charset="0"/>
                <a:ea typeface="Arial" pitchFamily="34" charset="-122"/>
                <a:cs typeface="Arial" pitchFamily="34" charset="-120"/>
              </a:rPr>
              <a:t>Elicits constraints from SOPs and operator speech, gated on human sign-off. Explains from the solver, not from itself.</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8"/>
          <p:cNvSpPr/>
          <p:nvPr/>
        </p:nvSpPr>
        <p:spPr>
          <a:xfrm>
            <a:off x="990600" y="8682990"/>
            <a:ext cx="16306800" cy="9525"/>
          </a:xfrm>
          <a:prstGeom prst="rect">
            <a:avLst/>
          </a:prstGeom>
          <a:solidFill>
            <a:srgbClr val="DCE8ED"/>
          </a:solidFill>
          <a:ln/>
        </p:spPr>
      </p:sp>
      <p:sp>
        <p:nvSpPr>
          <p:cNvPr id="51" name="Text 49"/>
          <p:cNvSpPr/>
          <p:nvPr/>
        </p:nvSpPr>
        <p:spPr>
          <a:xfrm>
            <a:off x="990600" y="8881110"/>
            <a:ext cx="16796004" cy="75819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8125"/>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324D"/>
                </a:solidFill>
                <a:effectLst/>
                <a:uLnTx/>
                <a:uFillTx/>
                <a:latin typeface="Arial" pitchFamily="34" charset="0"/>
                <a:ea typeface="Arial" pitchFamily="34" charset="-122"/>
                <a:cs typeface="Arial" pitchFamily="34" charset="-120"/>
              </a:rPr>
              <a:t>~3,000 lines of Python, 45 regression tests passing, and every schedule re-simulated against the true nonlinear physics before anyone sees it.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4342924"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ECONOMIC INTELLIGENCE</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08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29715"/>
            <a:ext cx="15383459" cy="643890"/>
          </a:xfrm>
          <a:prstGeom prst="rect">
            <a:avLst/>
          </a:prstGeom>
          <a:noFill/>
          <a:ln/>
        </p:spPr>
        <p:txBody>
          <a:bodyPr wrap="square" lIns="25400" tIns="25400" rIns="25400" bIns="25400" rtlCol="0" anchor="t">
            <a:normAutofit lnSpcReduction="10000"/>
          </a:bodyPr>
          <a:lstStyle/>
          <a:p>
            <a:pPr marL="0" indent="0" algn="l">
              <a:lnSpc>
                <a:spcPct val="92442"/>
              </a:lnSpc>
              <a:buNone/>
            </a:pPr>
            <a:r>
              <a:rPr lang="en-US" sz="4500" b="1" kern="0" spc="-112" dirty="0">
                <a:solidFill>
                  <a:srgbClr val="124B68"/>
                </a:solidFill>
                <a:latin typeface="Arial" pitchFamily="34" charset="0"/>
                <a:ea typeface="Arial" pitchFamily="34" charset="-122"/>
                <a:cs typeface="Arial" pitchFamily="34" charset="-120"/>
              </a:rPr>
              <a:t>The plant doesn't pay MCP - it pays the landed bill</a:t>
            </a:r>
            <a:endParaRPr lang="en-US" sz="4500" dirty="0"/>
          </a:p>
        </p:txBody>
      </p:sp>
      <p:sp>
        <p:nvSpPr>
          <p:cNvPr id="6" name="Shape 4"/>
          <p:cNvSpPr/>
          <p:nvPr/>
        </p:nvSpPr>
        <p:spPr>
          <a:xfrm>
            <a:off x="990600" y="2383155"/>
            <a:ext cx="1901666" cy="662940"/>
          </a:xfrm>
          <a:prstGeom prst="roundRect">
            <a:avLst>
              <a:gd name="adj" fmla="val 14368"/>
            </a:avLst>
          </a:prstGeom>
          <a:solidFill>
            <a:srgbClr val="FFFFFF"/>
          </a:solidFill>
          <a:ln w="7620">
            <a:solidFill>
              <a:srgbClr val="DCE8ED"/>
            </a:solidFill>
            <a:prstDash val="solid"/>
          </a:ln>
        </p:spPr>
      </p:sp>
      <p:sp>
        <p:nvSpPr>
          <p:cNvPr id="7" name="Text 5"/>
          <p:cNvSpPr/>
          <p:nvPr/>
        </p:nvSpPr>
        <p:spPr>
          <a:xfrm>
            <a:off x="1207770" y="2534515"/>
            <a:ext cx="1543526"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7324D"/>
                </a:solidFill>
                <a:latin typeface="Arial" pitchFamily="34" charset="0"/>
                <a:ea typeface="Arial" pitchFamily="34" charset="-122"/>
                <a:cs typeface="Arial" pitchFamily="34" charset="-120"/>
              </a:rPr>
              <a:t>Market price</a:t>
            </a:r>
            <a:endParaRPr lang="en-US" sz="2100" dirty="0"/>
          </a:p>
        </p:txBody>
      </p:sp>
      <p:sp>
        <p:nvSpPr>
          <p:cNvPr id="8" name="Text 6"/>
          <p:cNvSpPr/>
          <p:nvPr/>
        </p:nvSpPr>
        <p:spPr>
          <a:xfrm>
            <a:off x="3006566" y="2554605"/>
            <a:ext cx="252770" cy="3581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6B7C89"/>
                </a:solidFill>
                <a:latin typeface="Arial" pitchFamily="34" charset="0"/>
                <a:ea typeface="Arial" pitchFamily="34" charset="-122"/>
                <a:cs typeface="Arial" pitchFamily="34" charset="-120"/>
              </a:rPr>
              <a:t>+</a:t>
            </a:r>
            <a:endParaRPr lang="en-US" sz="2100" dirty="0"/>
          </a:p>
        </p:txBody>
      </p:sp>
      <p:sp>
        <p:nvSpPr>
          <p:cNvPr id="9" name="Shape 7"/>
          <p:cNvSpPr/>
          <p:nvPr/>
        </p:nvSpPr>
        <p:spPr>
          <a:xfrm>
            <a:off x="3297436" y="2383155"/>
            <a:ext cx="1546265" cy="662940"/>
          </a:xfrm>
          <a:prstGeom prst="roundRect">
            <a:avLst>
              <a:gd name="adj" fmla="val 14368"/>
            </a:avLst>
          </a:prstGeom>
          <a:solidFill>
            <a:srgbClr val="FFFFFF"/>
          </a:solidFill>
          <a:ln w="7620">
            <a:solidFill>
              <a:srgbClr val="DCE8ED"/>
            </a:solidFill>
            <a:prstDash val="solid"/>
          </a:ln>
        </p:spPr>
      </p:sp>
      <p:sp>
        <p:nvSpPr>
          <p:cNvPr id="10" name="Text 8"/>
          <p:cNvSpPr/>
          <p:nvPr/>
        </p:nvSpPr>
        <p:spPr>
          <a:xfrm>
            <a:off x="3514606" y="2548370"/>
            <a:ext cx="1188125"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7324D"/>
                </a:solidFill>
                <a:latin typeface="Arial" pitchFamily="34" charset="0"/>
                <a:ea typeface="Arial" pitchFamily="34" charset="-122"/>
                <a:cs typeface="Arial" pitchFamily="34" charset="-120"/>
              </a:rPr>
              <a:t>Wheeling</a:t>
            </a:r>
            <a:endParaRPr lang="en-US" sz="2100" dirty="0"/>
          </a:p>
        </p:txBody>
      </p:sp>
      <p:sp>
        <p:nvSpPr>
          <p:cNvPr id="11" name="Text 9"/>
          <p:cNvSpPr/>
          <p:nvPr/>
        </p:nvSpPr>
        <p:spPr>
          <a:xfrm>
            <a:off x="4958001" y="2554605"/>
            <a:ext cx="252770" cy="3581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6B7C89"/>
                </a:solidFill>
                <a:latin typeface="Arial" pitchFamily="34" charset="0"/>
                <a:ea typeface="Arial" pitchFamily="34" charset="-122"/>
                <a:cs typeface="Arial" pitchFamily="34" charset="-120"/>
              </a:rPr>
              <a:t>+</a:t>
            </a:r>
            <a:endParaRPr lang="en-US" sz="2100" dirty="0"/>
          </a:p>
        </p:txBody>
      </p:sp>
      <p:sp>
        <p:nvSpPr>
          <p:cNvPr id="12" name="Shape 10"/>
          <p:cNvSpPr/>
          <p:nvPr/>
        </p:nvSpPr>
        <p:spPr>
          <a:xfrm>
            <a:off x="5248870" y="2383155"/>
            <a:ext cx="1798201" cy="662940"/>
          </a:xfrm>
          <a:prstGeom prst="roundRect">
            <a:avLst>
              <a:gd name="adj" fmla="val 14368"/>
            </a:avLst>
          </a:prstGeom>
          <a:solidFill>
            <a:srgbClr val="FFFFFF"/>
          </a:solidFill>
          <a:ln w="7620">
            <a:solidFill>
              <a:srgbClr val="DCE8ED"/>
            </a:solidFill>
            <a:prstDash val="solid"/>
          </a:ln>
        </p:spPr>
      </p:sp>
      <p:sp>
        <p:nvSpPr>
          <p:cNvPr id="13" name="Text 11"/>
          <p:cNvSpPr/>
          <p:nvPr/>
        </p:nvSpPr>
        <p:spPr>
          <a:xfrm>
            <a:off x="5466040" y="2548370"/>
            <a:ext cx="1440061"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7324D"/>
                </a:solidFill>
                <a:latin typeface="Arial" pitchFamily="34" charset="0"/>
                <a:ea typeface="Arial" pitchFamily="34" charset="-122"/>
                <a:cs typeface="Arial" pitchFamily="34" charset="-120"/>
              </a:rPr>
              <a:t>Surcharges</a:t>
            </a:r>
            <a:endParaRPr lang="en-US" sz="2100" dirty="0"/>
          </a:p>
        </p:txBody>
      </p:sp>
      <p:sp>
        <p:nvSpPr>
          <p:cNvPr id="14" name="Text 12"/>
          <p:cNvSpPr/>
          <p:nvPr/>
        </p:nvSpPr>
        <p:spPr>
          <a:xfrm>
            <a:off x="7161372" y="2554605"/>
            <a:ext cx="252770" cy="3581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6B7C89"/>
                </a:solidFill>
                <a:latin typeface="Arial" pitchFamily="34" charset="0"/>
                <a:ea typeface="Arial" pitchFamily="34" charset="-122"/>
                <a:cs typeface="Arial" pitchFamily="34" charset="-120"/>
              </a:rPr>
              <a:t>+</a:t>
            </a:r>
            <a:endParaRPr lang="en-US" sz="2100" dirty="0"/>
          </a:p>
        </p:txBody>
      </p:sp>
      <p:sp>
        <p:nvSpPr>
          <p:cNvPr id="15" name="Shape 13"/>
          <p:cNvSpPr/>
          <p:nvPr/>
        </p:nvSpPr>
        <p:spPr>
          <a:xfrm>
            <a:off x="7452241" y="2383155"/>
            <a:ext cx="982742" cy="662940"/>
          </a:xfrm>
          <a:prstGeom prst="roundRect">
            <a:avLst>
              <a:gd name="adj" fmla="val 14368"/>
            </a:avLst>
          </a:prstGeom>
          <a:solidFill>
            <a:srgbClr val="FFFFFF"/>
          </a:solidFill>
          <a:ln w="7620">
            <a:solidFill>
              <a:srgbClr val="DCE8ED"/>
            </a:solidFill>
            <a:prstDash val="solid"/>
          </a:ln>
        </p:spPr>
      </p:sp>
      <p:sp>
        <p:nvSpPr>
          <p:cNvPr id="16" name="Text 14"/>
          <p:cNvSpPr/>
          <p:nvPr/>
        </p:nvSpPr>
        <p:spPr>
          <a:xfrm>
            <a:off x="7669411" y="2548370"/>
            <a:ext cx="624602"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7324D"/>
                </a:solidFill>
                <a:latin typeface="Arial" pitchFamily="34" charset="0"/>
                <a:ea typeface="Arial" pitchFamily="34" charset="-122"/>
                <a:cs typeface="Arial" pitchFamily="34" charset="-120"/>
              </a:rPr>
              <a:t>Duty</a:t>
            </a:r>
            <a:endParaRPr lang="en-US" sz="2100" dirty="0"/>
          </a:p>
        </p:txBody>
      </p:sp>
      <p:sp>
        <p:nvSpPr>
          <p:cNvPr id="17" name="Text 15"/>
          <p:cNvSpPr/>
          <p:nvPr/>
        </p:nvSpPr>
        <p:spPr>
          <a:xfrm>
            <a:off x="8549283" y="2554605"/>
            <a:ext cx="252770" cy="3581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6B7C89"/>
                </a:solidFill>
                <a:latin typeface="Arial" pitchFamily="34" charset="0"/>
                <a:ea typeface="Arial" pitchFamily="34" charset="-122"/>
                <a:cs typeface="Arial" pitchFamily="34" charset="-120"/>
              </a:rPr>
              <a:t>+</a:t>
            </a:r>
            <a:endParaRPr lang="en-US" sz="2100" dirty="0"/>
          </a:p>
        </p:txBody>
      </p:sp>
      <p:sp>
        <p:nvSpPr>
          <p:cNvPr id="18" name="Shape 16"/>
          <p:cNvSpPr/>
          <p:nvPr/>
        </p:nvSpPr>
        <p:spPr>
          <a:xfrm>
            <a:off x="8840153" y="2383155"/>
            <a:ext cx="3929063" cy="662940"/>
          </a:xfrm>
          <a:prstGeom prst="roundRect">
            <a:avLst>
              <a:gd name="adj" fmla="val 14368"/>
            </a:avLst>
          </a:prstGeom>
          <a:solidFill>
            <a:srgbClr val="FFFFFF"/>
          </a:solidFill>
          <a:ln/>
        </p:spPr>
      </p:sp>
      <p:sp>
        <p:nvSpPr>
          <p:cNvPr id="19" name="Shape 17"/>
          <p:cNvSpPr/>
          <p:nvPr/>
        </p:nvSpPr>
        <p:spPr>
          <a:xfrm>
            <a:off x="8840153" y="3038475"/>
            <a:ext cx="3929063" cy="9525"/>
          </a:xfrm>
          <a:prstGeom prst="rect">
            <a:avLst/>
          </a:prstGeom>
          <a:solidFill>
            <a:srgbClr val="DCE8ED"/>
          </a:solidFill>
          <a:ln/>
        </p:spPr>
      </p:sp>
      <p:sp>
        <p:nvSpPr>
          <p:cNvPr id="20" name="Shape 18"/>
          <p:cNvSpPr/>
          <p:nvPr/>
        </p:nvSpPr>
        <p:spPr>
          <a:xfrm>
            <a:off x="8840153" y="2383155"/>
            <a:ext cx="3929063" cy="9525"/>
          </a:xfrm>
          <a:prstGeom prst="rect">
            <a:avLst/>
          </a:prstGeom>
          <a:solidFill>
            <a:srgbClr val="DCE8ED"/>
          </a:solidFill>
          <a:ln/>
        </p:spPr>
      </p:sp>
      <p:sp>
        <p:nvSpPr>
          <p:cNvPr id="21" name="Shape 19"/>
          <p:cNvSpPr/>
          <p:nvPr/>
        </p:nvSpPr>
        <p:spPr>
          <a:xfrm>
            <a:off x="8840153" y="2383155"/>
            <a:ext cx="38100" cy="662940"/>
          </a:xfrm>
          <a:prstGeom prst="rect">
            <a:avLst/>
          </a:prstGeom>
          <a:solidFill>
            <a:srgbClr val="E9A72C"/>
          </a:solidFill>
          <a:ln/>
        </p:spPr>
      </p:sp>
      <p:sp>
        <p:nvSpPr>
          <p:cNvPr id="22" name="Shape 20"/>
          <p:cNvSpPr/>
          <p:nvPr/>
        </p:nvSpPr>
        <p:spPr>
          <a:xfrm>
            <a:off x="12761595" y="2383155"/>
            <a:ext cx="9525" cy="662940"/>
          </a:xfrm>
          <a:prstGeom prst="rect">
            <a:avLst/>
          </a:prstGeom>
          <a:solidFill>
            <a:srgbClr val="DCE8ED"/>
          </a:solidFill>
          <a:ln/>
        </p:spPr>
      </p:sp>
      <p:sp>
        <p:nvSpPr>
          <p:cNvPr id="23" name="Text 21"/>
          <p:cNvSpPr/>
          <p:nvPr/>
        </p:nvSpPr>
        <p:spPr>
          <a:xfrm>
            <a:off x="9087803" y="2548370"/>
            <a:ext cx="3582114"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7324D"/>
                </a:solidFill>
                <a:latin typeface="Arial" pitchFamily="34" charset="0"/>
                <a:ea typeface="Arial" pitchFamily="34" charset="-122"/>
                <a:cs typeface="Arial" pitchFamily="34" charset="-120"/>
              </a:rPr>
              <a:t>Demand charge on peak kVA</a:t>
            </a:r>
            <a:endParaRPr lang="en-US" sz="2100" dirty="0"/>
          </a:p>
        </p:txBody>
      </p:sp>
      <p:sp>
        <p:nvSpPr>
          <p:cNvPr id="24" name="Text 22"/>
          <p:cNvSpPr/>
          <p:nvPr/>
        </p:nvSpPr>
        <p:spPr>
          <a:xfrm>
            <a:off x="12883515" y="2554605"/>
            <a:ext cx="252770" cy="3581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6B7C89"/>
                </a:solidFill>
                <a:latin typeface="Arial" pitchFamily="34" charset="0"/>
                <a:ea typeface="Arial" pitchFamily="34" charset="-122"/>
                <a:cs typeface="Arial" pitchFamily="34" charset="-120"/>
              </a:rPr>
              <a:t>=</a:t>
            </a:r>
            <a:endParaRPr lang="en-US" sz="2100" dirty="0"/>
          </a:p>
        </p:txBody>
      </p:sp>
      <p:sp>
        <p:nvSpPr>
          <p:cNvPr id="25" name="Shape 23"/>
          <p:cNvSpPr/>
          <p:nvPr/>
        </p:nvSpPr>
        <p:spPr>
          <a:xfrm>
            <a:off x="13174385" y="2383155"/>
            <a:ext cx="1925717" cy="662940"/>
          </a:xfrm>
          <a:prstGeom prst="roundRect">
            <a:avLst>
              <a:gd name="adj" fmla="val 14368"/>
            </a:avLst>
          </a:prstGeom>
          <a:solidFill>
            <a:srgbClr val="EAF7F1"/>
          </a:solidFill>
          <a:ln w="7620">
            <a:solidFill>
              <a:srgbClr val="BFE5D4"/>
            </a:solidFill>
            <a:prstDash val="solid"/>
          </a:ln>
        </p:spPr>
      </p:sp>
      <p:sp>
        <p:nvSpPr>
          <p:cNvPr id="26" name="Text 24"/>
          <p:cNvSpPr/>
          <p:nvPr/>
        </p:nvSpPr>
        <p:spPr>
          <a:xfrm>
            <a:off x="13410605" y="2548370"/>
            <a:ext cx="1529477"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24B68"/>
                </a:solidFill>
                <a:latin typeface="Arial" pitchFamily="34" charset="0"/>
                <a:ea typeface="Arial" pitchFamily="34" charset="-122"/>
                <a:cs typeface="Arial" pitchFamily="34" charset="-120"/>
              </a:rPr>
              <a:t>Landed cost</a:t>
            </a:r>
            <a:endParaRPr lang="en-US" sz="2100" dirty="0"/>
          </a:p>
        </p:txBody>
      </p:sp>
      <p:sp>
        <p:nvSpPr>
          <p:cNvPr id="27" name="Shape 25"/>
          <p:cNvSpPr/>
          <p:nvPr/>
        </p:nvSpPr>
        <p:spPr>
          <a:xfrm>
            <a:off x="990600" y="4468178"/>
            <a:ext cx="16306800" cy="3120390"/>
          </a:xfrm>
          <a:prstGeom prst="roundRect">
            <a:avLst>
              <a:gd name="adj" fmla="val 4274"/>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28" name="Text 26"/>
          <p:cNvSpPr/>
          <p:nvPr/>
        </p:nvSpPr>
        <p:spPr>
          <a:xfrm>
            <a:off x="1379220" y="4780597"/>
            <a:ext cx="4272091" cy="316230"/>
          </a:xfrm>
          <a:prstGeom prst="rect">
            <a:avLst/>
          </a:prstGeom>
          <a:noFill/>
          <a:ln/>
        </p:spPr>
        <p:txBody>
          <a:bodyPr wrap="square" lIns="25400" tIns="25400" rIns="25400" bIns="25400" rtlCol="0" anchor="ctr">
            <a:normAutofit lnSpcReduction="10000"/>
          </a:bodyPr>
          <a:lstStyle/>
          <a:p>
            <a:pPr marL="0" indent="0" algn="l">
              <a:buNone/>
            </a:pPr>
            <a:r>
              <a:rPr lang="en-US" sz="1875" b="1" kern="0" spc="113" dirty="0">
                <a:solidFill>
                  <a:srgbClr val="6B7C89"/>
                </a:solidFill>
                <a:latin typeface="Arial" pitchFamily="34" charset="0"/>
                <a:ea typeface="Arial" pitchFamily="34" charset="-122"/>
                <a:cs typeface="Arial" pitchFamily="34" charset="-120"/>
              </a:rPr>
              <a:t>SAME FIVE HIGH-SPREAD DAYS</a:t>
            </a:r>
            <a:endParaRPr lang="en-US" sz="1875" dirty="0"/>
          </a:p>
        </p:txBody>
      </p:sp>
      <p:sp>
        <p:nvSpPr>
          <p:cNvPr id="29" name="Text 27"/>
          <p:cNvSpPr/>
          <p:nvPr/>
        </p:nvSpPr>
        <p:spPr>
          <a:xfrm>
            <a:off x="5817806" y="4780597"/>
            <a:ext cx="2711594" cy="316230"/>
          </a:xfrm>
          <a:prstGeom prst="rect">
            <a:avLst/>
          </a:prstGeom>
          <a:noFill/>
          <a:ln/>
        </p:spPr>
        <p:txBody>
          <a:bodyPr wrap="square" lIns="25400" tIns="25400" rIns="25400" bIns="25400" rtlCol="0" anchor="ctr">
            <a:normAutofit lnSpcReduction="10000"/>
          </a:bodyPr>
          <a:lstStyle/>
          <a:p>
            <a:pPr marL="0" indent="0" algn="r">
              <a:buNone/>
            </a:pPr>
            <a:r>
              <a:rPr lang="en-US" sz="1875" b="1" kern="0" spc="113" dirty="0">
                <a:solidFill>
                  <a:srgbClr val="6B7C89"/>
                </a:solidFill>
                <a:latin typeface="Arial" pitchFamily="34" charset="0"/>
                <a:ea typeface="Arial" pitchFamily="34" charset="-122"/>
                <a:cs typeface="Arial" pitchFamily="34" charset="-120"/>
              </a:rPr>
              <a:t>OPTIMISED ON MCP</a:t>
            </a:r>
            <a:endParaRPr lang="en-US" sz="1875" dirty="0"/>
          </a:p>
        </p:txBody>
      </p:sp>
      <p:sp>
        <p:nvSpPr>
          <p:cNvPr id="30" name="Text 28"/>
          <p:cNvSpPr/>
          <p:nvPr/>
        </p:nvSpPr>
        <p:spPr>
          <a:xfrm>
            <a:off x="8781123" y="4780597"/>
            <a:ext cx="4057506" cy="316230"/>
          </a:xfrm>
          <a:prstGeom prst="rect">
            <a:avLst/>
          </a:prstGeom>
          <a:noFill/>
          <a:ln/>
        </p:spPr>
        <p:txBody>
          <a:bodyPr wrap="square" lIns="25400" tIns="25400" rIns="25400" bIns="25400" rtlCol="0" anchor="ctr">
            <a:normAutofit lnSpcReduction="10000"/>
          </a:bodyPr>
          <a:lstStyle/>
          <a:p>
            <a:pPr marL="0" indent="0" algn="r">
              <a:buNone/>
            </a:pPr>
            <a:r>
              <a:rPr lang="en-US" sz="1875" b="1" kern="0" spc="113" dirty="0">
                <a:solidFill>
                  <a:srgbClr val="6B7C89"/>
                </a:solidFill>
                <a:latin typeface="Arial" pitchFamily="34" charset="0"/>
                <a:ea typeface="Arial" pitchFamily="34" charset="-122"/>
                <a:cs typeface="Arial" pitchFamily="34" charset="-120"/>
              </a:rPr>
              <a:t>OPTIMISED ON LANDED COST</a:t>
            </a:r>
            <a:endParaRPr lang="en-US" sz="1875" dirty="0"/>
          </a:p>
        </p:txBody>
      </p:sp>
      <p:sp>
        <p:nvSpPr>
          <p:cNvPr id="32" name="Shape 30"/>
          <p:cNvSpPr/>
          <p:nvPr/>
        </p:nvSpPr>
        <p:spPr>
          <a:xfrm>
            <a:off x="1379220" y="5211128"/>
            <a:ext cx="4147661" cy="9525"/>
          </a:xfrm>
          <a:prstGeom prst="rect">
            <a:avLst/>
          </a:prstGeom>
          <a:solidFill>
            <a:srgbClr val="DCE8ED"/>
          </a:solidFill>
          <a:ln/>
        </p:spPr>
      </p:sp>
      <p:sp>
        <p:nvSpPr>
          <p:cNvPr id="33" name="Text 31"/>
          <p:cNvSpPr/>
          <p:nvPr/>
        </p:nvSpPr>
        <p:spPr>
          <a:xfrm>
            <a:off x="1379220" y="5466398"/>
            <a:ext cx="4272091" cy="396240"/>
          </a:xfrm>
          <a:prstGeom prst="rect">
            <a:avLst/>
          </a:prstGeom>
          <a:noFill/>
          <a:ln/>
        </p:spPr>
        <p:txBody>
          <a:bodyPr wrap="square" lIns="25400" tIns="25400" rIns="25400" bIns="25400" rtlCol="0" anchor="ctr">
            <a:normAutofit lnSpcReduction="10000"/>
          </a:bodyPr>
          <a:lstStyle/>
          <a:p>
            <a:pPr marL="0" indent="0" algn="l">
              <a:buNone/>
            </a:pPr>
            <a:r>
              <a:rPr lang="en-US" sz="2325" b="1" dirty="0">
                <a:solidFill>
                  <a:srgbClr val="124B68"/>
                </a:solidFill>
                <a:latin typeface="Arial" pitchFamily="34" charset="0"/>
                <a:ea typeface="Arial" pitchFamily="34" charset="-122"/>
                <a:cs typeface="Arial" pitchFamily="34" charset="-120"/>
              </a:rPr>
              <a:t>Chlor-alkali, 700 TPD</a:t>
            </a:r>
            <a:endParaRPr lang="en-US" sz="2325" dirty="0"/>
          </a:p>
        </p:txBody>
      </p:sp>
      <p:sp>
        <p:nvSpPr>
          <p:cNvPr id="34" name="Shape 32"/>
          <p:cNvSpPr/>
          <p:nvPr/>
        </p:nvSpPr>
        <p:spPr>
          <a:xfrm>
            <a:off x="5526881" y="5211128"/>
            <a:ext cx="3002518" cy="9525"/>
          </a:xfrm>
          <a:prstGeom prst="rect">
            <a:avLst/>
          </a:prstGeom>
          <a:solidFill>
            <a:srgbClr val="DCE8ED"/>
          </a:solidFill>
          <a:ln/>
        </p:spPr>
      </p:sp>
      <p:sp>
        <p:nvSpPr>
          <p:cNvPr id="35" name="Text 33"/>
          <p:cNvSpPr/>
          <p:nvPr/>
        </p:nvSpPr>
        <p:spPr>
          <a:xfrm>
            <a:off x="5817806" y="5466398"/>
            <a:ext cx="2711594" cy="396240"/>
          </a:xfrm>
          <a:prstGeom prst="rect">
            <a:avLst/>
          </a:prstGeom>
          <a:noFill/>
          <a:ln/>
        </p:spPr>
        <p:txBody>
          <a:bodyPr wrap="none" lIns="25400" tIns="25400" rIns="25400" bIns="25400" rtlCol="0" anchor="ctr">
            <a:normAutofit lnSpcReduction="10000"/>
          </a:bodyPr>
          <a:lstStyle/>
          <a:p>
            <a:pPr marL="0" indent="0" algn="r">
              <a:buNone/>
            </a:pPr>
            <a:r>
              <a:rPr lang="en-US" sz="2325" dirty="0">
                <a:solidFill>
                  <a:srgbClr val="6B7C89"/>
                </a:solidFill>
                <a:latin typeface="Arial" pitchFamily="34" charset="0"/>
                <a:ea typeface="Arial" pitchFamily="34" charset="-122"/>
                <a:cs typeface="Arial" pitchFamily="34" charset="-120"/>
              </a:rPr>
              <a:t>₹7.196 cr</a:t>
            </a:r>
            <a:endParaRPr lang="en-US" sz="2325" dirty="0"/>
          </a:p>
        </p:txBody>
      </p:sp>
      <p:sp>
        <p:nvSpPr>
          <p:cNvPr id="36" name="Shape 34"/>
          <p:cNvSpPr/>
          <p:nvPr/>
        </p:nvSpPr>
        <p:spPr>
          <a:xfrm>
            <a:off x="8529400" y="5211128"/>
            <a:ext cx="4309229" cy="9525"/>
          </a:xfrm>
          <a:prstGeom prst="rect">
            <a:avLst/>
          </a:prstGeom>
          <a:solidFill>
            <a:srgbClr val="DCE8ED"/>
          </a:solidFill>
          <a:ln/>
        </p:spPr>
      </p:sp>
      <p:sp>
        <p:nvSpPr>
          <p:cNvPr id="37" name="Text 35"/>
          <p:cNvSpPr/>
          <p:nvPr/>
        </p:nvSpPr>
        <p:spPr>
          <a:xfrm>
            <a:off x="8781123" y="5466398"/>
            <a:ext cx="4057506" cy="396240"/>
          </a:xfrm>
          <a:prstGeom prst="rect">
            <a:avLst/>
          </a:prstGeom>
          <a:noFill/>
          <a:ln/>
        </p:spPr>
        <p:txBody>
          <a:bodyPr wrap="none" lIns="25400" tIns="25400" rIns="25400" bIns="25400" rtlCol="0" anchor="ctr">
            <a:normAutofit lnSpcReduction="10000"/>
          </a:bodyPr>
          <a:lstStyle/>
          <a:p>
            <a:pPr marL="0" indent="0" algn="r">
              <a:buNone/>
            </a:pPr>
            <a:r>
              <a:rPr lang="en-US" sz="2325" b="1" dirty="0">
                <a:solidFill>
                  <a:srgbClr val="22A06B"/>
                </a:solidFill>
                <a:latin typeface="Arial" pitchFamily="34" charset="0"/>
                <a:ea typeface="Arial" pitchFamily="34" charset="-122"/>
                <a:cs typeface="Arial" pitchFamily="34" charset="-120"/>
              </a:rPr>
              <a:t>₹7.128 cr</a:t>
            </a:r>
            <a:endParaRPr lang="en-US" sz="2325" dirty="0"/>
          </a:p>
        </p:txBody>
      </p:sp>
      <p:sp>
        <p:nvSpPr>
          <p:cNvPr id="38" name="Shape 36"/>
          <p:cNvSpPr/>
          <p:nvPr/>
        </p:nvSpPr>
        <p:spPr>
          <a:xfrm>
            <a:off x="12838629" y="5211128"/>
            <a:ext cx="4070152" cy="9525"/>
          </a:xfrm>
          <a:prstGeom prst="rect">
            <a:avLst/>
          </a:prstGeom>
          <a:solidFill>
            <a:srgbClr val="DCE8ED"/>
          </a:solidFill>
          <a:ln/>
        </p:spPr>
      </p:sp>
      <p:sp>
        <p:nvSpPr>
          <p:cNvPr id="40" name="Shape 38"/>
          <p:cNvSpPr/>
          <p:nvPr/>
        </p:nvSpPr>
        <p:spPr>
          <a:xfrm>
            <a:off x="1379220" y="6072188"/>
            <a:ext cx="4147661" cy="9525"/>
          </a:xfrm>
          <a:prstGeom prst="rect">
            <a:avLst/>
          </a:prstGeom>
          <a:solidFill>
            <a:srgbClr val="DCE8ED"/>
          </a:solidFill>
          <a:ln/>
        </p:spPr>
      </p:sp>
      <p:sp>
        <p:nvSpPr>
          <p:cNvPr id="41" name="Text 39"/>
          <p:cNvSpPr/>
          <p:nvPr/>
        </p:nvSpPr>
        <p:spPr>
          <a:xfrm>
            <a:off x="1379220" y="6327458"/>
            <a:ext cx="4272091" cy="392430"/>
          </a:xfrm>
          <a:prstGeom prst="rect">
            <a:avLst/>
          </a:prstGeom>
          <a:noFill/>
          <a:ln/>
        </p:spPr>
        <p:txBody>
          <a:bodyPr wrap="square" lIns="25400" tIns="25400" rIns="25400" bIns="25400" rtlCol="0" anchor="ctr">
            <a:normAutofit lnSpcReduction="10000"/>
          </a:bodyPr>
          <a:lstStyle/>
          <a:p>
            <a:pPr marL="0" indent="0" algn="l">
              <a:buNone/>
            </a:pPr>
            <a:r>
              <a:rPr lang="en-US" sz="2325" b="1" dirty="0">
                <a:solidFill>
                  <a:srgbClr val="124B68"/>
                </a:solidFill>
                <a:latin typeface="Arial" pitchFamily="34" charset="0"/>
                <a:ea typeface="Arial" pitchFamily="34" charset="-122"/>
                <a:cs typeface="Arial" pitchFamily="34" charset="-120"/>
              </a:rPr>
              <a:t>Refinery utilities block</a:t>
            </a:r>
            <a:endParaRPr lang="en-US" sz="2325" dirty="0"/>
          </a:p>
        </p:txBody>
      </p:sp>
      <p:sp>
        <p:nvSpPr>
          <p:cNvPr id="42" name="Shape 40"/>
          <p:cNvSpPr/>
          <p:nvPr/>
        </p:nvSpPr>
        <p:spPr>
          <a:xfrm>
            <a:off x="5526881" y="6072188"/>
            <a:ext cx="3002518" cy="9525"/>
          </a:xfrm>
          <a:prstGeom prst="rect">
            <a:avLst/>
          </a:prstGeom>
          <a:solidFill>
            <a:srgbClr val="DCE8ED"/>
          </a:solidFill>
          <a:ln/>
        </p:spPr>
      </p:sp>
      <p:sp>
        <p:nvSpPr>
          <p:cNvPr id="43" name="Text 41"/>
          <p:cNvSpPr/>
          <p:nvPr/>
        </p:nvSpPr>
        <p:spPr>
          <a:xfrm>
            <a:off x="5817806" y="6327458"/>
            <a:ext cx="2711594" cy="392430"/>
          </a:xfrm>
          <a:prstGeom prst="rect">
            <a:avLst/>
          </a:prstGeom>
          <a:noFill/>
          <a:ln/>
        </p:spPr>
        <p:txBody>
          <a:bodyPr wrap="none" lIns="25400" tIns="25400" rIns="25400" bIns="25400" rtlCol="0" anchor="ctr">
            <a:normAutofit lnSpcReduction="10000"/>
          </a:bodyPr>
          <a:lstStyle/>
          <a:p>
            <a:pPr marL="0" indent="0" algn="r">
              <a:buNone/>
            </a:pPr>
            <a:r>
              <a:rPr lang="en-US" sz="2325" dirty="0">
                <a:solidFill>
                  <a:srgbClr val="6B7C89"/>
                </a:solidFill>
                <a:latin typeface="Arial" pitchFamily="34" charset="0"/>
                <a:ea typeface="Arial" pitchFamily="34" charset="-122"/>
                <a:cs typeface="Arial" pitchFamily="34" charset="-120"/>
              </a:rPr>
              <a:t>₹9.167 cr</a:t>
            </a:r>
            <a:endParaRPr lang="en-US" sz="2325" dirty="0"/>
          </a:p>
        </p:txBody>
      </p:sp>
      <p:sp>
        <p:nvSpPr>
          <p:cNvPr id="44" name="Shape 42"/>
          <p:cNvSpPr/>
          <p:nvPr/>
        </p:nvSpPr>
        <p:spPr>
          <a:xfrm>
            <a:off x="8529400" y="6072188"/>
            <a:ext cx="4309229" cy="9525"/>
          </a:xfrm>
          <a:prstGeom prst="rect">
            <a:avLst/>
          </a:prstGeom>
          <a:solidFill>
            <a:srgbClr val="DCE8ED"/>
          </a:solidFill>
          <a:ln/>
        </p:spPr>
      </p:sp>
      <p:sp>
        <p:nvSpPr>
          <p:cNvPr id="45" name="Text 43"/>
          <p:cNvSpPr/>
          <p:nvPr/>
        </p:nvSpPr>
        <p:spPr>
          <a:xfrm>
            <a:off x="8781123" y="6327458"/>
            <a:ext cx="4057506" cy="392430"/>
          </a:xfrm>
          <a:prstGeom prst="rect">
            <a:avLst/>
          </a:prstGeom>
          <a:noFill/>
          <a:ln/>
        </p:spPr>
        <p:txBody>
          <a:bodyPr wrap="none" lIns="25400" tIns="25400" rIns="25400" bIns="25400" rtlCol="0" anchor="ctr">
            <a:normAutofit lnSpcReduction="10000"/>
          </a:bodyPr>
          <a:lstStyle/>
          <a:p>
            <a:pPr marL="0" indent="0" algn="r">
              <a:buNone/>
            </a:pPr>
            <a:r>
              <a:rPr lang="en-US" sz="2325" b="1" dirty="0">
                <a:solidFill>
                  <a:srgbClr val="22A06B"/>
                </a:solidFill>
                <a:latin typeface="Arial" pitchFamily="34" charset="0"/>
                <a:ea typeface="Arial" pitchFamily="34" charset="-122"/>
                <a:cs typeface="Arial" pitchFamily="34" charset="-120"/>
              </a:rPr>
              <a:t>₹8.862 cr</a:t>
            </a:r>
            <a:endParaRPr lang="en-US" sz="2325" dirty="0"/>
          </a:p>
        </p:txBody>
      </p:sp>
      <p:sp>
        <p:nvSpPr>
          <p:cNvPr id="46" name="Shape 44"/>
          <p:cNvSpPr/>
          <p:nvPr/>
        </p:nvSpPr>
        <p:spPr>
          <a:xfrm>
            <a:off x="12838629" y="6072188"/>
            <a:ext cx="4070152" cy="9525"/>
          </a:xfrm>
          <a:prstGeom prst="rect">
            <a:avLst/>
          </a:prstGeom>
          <a:solidFill>
            <a:srgbClr val="DCE8ED"/>
          </a:solidFill>
          <a:ln/>
        </p:spPr>
      </p:sp>
      <p:sp>
        <p:nvSpPr>
          <p:cNvPr id="48" name="Text 46"/>
          <p:cNvSpPr/>
          <p:nvPr/>
        </p:nvSpPr>
        <p:spPr>
          <a:xfrm>
            <a:off x="1379220" y="7062788"/>
            <a:ext cx="17082516" cy="327660"/>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6B7C89"/>
                </a:solidFill>
                <a:latin typeface="Arial" pitchFamily="34" charset="0"/>
                <a:ea typeface="Arial" pitchFamily="34" charset="-122"/>
                <a:cs typeface="Arial" pitchFamily="34" charset="-120"/>
              </a:rPr>
              <a:t>Both schedules settled at the same real bill. Same physics, same days — only the price the optimiser was shown differs.</a:t>
            </a:r>
            <a:endParaRPr lang="en-US" sz="1875" dirty="0"/>
          </a:p>
        </p:txBody>
      </p:sp>
      <p:sp>
        <p:nvSpPr>
          <p:cNvPr id="49" name="Shape 47"/>
          <p:cNvSpPr/>
          <p:nvPr/>
        </p:nvSpPr>
        <p:spPr>
          <a:xfrm>
            <a:off x="990600" y="8991600"/>
            <a:ext cx="16306800" cy="9525"/>
          </a:xfrm>
          <a:prstGeom prst="rect">
            <a:avLst/>
          </a:prstGeom>
          <a:solidFill>
            <a:srgbClr val="DCE8ED"/>
          </a:solidFill>
          <a:ln/>
        </p:spPr>
      </p:sp>
      <p:sp>
        <p:nvSpPr>
          <p:cNvPr id="50" name="Text 48"/>
          <p:cNvSpPr/>
          <p:nvPr/>
        </p:nvSpPr>
        <p:spPr>
          <a:xfrm>
            <a:off x="990600" y="9189720"/>
            <a:ext cx="16796004" cy="44958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2400" b="1" dirty="0">
                <a:solidFill>
                  <a:srgbClr val="124B68"/>
                </a:solidFill>
                <a:latin typeface="Arial" pitchFamily="34" charset="0"/>
                <a:ea typeface="Arial" pitchFamily="34" charset="-122"/>
                <a:cs typeface="Arial" pitchFamily="34" charset="-120"/>
              </a:rPr>
              <a:t>PRANA optimises against the cost the plant actually pays.</a:t>
            </a:r>
            <a:endParaRPr lang="en-US" sz="2400" dirty="0"/>
          </a:p>
        </p:txBody>
      </p:sp>
      <p:sp>
        <p:nvSpPr>
          <p:cNvPr id="52" name="Text 4">
            <a:extLst>
              <a:ext uri="{FF2B5EF4-FFF2-40B4-BE49-F238E27FC236}">
                <a16:creationId xmlns:a16="http://schemas.microsoft.com/office/drawing/2014/main" id="{56A9E36C-1200-F480-076A-133E57B9044F}"/>
              </a:ext>
            </a:extLst>
          </p:cNvPr>
          <p:cNvSpPr/>
          <p:nvPr/>
        </p:nvSpPr>
        <p:spPr>
          <a:xfrm>
            <a:off x="1062789" y="3071160"/>
            <a:ext cx="14656034" cy="127254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2400" dirty="0">
                <a:solidFill>
                  <a:srgbClr val="17324D"/>
                </a:solidFill>
                <a:latin typeface="Arial" pitchFamily="34" charset="0"/>
                <a:ea typeface="Arial" pitchFamily="34" charset="-122"/>
                <a:cs typeface="Arial" pitchFamily="34" charset="-120"/>
              </a:rPr>
              <a:t>The market clearing price is about 60% of what an industrial consumer pays. Wheeling, surcharges, duty and the demand charge on peak kVA are the other 46% of the bill so we put them inside the optimisation rather than after it.</a:t>
            </a:r>
            <a:endParaRPr lang="en-US" sz="2400" dirty="0"/>
          </a:p>
        </p:txBody>
      </p:sp>
      <p:sp>
        <p:nvSpPr>
          <p:cNvPr id="54" name="Shape 32">
            <a:extLst>
              <a:ext uri="{FF2B5EF4-FFF2-40B4-BE49-F238E27FC236}">
                <a16:creationId xmlns:a16="http://schemas.microsoft.com/office/drawing/2014/main" id="{D6580460-37B4-B6FB-DCB8-F5B8D54FEEF1}"/>
              </a:ext>
            </a:extLst>
          </p:cNvPr>
          <p:cNvSpPr/>
          <p:nvPr/>
        </p:nvSpPr>
        <p:spPr>
          <a:xfrm>
            <a:off x="990600" y="7914084"/>
            <a:ext cx="16306800" cy="1687116"/>
          </a:xfrm>
          <a:prstGeom prst="roundRect">
            <a:avLst>
              <a:gd name="adj" fmla="val 7904"/>
            </a:avLst>
          </a:prstGeom>
          <a:solidFill>
            <a:srgbClr val="EAF7F1"/>
          </a:solidFill>
          <a:ln w="7620">
            <a:solidFill>
              <a:srgbClr val="BFE5D4"/>
            </a:solidFill>
            <a:prstDash val="solid"/>
          </a:ln>
        </p:spPr>
      </p:sp>
      <p:sp>
        <p:nvSpPr>
          <p:cNvPr id="60" name="Text 33">
            <a:extLst>
              <a:ext uri="{FF2B5EF4-FFF2-40B4-BE49-F238E27FC236}">
                <a16:creationId xmlns:a16="http://schemas.microsoft.com/office/drawing/2014/main" id="{810D6F3B-192E-4F38-7B2D-9A14E8F01D02}"/>
              </a:ext>
            </a:extLst>
          </p:cNvPr>
          <p:cNvSpPr/>
          <p:nvPr/>
        </p:nvSpPr>
        <p:spPr>
          <a:xfrm>
            <a:off x="1322070" y="8169354"/>
            <a:ext cx="15975330" cy="1214676"/>
          </a:xfrm>
          <a:prstGeom prst="rect">
            <a:avLst/>
          </a:prstGeom>
          <a:noFill/>
          <a:ln/>
        </p:spPr>
        <p:txBody>
          <a:bodyPr wrap="square" lIns="25400" tIns="25400" rIns="25400" bIns="25400" rtlCol="0" anchor="t">
            <a:normAutofit lnSpcReduction="10000"/>
          </a:bodyPr>
          <a:lstStyle/>
          <a:p>
            <a:pPr marL="0" indent="0" algn="l">
              <a:lnSpc>
                <a:spcPct val="122560"/>
              </a:lnSpc>
              <a:buNone/>
            </a:pPr>
            <a:r>
              <a:rPr lang="en-US" sz="2175" b="1" dirty="0">
                <a:solidFill>
                  <a:srgbClr val="124B68"/>
                </a:solidFill>
                <a:latin typeface="Arial" pitchFamily="34" charset="0"/>
                <a:ea typeface="Arial" pitchFamily="34" charset="-122"/>
                <a:cs typeface="Arial" pitchFamily="34" charset="-120"/>
              </a:rPr>
              <a:t>The regulator is pushing the same way. </a:t>
            </a:r>
            <a:r>
              <a:rPr lang="en-US" sz="2175" dirty="0">
                <a:solidFill>
                  <a:srgbClr val="17324D"/>
                </a:solidFill>
                <a:latin typeface="Arial" pitchFamily="34" charset="0"/>
                <a:ea typeface="Arial" pitchFamily="34" charset="-122"/>
                <a:cs typeface="Arial" pitchFamily="34" charset="-120"/>
              </a:rPr>
              <a:t>MERC's post-remand order removes the night rebate because it competes with shifting load into solar hours, and the demand charge rises 15% over four years while the energy charge falls 12%. Flexibility gets more valuable on the published trajectory, not less.</a:t>
            </a:r>
            <a:endParaRPr lang="en-US" sz="2175" dirty="0"/>
          </a:p>
        </p:txBody>
      </p:sp>
      <p:sp>
        <p:nvSpPr>
          <p:cNvPr id="62" name="Text 9">
            <a:extLst>
              <a:ext uri="{FF2B5EF4-FFF2-40B4-BE49-F238E27FC236}">
                <a16:creationId xmlns:a16="http://schemas.microsoft.com/office/drawing/2014/main" id="{E5C0F78E-61E9-11B5-C1E5-D40072265ED5}"/>
              </a:ext>
            </a:extLst>
          </p:cNvPr>
          <p:cNvSpPr/>
          <p:nvPr/>
        </p:nvSpPr>
        <p:spPr>
          <a:xfrm>
            <a:off x="12847851" y="4621637"/>
            <a:ext cx="1530104" cy="622176"/>
          </a:xfrm>
          <a:prstGeom prst="rect">
            <a:avLst/>
          </a:prstGeom>
          <a:noFill/>
          <a:ln/>
        </p:spPr>
        <p:txBody>
          <a:bodyPr wrap="square" lIns="25400" tIns="25400" rIns="25400" bIns="25400" rtlCol="0" anchor="ctr">
            <a:normAutofit/>
          </a:bodyPr>
          <a:lstStyle/>
          <a:p>
            <a:pPr marL="0" indent="0" algn="r">
              <a:buNone/>
            </a:pPr>
            <a:r>
              <a:rPr lang="en-US" sz="1875" b="1" kern="0" spc="113" dirty="0">
                <a:solidFill>
                  <a:srgbClr val="6B7C89"/>
                </a:solidFill>
                <a:latin typeface="Arial" pitchFamily="34" charset="0"/>
                <a:ea typeface="Arial" pitchFamily="34" charset="-122"/>
                <a:cs typeface="Arial" pitchFamily="34" charset="-120"/>
              </a:rPr>
              <a:t>PENALTY</a:t>
            </a:r>
            <a:endParaRPr lang="en-US" sz="1875" dirty="0"/>
          </a:p>
        </p:txBody>
      </p:sp>
      <p:sp>
        <p:nvSpPr>
          <p:cNvPr id="64" name="Text 10">
            <a:extLst>
              <a:ext uri="{FF2B5EF4-FFF2-40B4-BE49-F238E27FC236}">
                <a16:creationId xmlns:a16="http://schemas.microsoft.com/office/drawing/2014/main" id="{EDF70676-ACDC-4920-B3EC-D1743539ABB8}"/>
              </a:ext>
            </a:extLst>
          </p:cNvPr>
          <p:cNvSpPr/>
          <p:nvPr/>
        </p:nvSpPr>
        <p:spPr>
          <a:xfrm>
            <a:off x="14209514" y="4669763"/>
            <a:ext cx="2867707" cy="590550"/>
          </a:xfrm>
          <a:prstGeom prst="rect">
            <a:avLst/>
          </a:prstGeom>
          <a:noFill/>
          <a:ln/>
        </p:spPr>
        <p:txBody>
          <a:bodyPr wrap="square" lIns="25400" tIns="25400" rIns="25400" bIns="25400" rtlCol="0" anchor="ctr">
            <a:normAutofit lnSpcReduction="10000"/>
          </a:bodyPr>
          <a:lstStyle/>
          <a:p>
            <a:pPr marL="0" indent="0" algn="r">
              <a:buNone/>
            </a:pPr>
            <a:r>
              <a:rPr lang="en-US" sz="1875" b="1" kern="0" spc="113" dirty="0">
                <a:solidFill>
                  <a:srgbClr val="6B7C89"/>
                </a:solidFill>
                <a:latin typeface="Arial" pitchFamily="34" charset="0"/>
                <a:ea typeface="Arial" pitchFamily="34" charset="-122"/>
                <a:cs typeface="Arial" pitchFamily="34" charset="-120"/>
              </a:rPr>
              <a:t>INDICATIVE PER YEAR</a:t>
            </a:r>
            <a:endParaRPr lang="en-US" sz="1875" dirty="0"/>
          </a:p>
        </p:txBody>
      </p:sp>
      <p:sp>
        <p:nvSpPr>
          <p:cNvPr id="66" name="Text 18">
            <a:extLst>
              <a:ext uri="{FF2B5EF4-FFF2-40B4-BE49-F238E27FC236}">
                <a16:creationId xmlns:a16="http://schemas.microsoft.com/office/drawing/2014/main" id="{FF10A264-4190-8AE3-DB3F-6F41DF76BE14}"/>
              </a:ext>
            </a:extLst>
          </p:cNvPr>
          <p:cNvSpPr/>
          <p:nvPr/>
        </p:nvSpPr>
        <p:spPr>
          <a:xfrm>
            <a:off x="12847851" y="5480492"/>
            <a:ext cx="1243727" cy="396240"/>
          </a:xfrm>
          <a:prstGeom prst="rect">
            <a:avLst/>
          </a:prstGeom>
          <a:noFill/>
          <a:ln/>
        </p:spPr>
        <p:txBody>
          <a:bodyPr wrap="none" lIns="25400" tIns="25400" rIns="25400" bIns="25400" rtlCol="0" anchor="ctr">
            <a:normAutofit lnSpcReduction="10000"/>
          </a:bodyPr>
          <a:lstStyle/>
          <a:p>
            <a:pPr marL="0" indent="0" algn="r">
              <a:buNone/>
            </a:pPr>
            <a:r>
              <a:rPr lang="en-US" sz="2325" b="1" dirty="0">
                <a:solidFill>
                  <a:srgbClr val="124B68"/>
                </a:solidFill>
                <a:latin typeface="Arial" pitchFamily="34" charset="0"/>
                <a:ea typeface="Arial" pitchFamily="34" charset="-122"/>
                <a:cs typeface="Arial" pitchFamily="34" charset="-120"/>
              </a:rPr>
              <a:t>0.95%</a:t>
            </a:r>
            <a:endParaRPr lang="en-US" sz="2325" dirty="0"/>
          </a:p>
        </p:txBody>
      </p:sp>
      <p:sp>
        <p:nvSpPr>
          <p:cNvPr id="68" name="Text 20">
            <a:extLst>
              <a:ext uri="{FF2B5EF4-FFF2-40B4-BE49-F238E27FC236}">
                <a16:creationId xmlns:a16="http://schemas.microsoft.com/office/drawing/2014/main" id="{A317DD4C-C3D9-CA71-B820-52FB4B8ECB2D}"/>
              </a:ext>
            </a:extLst>
          </p:cNvPr>
          <p:cNvSpPr/>
          <p:nvPr/>
        </p:nvSpPr>
        <p:spPr>
          <a:xfrm>
            <a:off x="13968884" y="5480492"/>
            <a:ext cx="2867707" cy="396240"/>
          </a:xfrm>
          <a:prstGeom prst="rect">
            <a:avLst/>
          </a:prstGeom>
          <a:noFill/>
          <a:ln/>
        </p:spPr>
        <p:txBody>
          <a:bodyPr wrap="none" lIns="25400" tIns="25400" rIns="25400" bIns="25400" rtlCol="0" anchor="ctr">
            <a:normAutofit lnSpcReduction="10000"/>
          </a:bodyPr>
          <a:lstStyle/>
          <a:p>
            <a:pPr marL="0" indent="0" algn="r">
              <a:buNone/>
            </a:pPr>
            <a:r>
              <a:rPr lang="en-US" sz="2325" b="1" dirty="0">
                <a:solidFill>
                  <a:srgbClr val="124B68"/>
                </a:solidFill>
                <a:latin typeface="Arial" pitchFamily="34" charset="0"/>
                <a:ea typeface="Arial" pitchFamily="34" charset="-122"/>
                <a:cs typeface="Arial" pitchFamily="34" charset="-120"/>
              </a:rPr>
              <a:t>₹5.0 cr</a:t>
            </a:r>
            <a:endParaRPr lang="en-US" sz="2325" dirty="0"/>
          </a:p>
        </p:txBody>
      </p:sp>
      <p:sp>
        <p:nvSpPr>
          <p:cNvPr id="70" name="Text 28">
            <a:extLst>
              <a:ext uri="{FF2B5EF4-FFF2-40B4-BE49-F238E27FC236}">
                <a16:creationId xmlns:a16="http://schemas.microsoft.com/office/drawing/2014/main" id="{2A3EDB27-0667-9DC9-4194-DE5F82591C85}"/>
              </a:ext>
            </a:extLst>
          </p:cNvPr>
          <p:cNvSpPr/>
          <p:nvPr/>
        </p:nvSpPr>
        <p:spPr>
          <a:xfrm>
            <a:off x="12847851" y="6379652"/>
            <a:ext cx="1243727" cy="392430"/>
          </a:xfrm>
          <a:prstGeom prst="rect">
            <a:avLst/>
          </a:prstGeom>
          <a:noFill/>
          <a:ln/>
        </p:spPr>
        <p:txBody>
          <a:bodyPr wrap="none" lIns="25400" tIns="25400" rIns="25400" bIns="25400" rtlCol="0" anchor="ctr">
            <a:normAutofit lnSpcReduction="10000"/>
          </a:bodyPr>
          <a:lstStyle/>
          <a:p>
            <a:pPr marL="0" indent="0" algn="r">
              <a:buNone/>
            </a:pPr>
            <a:r>
              <a:rPr lang="en-US" sz="2325" b="1" dirty="0">
                <a:solidFill>
                  <a:srgbClr val="124B68"/>
                </a:solidFill>
                <a:latin typeface="Arial" pitchFamily="34" charset="0"/>
                <a:ea typeface="Arial" pitchFamily="34" charset="-122"/>
                <a:cs typeface="Arial" pitchFamily="34" charset="-120"/>
              </a:rPr>
              <a:t>3.33%</a:t>
            </a:r>
            <a:endParaRPr lang="en-US" sz="2325" dirty="0"/>
          </a:p>
        </p:txBody>
      </p:sp>
      <p:sp>
        <p:nvSpPr>
          <p:cNvPr id="72" name="Text 30">
            <a:extLst>
              <a:ext uri="{FF2B5EF4-FFF2-40B4-BE49-F238E27FC236}">
                <a16:creationId xmlns:a16="http://schemas.microsoft.com/office/drawing/2014/main" id="{7FF1E757-F2CF-3A3B-7EC2-D7EEFD214376}"/>
              </a:ext>
            </a:extLst>
          </p:cNvPr>
          <p:cNvSpPr/>
          <p:nvPr/>
        </p:nvSpPr>
        <p:spPr>
          <a:xfrm>
            <a:off x="13968884" y="6379652"/>
            <a:ext cx="2867707" cy="392430"/>
          </a:xfrm>
          <a:prstGeom prst="rect">
            <a:avLst/>
          </a:prstGeom>
          <a:noFill/>
          <a:ln/>
        </p:spPr>
        <p:txBody>
          <a:bodyPr wrap="none" lIns="25400" tIns="25400" rIns="25400" bIns="25400" rtlCol="0" anchor="ctr">
            <a:normAutofit lnSpcReduction="10000"/>
          </a:bodyPr>
          <a:lstStyle/>
          <a:p>
            <a:pPr marL="0" indent="0" algn="r">
              <a:buNone/>
            </a:pPr>
            <a:r>
              <a:rPr lang="en-US" sz="2325" b="1" dirty="0">
                <a:solidFill>
                  <a:srgbClr val="124B68"/>
                </a:solidFill>
                <a:latin typeface="Arial" pitchFamily="34" charset="0"/>
                <a:ea typeface="Arial" pitchFamily="34" charset="-122"/>
                <a:cs typeface="Arial" pitchFamily="34" charset="-120"/>
              </a:rPr>
              <a:t>₹22.3 cr</a:t>
            </a:r>
            <a:endParaRPr lang="en-US" sz="23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3638050"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PROOF · CASE STUDY</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09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Shape 3"/>
          <p:cNvSpPr/>
          <p:nvPr/>
        </p:nvSpPr>
        <p:spPr>
          <a:xfrm>
            <a:off x="990600" y="1553289"/>
            <a:ext cx="2646045" cy="518160"/>
          </a:xfrm>
          <a:prstGeom prst="roundRect">
            <a:avLst>
              <a:gd name="adj" fmla="val 14706"/>
            </a:avLst>
          </a:prstGeom>
          <a:solidFill>
            <a:srgbClr val="EAF7F1"/>
          </a:solidFill>
          <a:ln w="7620">
            <a:solidFill>
              <a:srgbClr val="BFE5D4"/>
            </a:solidFill>
            <a:prstDash val="solid"/>
          </a:ln>
        </p:spPr>
      </p:sp>
      <p:sp>
        <p:nvSpPr>
          <p:cNvPr id="6" name="Text 4"/>
          <p:cNvSpPr/>
          <p:nvPr/>
        </p:nvSpPr>
        <p:spPr>
          <a:xfrm>
            <a:off x="1169670" y="1675209"/>
            <a:ext cx="2367287" cy="312420"/>
          </a:xfrm>
          <a:prstGeom prst="rect">
            <a:avLst/>
          </a:prstGeom>
          <a:noFill/>
          <a:ln/>
        </p:spPr>
        <p:txBody>
          <a:bodyPr wrap="none" lIns="25400" tIns="25400" rIns="25400" bIns="25400" rtlCol="0" anchor="t">
            <a:normAutofit lnSpcReduction="10000"/>
          </a:bodyPr>
          <a:lstStyle/>
          <a:p>
            <a:pPr marL="0" indent="0" algn="l">
              <a:buNone/>
            </a:pPr>
            <a:r>
              <a:rPr lang="en-US" sz="1875" b="1" kern="0" spc="188" dirty="0">
                <a:solidFill>
                  <a:srgbClr val="22A06B"/>
                </a:solidFill>
                <a:latin typeface="Arial" pitchFamily="34" charset="0"/>
                <a:ea typeface="Arial" pitchFamily="34" charset="-122"/>
                <a:cs typeface="Arial" pitchFamily="34" charset="-120"/>
              </a:rPr>
              <a:t>DEMONSTRATOR</a:t>
            </a:r>
            <a:endParaRPr lang="en-US" sz="1875" dirty="0"/>
          </a:p>
        </p:txBody>
      </p:sp>
      <p:sp>
        <p:nvSpPr>
          <p:cNvPr id="7" name="Text 5"/>
          <p:cNvSpPr/>
          <p:nvPr/>
        </p:nvSpPr>
        <p:spPr>
          <a:xfrm>
            <a:off x="3846195" y="1529715"/>
            <a:ext cx="11196911" cy="603409"/>
          </a:xfrm>
          <a:prstGeom prst="rect">
            <a:avLst/>
          </a:prstGeom>
          <a:noFill/>
          <a:ln/>
        </p:spPr>
        <p:txBody>
          <a:bodyPr wrap="square" lIns="25400" tIns="25400" rIns="25400" bIns="25400" rtlCol="0" anchor="t">
            <a:normAutofit lnSpcReduction="10000"/>
          </a:bodyPr>
          <a:lstStyle/>
          <a:p>
            <a:pPr marL="0" indent="0" algn="l">
              <a:lnSpc>
                <a:spcPct val="92750"/>
              </a:lnSpc>
              <a:buNone/>
            </a:pPr>
            <a:r>
              <a:rPr lang="en-US" sz="4200" b="1" kern="0" spc="-105" dirty="0">
                <a:solidFill>
                  <a:srgbClr val="124B68"/>
                </a:solidFill>
                <a:latin typeface="Arial" pitchFamily="34" charset="0"/>
                <a:ea typeface="Arial" pitchFamily="34" charset="-122"/>
                <a:cs typeface="Arial" pitchFamily="34" charset="-120"/>
              </a:rPr>
              <a:t>Demonstrated on a 700 TPD chlor-alkali case</a:t>
            </a:r>
            <a:endParaRPr lang="en-US" sz="4200" dirty="0"/>
          </a:p>
        </p:txBody>
      </p:sp>
      <p:sp>
        <p:nvSpPr>
          <p:cNvPr id="8" name="Text 6"/>
          <p:cNvSpPr/>
          <p:nvPr/>
        </p:nvSpPr>
        <p:spPr>
          <a:xfrm>
            <a:off x="990600" y="2247424"/>
            <a:ext cx="14854089" cy="809625"/>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2250" dirty="0">
                <a:solidFill>
                  <a:srgbClr val="17324D"/>
                </a:solidFill>
                <a:latin typeface="Arial" pitchFamily="34" charset="0"/>
                <a:ea typeface="Arial" pitchFamily="34" charset="-122"/>
                <a:cs typeface="Arial" pitchFamily="34" charset="-120"/>
              </a:rPr>
              <a:t>120 consecutive delivery days, replayed at settled prices, against the plant's real counterfactual: one steady setpoint per asset held all day.</a:t>
            </a:r>
            <a:endParaRPr lang="en-US" sz="2250" dirty="0"/>
          </a:p>
        </p:txBody>
      </p:sp>
      <p:sp>
        <p:nvSpPr>
          <p:cNvPr id="9" name="Shape 7"/>
          <p:cNvSpPr/>
          <p:nvPr/>
        </p:nvSpPr>
        <p:spPr>
          <a:xfrm>
            <a:off x="990600" y="3266599"/>
            <a:ext cx="7631430" cy="1870710"/>
          </a:xfrm>
          <a:prstGeom prst="roundRect">
            <a:avLst>
              <a:gd name="adj" fmla="val 7128"/>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10" name="Text 8"/>
          <p:cNvSpPr/>
          <p:nvPr/>
        </p:nvSpPr>
        <p:spPr>
          <a:xfrm>
            <a:off x="1341120" y="3445669"/>
            <a:ext cx="7623429" cy="762000"/>
          </a:xfrm>
          <a:prstGeom prst="rect">
            <a:avLst/>
          </a:prstGeom>
          <a:noFill/>
          <a:ln/>
        </p:spPr>
        <p:txBody>
          <a:bodyPr wrap="square" lIns="25400" tIns="25400" rIns="25400" bIns="25400" rtlCol="0" anchor="t">
            <a:normAutofit lnSpcReduction="10000"/>
          </a:bodyPr>
          <a:lstStyle/>
          <a:p>
            <a:pPr marL="0" indent="0" algn="l">
              <a:lnSpc>
                <a:spcPct val="87156"/>
              </a:lnSpc>
              <a:buNone/>
            </a:pPr>
            <a:r>
              <a:rPr lang="en-US" sz="5700" b="1" kern="0" spc="-228" dirty="0">
                <a:solidFill>
                  <a:srgbClr val="22A06B"/>
                </a:solidFill>
                <a:latin typeface="Arial" pitchFamily="34" charset="0"/>
                <a:ea typeface="Arial" pitchFamily="34" charset="-122"/>
                <a:cs typeface="Arial" pitchFamily="34" charset="-120"/>
              </a:rPr>
              <a:t>₹0.133</a:t>
            </a:r>
            <a:endParaRPr lang="en-US" sz="5700" dirty="0"/>
          </a:p>
        </p:txBody>
      </p:sp>
      <p:sp>
        <p:nvSpPr>
          <p:cNvPr id="11" name="Text 9"/>
          <p:cNvSpPr/>
          <p:nvPr/>
        </p:nvSpPr>
        <p:spPr>
          <a:xfrm>
            <a:off x="1341120" y="4264819"/>
            <a:ext cx="7138302" cy="731520"/>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2100" dirty="0">
                <a:solidFill>
                  <a:srgbClr val="17324D"/>
                </a:solidFill>
                <a:latin typeface="Arial" pitchFamily="34" charset="0"/>
                <a:ea typeface="Arial" pitchFamily="34" charset="-122"/>
                <a:cs typeface="Arial" pitchFamily="34" charset="-120"/>
              </a:rPr>
              <a:t>net saving per kWh of total plant load, with real forecast error</a:t>
            </a:r>
            <a:endParaRPr lang="en-US" sz="2100" dirty="0"/>
          </a:p>
        </p:txBody>
      </p:sp>
      <p:sp>
        <p:nvSpPr>
          <p:cNvPr id="12" name="Shape 10"/>
          <p:cNvSpPr/>
          <p:nvPr/>
        </p:nvSpPr>
        <p:spPr>
          <a:xfrm>
            <a:off x="990600" y="5327809"/>
            <a:ext cx="2416731" cy="1562100"/>
          </a:xfrm>
          <a:prstGeom prst="roundRect">
            <a:avLst>
              <a:gd name="adj" fmla="val 8537"/>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13" name="Text 11"/>
          <p:cNvSpPr/>
          <p:nvPr/>
        </p:nvSpPr>
        <p:spPr>
          <a:xfrm>
            <a:off x="1226820" y="5541169"/>
            <a:ext cx="2138720" cy="478155"/>
          </a:xfrm>
          <a:prstGeom prst="rect">
            <a:avLst/>
          </a:prstGeom>
          <a:noFill/>
          <a:ln/>
        </p:spPr>
        <p:txBody>
          <a:bodyPr wrap="none" lIns="25400" tIns="25400" rIns="25400" bIns="25400" rtlCol="0" anchor="t">
            <a:normAutofit lnSpcReduction="10000"/>
          </a:bodyPr>
          <a:lstStyle/>
          <a:p>
            <a:pPr marL="0" indent="0" algn="l">
              <a:lnSpc>
                <a:spcPct val="90234"/>
              </a:lnSpc>
              <a:buNone/>
            </a:pPr>
            <a:r>
              <a:rPr lang="en-US" sz="3300" b="1" dirty="0">
                <a:solidFill>
                  <a:srgbClr val="124B68"/>
                </a:solidFill>
                <a:latin typeface="Arial" pitchFamily="34" charset="0"/>
                <a:ea typeface="Arial" pitchFamily="34" charset="-122"/>
                <a:cs typeface="Arial" pitchFamily="34" charset="-120"/>
              </a:rPr>
              <a:t>₹9.17 cr</a:t>
            </a:r>
            <a:endParaRPr lang="en-US" sz="3300" dirty="0"/>
          </a:p>
        </p:txBody>
      </p:sp>
      <p:sp>
        <p:nvSpPr>
          <p:cNvPr id="14" name="Text 12"/>
          <p:cNvSpPr/>
          <p:nvPr/>
        </p:nvSpPr>
        <p:spPr>
          <a:xfrm>
            <a:off x="1226820" y="6057424"/>
            <a:ext cx="2020491" cy="657225"/>
          </a:xfrm>
          <a:prstGeom prst="rect">
            <a:avLst/>
          </a:prstGeom>
          <a:noFill/>
          <a:ln/>
        </p:spPr>
        <p:txBody>
          <a:bodyPr wrap="square" lIns="25400" tIns="25400" rIns="25400" bIns="25400" rtlCol="0" anchor="t">
            <a:normAutofit lnSpcReduction="10000"/>
          </a:bodyPr>
          <a:lstStyle/>
          <a:p>
            <a:pPr marL="0" indent="0" algn="l">
              <a:lnSpc>
                <a:spcPct val="112847"/>
              </a:lnSpc>
              <a:buNone/>
            </a:pPr>
            <a:r>
              <a:rPr lang="en-US" sz="1875" dirty="0">
                <a:solidFill>
                  <a:srgbClr val="6B7C89"/>
                </a:solidFill>
                <a:latin typeface="Arial" pitchFamily="34" charset="0"/>
                <a:ea typeface="Arial" pitchFamily="34" charset="-122"/>
                <a:cs typeface="Arial" pitchFamily="34" charset="-120"/>
              </a:rPr>
              <a:t>annualised · 1.53% of the bill</a:t>
            </a:r>
            <a:endParaRPr lang="en-US" sz="1875" dirty="0"/>
          </a:p>
        </p:txBody>
      </p:sp>
      <p:sp>
        <p:nvSpPr>
          <p:cNvPr id="15" name="Shape 13"/>
          <p:cNvSpPr/>
          <p:nvPr/>
        </p:nvSpPr>
        <p:spPr>
          <a:xfrm>
            <a:off x="3597831" y="5327809"/>
            <a:ext cx="2416850" cy="1562100"/>
          </a:xfrm>
          <a:prstGeom prst="roundRect">
            <a:avLst>
              <a:gd name="adj" fmla="val 8537"/>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16" name="Text 14"/>
          <p:cNvSpPr/>
          <p:nvPr/>
        </p:nvSpPr>
        <p:spPr>
          <a:xfrm>
            <a:off x="3834051" y="5541169"/>
            <a:ext cx="2138851" cy="478155"/>
          </a:xfrm>
          <a:prstGeom prst="rect">
            <a:avLst/>
          </a:prstGeom>
          <a:noFill/>
          <a:ln/>
        </p:spPr>
        <p:txBody>
          <a:bodyPr wrap="square" lIns="25400" tIns="25400" rIns="25400" bIns="25400" rtlCol="0" anchor="t">
            <a:normAutofit lnSpcReduction="10000"/>
          </a:bodyPr>
          <a:lstStyle/>
          <a:p>
            <a:pPr marL="0" indent="0" algn="l">
              <a:lnSpc>
                <a:spcPct val="90234"/>
              </a:lnSpc>
              <a:buNone/>
            </a:pPr>
            <a:r>
              <a:rPr lang="en-US" sz="3300" b="1" dirty="0">
                <a:solidFill>
                  <a:srgbClr val="22A06B"/>
                </a:solidFill>
                <a:latin typeface="Arial" pitchFamily="34" charset="0"/>
                <a:ea typeface="Arial" pitchFamily="34" charset="-122"/>
                <a:cs typeface="Arial" pitchFamily="34" charset="-120"/>
              </a:rPr>
              <a:t>0</a:t>
            </a:r>
            <a:endParaRPr lang="en-US" sz="3300" dirty="0"/>
          </a:p>
        </p:txBody>
      </p:sp>
      <p:sp>
        <p:nvSpPr>
          <p:cNvPr id="17" name="Text 15"/>
          <p:cNvSpPr/>
          <p:nvPr/>
        </p:nvSpPr>
        <p:spPr>
          <a:xfrm>
            <a:off x="3834051" y="6057424"/>
            <a:ext cx="2020610" cy="657225"/>
          </a:xfrm>
          <a:prstGeom prst="rect">
            <a:avLst/>
          </a:prstGeom>
          <a:noFill/>
          <a:ln/>
        </p:spPr>
        <p:txBody>
          <a:bodyPr wrap="square" lIns="25400" tIns="25400" rIns="25400" bIns="25400" rtlCol="0" anchor="t">
            <a:normAutofit lnSpcReduction="10000"/>
          </a:bodyPr>
          <a:lstStyle/>
          <a:p>
            <a:pPr marL="0" indent="0" algn="l">
              <a:lnSpc>
                <a:spcPct val="112847"/>
              </a:lnSpc>
              <a:buNone/>
            </a:pPr>
            <a:r>
              <a:rPr lang="en-US" sz="1875" dirty="0">
                <a:solidFill>
                  <a:srgbClr val="6B7C89"/>
                </a:solidFill>
                <a:latin typeface="Arial" pitchFamily="34" charset="0"/>
                <a:ea typeface="Arial" pitchFamily="34" charset="-122"/>
                <a:cs typeface="Arial" pitchFamily="34" charset="-120"/>
              </a:rPr>
              <a:t>violations · 0 MW deviation used</a:t>
            </a:r>
            <a:endParaRPr lang="en-US" sz="1875" dirty="0"/>
          </a:p>
        </p:txBody>
      </p:sp>
      <p:sp>
        <p:nvSpPr>
          <p:cNvPr id="18" name="Shape 16"/>
          <p:cNvSpPr/>
          <p:nvPr/>
        </p:nvSpPr>
        <p:spPr>
          <a:xfrm>
            <a:off x="6205181" y="5327809"/>
            <a:ext cx="2416850" cy="1562100"/>
          </a:xfrm>
          <a:prstGeom prst="roundRect">
            <a:avLst>
              <a:gd name="adj" fmla="val 8537"/>
            </a:avLst>
          </a:prstGeom>
          <a:solidFill>
            <a:srgbClr val="FFFFFF"/>
          </a:solidFill>
          <a:ln/>
          <a:effectLst>
            <a:outerShdw blurRad="28575" dist="9525" dir="5400000" algn="bl" rotWithShape="0">
              <a:srgbClr val="17324D">
                <a:alpha val="5000"/>
              </a:srgbClr>
            </a:outerShdw>
          </a:effectLst>
        </p:spPr>
      </p:sp>
      <p:sp>
        <p:nvSpPr>
          <p:cNvPr id="19" name="Shape 17"/>
          <p:cNvSpPr/>
          <p:nvPr/>
        </p:nvSpPr>
        <p:spPr>
          <a:xfrm>
            <a:off x="6205181" y="6882289"/>
            <a:ext cx="2416850" cy="9525"/>
          </a:xfrm>
          <a:prstGeom prst="rect">
            <a:avLst/>
          </a:prstGeom>
          <a:solidFill>
            <a:srgbClr val="DCE8ED"/>
          </a:solidFill>
          <a:ln/>
        </p:spPr>
      </p:sp>
      <p:sp>
        <p:nvSpPr>
          <p:cNvPr id="20" name="Shape 18"/>
          <p:cNvSpPr/>
          <p:nvPr/>
        </p:nvSpPr>
        <p:spPr>
          <a:xfrm>
            <a:off x="6205181" y="5327809"/>
            <a:ext cx="2416850" cy="38100"/>
          </a:xfrm>
          <a:prstGeom prst="rect">
            <a:avLst/>
          </a:prstGeom>
          <a:solidFill>
            <a:srgbClr val="D95C5C"/>
          </a:solidFill>
          <a:ln/>
        </p:spPr>
      </p:sp>
      <p:sp>
        <p:nvSpPr>
          <p:cNvPr id="21" name="Shape 19"/>
          <p:cNvSpPr/>
          <p:nvPr/>
        </p:nvSpPr>
        <p:spPr>
          <a:xfrm>
            <a:off x="6205181" y="5327809"/>
            <a:ext cx="9525" cy="1562100"/>
          </a:xfrm>
          <a:prstGeom prst="rect">
            <a:avLst/>
          </a:prstGeom>
          <a:solidFill>
            <a:srgbClr val="DCE8ED"/>
          </a:solidFill>
          <a:ln/>
        </p:spPr>
      </p:sp>
      <p:sp>
        <p:nvSpPr>
          <p:cNvPr id="22" name="Shape 20"/>
          <p:cNvSpPr/>
          <p:nvPr/>
        </p:nvSpPr>
        <p:spPr>
          <a:xfrm>
            <a:off x="8614410" y="5327809"/>
            <a:ext cx="9525" cy="1562100"/>
          </a:xfrm>
          <a:prstGeom prst="rect">
            <a:avLst/>
          </a:prstGeom>
          <a:solidFill>
            <a:srgbClr val="DCE8ED"/>
          </a:solidFill>
          <a:ln/>
        </p:spPr>
      </p:sp>
      <p:sp>
        <p:nvSpPr>
          <p:cNvPr id="23" name="Text 21"/>
          <p:cNvSpPr/>
          <p:nvPr/>
        </p:nvSpPr>
        <p:spPr>
          <a:xfrm>
            <a:off x="6441400" y="5556409"/>
            <a:ext cx="2138851" cy="478155"/>
          </a:xfrm>
          <a:prstGeom prst="rect">
            <a:avLst/>
          </a:prstGeom>
          <a:noFill/>
          <a:ln/>
        </p:spPr>
        <p:txBody>
          <a:bodyPr wrap="none" lIns="25400" tIns="25400" rIns="25400" bIns="25400" rtlCol="0" anchor="t">
            <a:normAutofit lnSpcReduction="10000"/>
          </a:bodyPr>
          <a:lstStyle/>
          <a:p>
            <a:pPr marL="0" indent="0" algn="l">
              <a:lnSpc>
                <a:spcPct val="90234"/>
              </a:lnSpc>
              <a:buNone/>
            </a:pPr>
            <a:r>
              <a:rPr lang="en-US" sz="3300" b="1" dirty="0">
                <a:solidFill>
                  <a:srgbClr val="D95C5C"/>
                </a:solidFill>
                <a:latin typeface="Arial" pitchFamily="34" charset="0"/>
                <a:ea typeface="Arial" pitchFamily="34" charset="-122"/>
                <a:cs typeface="Arial" pitchFamily="34" charset="-120"/>
              </a:rPr>
              <a:t>13 / 120</a:t>
            </a:r>
            <a:endParaRPr lang="en-US" sz="3300" dirty="0"/>
          </a:p>
        </p:txBody>
      </p:sp>
      <p:sp>
        <p:nvSpPr>
          <p:cNvPr id="24" name="Text 22"/>
          <p:cNvSpPr/>
          <p:nvPr/>
        </p:nvSpPr>
        <p:spPr>
          <a:xfrm>
            <a:off x="6441400" y="6072664"/>
            <a:ext cx="2020610" cy="657225"/>
          </a:xfrm>
          <a:prstGeom prst="rect">
            <a:avLst/>
          </a:prstGeom>
          <a:noFill/>
          <a:ln/>
        </p:spPr>
        <p:txBody>
          <a:bodyPr wrap="square" lIns="25400" tIns="25400" rIns="25400" bIns="25400" rtlCol="0" anchor="t">
            <a:normAutofit lnSpcReduction="10000"/>
          </a:bodyPr>
          <a:lstStyle/>
          <a:p>
            <a:pPr marL="0" indent="0" algn="l">
              <a:lnSpc>
                <a:spcPct val="112847"/>
              </a:lnSpc>
              <a:buNone/>
            </a:pPr>
            <a:r>
              <a:rPr lang="en-US" sz="1875" dirty="0">
                <a:solidFill>
                  <a:srgbClr val="6B7C89"/>
                </a:solidFill>
                <a:latin typeface="Arial" pitchFamily="34" charset="0"/>
                <a:ea typeface="Arial" pitchFamily="34" charset="-122"/>
                <a:cs typeface="Arial" pitchFamily="34" charset="-120"/>
              </a:rPr>
              <a:t>days worse than doing nothing</a:t>
            </a:r>
            <a:endParaRPr lang="en-US" sz="1875" dirty="0"/>
          </a:p>
        </p:txBody>
      </p:sp>
      <p:sp>
        <p:nvSpPr>
          <p:cNvPr id="25" name="Shape 23"/>
          <p:cNvSpPr/>
          <p:nvPr/>
        </p:nvSpPr>
        <p:spPr>
          <a:xfrm>
            <a:off x="990600" y="7080409"/>
            <a:ext cx="38100" cy="1440180"/>
          </a:xfrm>
          <a:prstGeom prst="rect">
            <a:avLst/>
          </a:prstGeom>
          <a:solidFill>
            <a:srgbClr val="1597D4"/>
          </a:solidFill>
          <a:ln/>
        </p:spPr>
      </p:sp>
      <p:sp>
        <p:nvSpPr>
          <p:cNvPr id="26" name="Text 24"/>
          <p:cNvSpPr/>
          <p:nvPr/>
        </p:nvSpPr>
        <p:spPr>
          <a:xfrm>
            <a:off x="1238250" y="7080409"/>
            <a:ext cx="7612723" cy="1478280"/>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b="1" dirty="0">
                <a:solidFill>
                  <a:srgbClr val="124B68"/>
                </a:solidFill>
                <a:latin typeface="Arial" pitchFamily="34" charset="0"/>
                <a:ea typeface="Arial" pitchFamily="34" charset="-122"/>
                <a:cs typeface="Arial" pitchFamily="34" charset="-120"/>
              </a:rPr>
              <a:t>PRANA does not manufacture savings. </a:t>
            </a:r>
            <a:r>
              <a:rPr lang="en-US" sz="2100" dirty="0">
                <a:solidFill>
                  <a:srgbClr val="17324D"/>
                </a:solidFill>
                <a:latin typeface="Arial" pitchFamily="34" charset="0"/>
                <a:ea typeface="Arial" pitchFamily="34" charset="-122"/>
                <a:cs typeface="Arial" pitchFamily="34" charset="-120"/>
              </a:rPr>
              <a:t>When flexibility is not worthwhile it can lose: a single-asset site with a hard production floor has no second lever when the forecast is wrong. The 13 days are reported, not removed.</a:t>
            </a:r>
            <a:endParaRPr lang="en-US" sz="2100" dirty="0"/>
          </a:p>
        </p:txBody>
      </p:sp>
      <p:sp>
        <p:nvSpPr>
          <p:cNvPr id="27" name="Shape 25"/>
          <p:cNvSpPr/>
          <p:nvPr/>
        </p:nvSpPr>
        <p:spPr>
          <a:xfrm>
            <a:off x="8926830" y="3266599"/>
            <a:ext cx="8370570" cy="5397341"/>
          </a:xfrm>
          <a:prstGeom prst="roundRect">
            <a:avLst>
              <a:gd name="adj" fmla="val 2471"/>
            </a:avLst>
          </a:prstGeom>
          <a:solidFill>
            <a:srgbClr val="FFFFFF"/>
          </a:solidFill>
          <a:ln w="7620">
            <a:solidFill>
              <a:srgbClr val="DCE8ED"/>
            </a:solidFill>
            <a:prstDash val="solid"/>
          </a:ln>
          <a:effectLst>
            <a:outerShdw blurRad="28575" dist="9525" dir="5400000" algn="bl" rotWithShape="0">
              <a:srgbClr val="17324D">
                <a:alpha val="5000"/>
              </a:srgbClr>
            </a:outerShdw>
          </a:effectLst>
        </p:spPr>
      </p:sp>
      <p:sp>
        <p:nvSpPr>
          <p:cNvPr id="28" name="Text 26"/>
          <p:cNvSpPr/>
          <p:nvPr/>
        </p:nvSpPr>
        <p:spPr>
          <a:xfrm>
            <a:off x="9296400" y="3559969"/>
            <a:ext cx="8394573"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56" dirty="0">
                <a:solidFill>
                  <a:srgbClr val="6B7C89"/>
                </a:solidFill>
                <a:latin typeface="Arial" pitchFamily="34" charset="0"/>
                <a:ea typeface="Arial" pitchFamily="34" charset="-122"/>
                <a:cs typeface="Arial" pitchFamily="34" charset="-120"/>
              </a:rPr>
              <a:t>GROSS TO NET, ₹ LAKH OVER 120 DAYS</a:t>
            </a:r>
            <a:endParaRPr lang="en-US" sz="1950" dirty="0"/>
          </a:p>
        </p:txBody>
      </p:sp>
      <p:sp>
        <p:nvSpPr>
          <p:cNvPr id="29" name="Text 27"/>
          <p:cNvSpPr/>
          <p:nvPr/>
        </p:nvSpPr>
        <p:spPr>
          <a:xfrm>
            <a:off x="10067806" y="4184809"/>
            <a:ext cx="886658"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597D4"/>
                </a:solidFill>
                <a:latin typeface="Arial" pitchFamily="34" charset="0"/>
                <a:ea typeface="Arial" pitchFamily="34" charset="-122"/>
                <a:cs typeface="Arial" pitchFamily="34" charset="-120"/>
              </a:rPr>
              <a:t>378.3</a:t>
            </a:r>
            <a:endParaRPr lang="en-US" sz="2550" dirty="0"/>
          </a:p>
        </p:txBody>
      </p:sp>
      <p:sp>
        <p:nvSpPr>
          <p:cNvPr id="30" name="Shape 28"/>
          <p:cNvSpPr/>
          <p:nvPr/>
        </p:nvSpPr>
        <p:spPr>
          <a:xfrm>
            <a:off x="9296400" y="4664869"/>
            <a:ext cx="2353270" cy="1518761"/>
          </a:xfrm>
          <a:custGeom>
            <a:avLst/>
            <a:gdLst/>
            <a:ahLst/>
            <a:cxnLst/>
            <a:rect l="l" t="t" r="r" b="b"/>
            <a:pathLst>
              <a:path w="2353270" h="1518761">
                <a:moveTo>
                  <a:pt x="57150" y="0"/>
                </a:moveTo>
                <a:lnTo>
                  <a:pt x="2296120" y="0"/>
                </a:lnTo>
                <a:arcTo wR="57150" hR="57150" stAng="16200000" swAng="5400000"/>
                <a:lnTo>
                  <a:pt x="2353270" y="1518761"/>
                </a:lnTo>
                <a:lnTo>
                  <a:pt x="0" y="1518761"/>
                </a:lnTo>
                <a:lnTo>
                  <a:pt x="0" y="57150"/>
                </a:lnTo>
                <a:arcTo wR="57150" hR="57150" stAng="10800000" swAng="5400000"/>
                <a:close/>
              </a:path>
            </a:pathLst>
          </a:custGeom>
          <a:solidFill>
            <a:srgbClr val="1597D4"/>
          </a:solidFill>
          <a:ln/>
        </p:spPr>
      </p:sp>
      <p:sp>
        <p:nvSpPr>
          <p:cNvPr id="31" name="Text 29"/>
          <p:cNvSpPr/>
          <p:nvPr/>
        </p:nvSpPr>
        <p:spPr>
          <a:xfrm>
            <a:off x="9607921" y="6297930"/>
            <a:ext cx="1730228" cy="360045"/>
          </a:xfrm>
          <a:prstGeom prst="rect">
            <a:avLst/>
          </a:prstGeom>
          <a:noFill/>
          <a:ln/>
        </p:spPr>
        <p:txBody>
          <a:bodyPr wrap="none" lIns="25400" tIns="25400" rIns="25400" bIns="25400" rtlCol="0" anchor="t">
            <a:normAutofit lnSpcReduction="10000"/>
          </a:bodyPr>
          <a:lstStyle/>
          <a:p>
            <a:pPr marL="0" indent="0" algn="ctr">
              <a:lnSpc>
                <a:spcPct val="114189"/>
              </a:lnSpc>
              <a:buNone/>
            </a:pPr>
            <a:r>
              <a:rPr lang="en-US" sz="1950" dirty="0">
                <a:solidFill>
                  <a:srgbClr val="6B7C89"/>
                </a:solidFill>
                <a:latin typeface="Arial" pitchFamily="34" charset="0"/>
                <a:ea typeface="Arial" pitchFamily="34" charset="-122"/>
                <a:cs typeface="Arial" pitchFamily="34" charset="-120"/>
              </a:rPr>
              <a:t>Gross benefit</a:t>
            </a:r>
            <a:endParaRPr lang="en-US" sz="1950" dirty="0"/>
          </a:p>
        </p:txBody>
      </p:sp>
      <p:sp>
        <p:nvSpPr>
          <p:cNvPr id="32" name="Text 30"/>
          <p:cNvSpPr/>
          <p:nvPr/>
        </p:nvSpPr>
        <p:spPr>
          <a:xfrm>
            <a:off x="12702303" y="5395198"/>
            <a:ext cx="895707"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5C5C"/>
                </a:solidFill>
                <a:latin typeface="Arial" pitchFamily="34" charset="0"/>
                <a:ea typeface="Arial" pitchFamily="34" charset="-122"/>
                <a:cs typeface="Arial" pitchFamily="34" charset="-120"/>
              </a:rPr>
              <a:t>−76.8</a:t>
            </a:r>
            <a:endParaRPr lang="en-US" sz="2550" dirty="0"/>
          </a:p>
        </p:txBody>
      </p:sp>
      <p:sp>
        <p:nvSpPr>
          <p:cNvPr id="33" name="Shape 31"/>
          <p:cNvSpPr/>
          <p:nvPr/>
        </p:nvSpPr>
        <p:spPr>
          <a:xfrm>
            <a:off x="11935420" y="5875258"/>
            <a:ext cx="2353389" cy="308372"/>
          </a:xfrm>
          <a:custGeom>
            <a:avLst/>
            <a:gdLst/>
            <a:ahLst/>
            <a:cxnLst/>
            <a:rect l="l" t="t" r="r" b="b"/>
            <a:pathLst>
              <a:path w="2353389" h="308372">
                <a:moveTo>
                  <a:pt x="57150" y="0"/>
                </a:moveTo>
                <a:lnTo>
                  <a:pt x="2296239" y="0"/>
                </a:lnTo>
                <a:arcTo wR="57150" hR="57150" stAng="16200000" swAng="5400000"/>
                <a:lnTo>
                  <a:pt x="2353389" y="308372"/>
                </a:lnTo>
                <a:lnTo>
                  <a:pt x="0" y="308372"/>
                </a:lnTo>
                <a:lnTo>
                  <a:pt x="0" y="57150"/>
                </a:lnTo>
                <a:arcTo wR="57150" hR="57150" stAng="10800000" swAng="5400000"/>
                <a:close/>
              </a:path>
            </a:pathLst>
          </a:custGeom>
          <a:solidFill>
            <a:srgbClr val="D95C5C"/>
          </a:solidFill>
          <a:ln/>
        </p:spPr>
      </p:sp>
      <p:sp>
        <p:nvSpPr>
          <p:cNvPr id="34" name="Text 32"/>
          <p:cNvSpPr/>
          <p:nvPr/>
        </p:nvSpPr>
        <p:spPr>
          <a:xfrm>
            <a:off x="12208562" y="6297930"/>
            <a:ext cx="1807107" cy="360045"/>
          </a:xfrm>
          <a:prstGeom prst="rect">
            <a:avLst/>
          </a:prstGeom>
          <a:noFill/>
          <a:ln/>
        </p:spPr>
        <p:txBody>
          <a:bodyPr wrap="none" lIns="25400" tIns="25400" rIns="25400" bIns="25400" rtlCol="0" anchor="t">
            <a:normAutofit lnSpcReduction="10000"/>
          </a:bodyPr>
          <a:lstStyle/>
          <a:p>
            <a:pPr marL="0" indent="0" algn="ctr">
              <a:lnSpc>
                <a:spcPct val="114189"/>
              </a:lnSpc>
              <a:buNone/>
            </a:pPr>
            <a:r>
              <a:rPr lang="en-US" sz="1950" dirty="0">
                <a:solidFill>
                  <a:srgbClr val="6B7C89"/>
                </a:solidFill>
                <a:latin typeface="Arial" pitchFamily="34" charset="0"/>
                <a:ea typeface="Arial" pitchFamily="34" charset="-122"/>
                <a:cs typeface="Arial" pitchFamily="34" charset="-120"/>
              </a:rPr>
              <a:t>Process costs</a:t>
            </a:r>
            <a:endParaRPr lang="en-US" sz="1950" dirty="0"/>
          </a:p>
        </p:txBody>
      </p:sp>
      <p:sp>
        <p:nvSpPr>
          <p:cNvPr id="35" name="Text 33"/>
          <p:cNvSpPr/>
          <p:nvPr/>
        </p:nvSpPr>
        <p:spPr>
          <a:xfrm>
            <a:off x="15345966" y="4493181"/>
            <a:ext cx="886658"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A06B"/>
                </a:solidFill>
                <a:latin typeface="Arial" pitchFamily="34" charset="0"/>
                <a:ea typeface="Arial" pitchFamily="34" charset="-122"/>
                <a:cs typeface="Arial" pitchFamily="34" charset="-120"/>
              </a:rPr>
              <a:t>301.5</a:t>
            </a:r>
            <a:endParaRPr lang="en-US" sz="2550" dirty="0"/>
          </a:p>
        </p:txBody>
      </p:sp>
      <p:sp>
        <p:nvSpPr>
          <p:cNvPr id="36" name="Shape 34"/>
          <p:cNvSpPr/>
          <p:nvPr/>
        </p:nvSpPr>
        <p:spPr>
          <a:xfrm>
            <a:off x="14574560" y="4973241"/>
            <a:ext cx="2353270" cy="1210389"/>
          </a:xfrm>
          <a:custGeom>
            <a:avLst/>
            <a:gdLst/>
            <a:ahLst/>
            <a:cxnLst/>
            <a:rect l="l" t="t" r="r" b="b"/>
            <a:pathLst>
              <a:path w="2353270" h="1210389">
                <a:moveTo>
                  <a:pt x="57150" y="0"/>
                </a:moveTo>
                <a:lnTo>
                  <a:pt x="2296120" y="0"/>
                </a:lnTo>
                <a:arcTo wR="57150" hR="57150" stAng="16200000" swAng="5400000"/>
                <a:lnTo>
                  <a:pt x="2353270" y="1210389"/>
                </a:lnTo>
                <a:lnTo>
                  <a:pt x="0" y="1210389"/>
                </a:lnTo>
                <a:lnTo>
                  <a:pt x="0" y="57150"/>
                </a:lnTo>
                <a:arcTo wR="57150" hR="57150" stAng="10800000" swAng="5400000"/>
                <a:close/>
              </a:path>
            </a:pathLst>
          </a:custGeom>
          <a:solidFill>
            <a:srgbClr val="22A06B"/>
          </a:solidFill>
          <a:ln/>
        </p:spPr>
      </p:sp>
      <p:sp>
        <p:nvSpPr>
          <p:cNvPr id="37" name="Text 35"/>
          <p:cNvSpPr/>
          <p:nvPr/>
        </p:nvSpPr>
        <p:spPr>
          <a:xfrm>
            <a:off x="15035523" y="6297930"/>
            <a:ext cx="1431227" cy="360045"/>
          </a:xfrm>
          <a:prstGeom prst="rect">
            <a:avLst/>
          </a:prstGeom>
          <a:noFill/>
          <a:ln/>
        </p:spPr>
        <p:txBody>
          <a:bodyPr wrap="none" lIns="25400" tIns="25400" rIns="25400" bIns="25400" rtlCol="0" anchor="t">
            <a:normAutofit lnSpcReduction="10000"/>
          </a:bodyPr>
          <a:lstStyle/>
          <a:p>
            <a:pPr marL="0" indent="0" algn="ctr">
              <a:lnSpc>
                <a:spcPct val="114189"/>
              </a:lnSpc>
              <a:buNone/>
            </a:pPr>
            <a:r>
              <a:rPr lang="en-US" sz="1950" dirty="0">
                <a:solidFill>
                  <a:srgbClr val="6B7C89"/>
                </a:solidFill>
                <a:latin typeface="Arial" pitchFamily="34" charset="0"/>
                <a:ea typeface="Arial" pitchFamily="34" charset="-122"/>
                <a:cs typeface="Arial" pitchFamily="34" charset="-120"/>
              </a:rPr>
              <a:t>Net benefit</a:t>
            </a:r>
            <a:endParaRPr lang="en-US" sz="1950" dirty="0"/>
          </a:p>
        </p:txBody>
      </p:sp>
      <p:sp>
        <p:nvSpPr>
          <p:cNvPr id="38" name="Shape 36"/>
          <p:cNvSpPr/>
          <p:nvPr/>
        </p:nvSpPr>
        <p:spPr>
          <a:xfrm>
            <a:off x="9296400" y="6791325"/>
            <a:ext cx="7631430" cy="9525"/>
          </a:xfrm>
          <a:prstGeom prst="rect">
            <a:avLst/>
          </a:prstGeom>
          <a:solidFill>
            <a:srgbClr val="DCE8ED"/>
          </a:solidFill>
          <a:ln/>
        </p:spPr>
      </p:sp>
      <p:sp>
        <p:nvSpPr>
          <p:cNvPr id="39" name="Text 37"/>
          <p:cNvSpPr/>
          <p:nvPr/>
        </p:nvSpPr>
        <p:spPr>
          <a:xfrm>
            <a:off x="9296400" y="6951345"/>
            <a:ext cx="7860373" cy="1457325"/>
          </a:xfrm>
          <a:prstGeom prst="rect">
            <a:avLst/>
          </a:prstGeom>
          <a:noFill/>
          <a:ln/>
        </p:spPr>
        <p:txBody>
          <a:bodyPr wrap="square" lIns="25400" tIns="25400" rIns="25400" bIns="25400" rtlCol="0" anchor="t">
            <a:normAutofit/>
          </a:bodyPr>
          <a:lstStyle/>
          <a:p>
            <a:pPr marL="0" indent="0" algn="l">
              <a:lnSpc>
                <a:spcPct val="119423"/>
              </a:lnSpc>
              <a:buNone/>
            </a:pPr>
            <a:r>
              <a:rPr lang="en-US" sz="2025" dirty="0">
                <a:solidFill>
                  <a:srgbClr val="17324D"/>
                </a:solidFill>
                <a:latin typeface="Arial" pitchFamily="34" charset="0"/>
                <a:ea typeface="Arial" pitchFamily="34" charset="-122"/>
                <a:cs typeface="Arial" pitchFamily="34" charset="-120"/>
              </a:rPr>
              <a:t>Process cost is membrane wear, chlorine diverted to bleach, and </a:t>
            </a:r>
            <a:r>
              <a:rPr lang="en-US" sz="2025" dirty="0" err="1">
                <a:solidFill>
                  <a:srgbClr val="17324D"/>
                </a:solidFill>
                <a:latin typeface="Arial" pitchFamily="34" charset="0"/>
                <a:ea typeface="Arial" pitchFamily="34" charset="-122"/>
                <a:cs typeface="Arial" pitchFamily="34" charset="-120"/>
              </a:rPr>
              <a:t>kVAh</a:t>
            </a:r>
            <a:r>
              <a:rPr lang="en-US" sz="2025" dirty="0">
                <a:solidFill>
                  <a:srgbClr val="17324D"/>
                </a:solidFill>
                <a:latin typeface="Arial" pitchFamily="34" charset="0"/>
                <a:ea typeface="Arial" pitchFamily="34" charset="-122"/>
                <a:cs typeface="Arial" pitchFamily="34" charset="-120"/>
              </a:rPr>
              <a:t> droop one fifth of the gross, paid straight back. A model that does not charge these is not conservative, it is wrong.</a:t>
            </a:r>
            <a:endParaRPr lang="en-US" sz="2025" dirty="0"/>
          </a:p>
        </p:txBody>
      </p:sp>
      <p:sp>
        <p:nvSpPr>
          <p:cNvPr id="40" name="Shape 38"/>
          <p:cNvSpPr/>
          <p:nvPr/>
        </p:nvSpPr>
        <p:spPr>
          <a:xfrm>
            <a:off x="990600" y="8873490"/>
            <a:ext cx="16306800" cy="9525"/>
          </a:xfrm>
          <a:prstGeom prst="rect">
            <a:avLst/>
          </a:prstGeom>
          <a:solidFill>
            <a:srgbClr val="DCE8ED"/>
          </a:solidFill>
          <a:ln/>
        </p:spPr>
      </p:sp>
      <p:sp>
        <p:nvSpPr>
          <p:cNvPr id="41" name="Text 39"/>
          <p:cNvSpPr/>
          <p:nvPr/>
        </p:nvSpPr>
        <p:spPr>
          <a:xfrm>
            <a:off x="990600" y="9052560"/>
            <a:ext cx="16796004" cy="58674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C89"/>
                </a:solidFill>
                <a:latin typeface="Arial" pitchFamily="34" charset="0"/>
                <a:ea typeface="Arial" pitchFamily="34" charset="-122"/>
                <a:cs typeface="Arial" pitchFamily="34" charset="-120"/>
              </a:rPr>
              <a:t>120 delivery days to 2026-08-06, settled at realised prices. Perfect foresight would be ₹0.174/kWh; the forecast-error haircut is 22%. Figures are for this demonstrator plant, not a sector claim.</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AFC"/>
        </a:solidFill>
        <a:effectLst/>
      </p:bgPr>
    </p:bg>
    <p:spTree>
      <p:nvGrpSpPr>
        <p:cNvPr id="1" name=""/>
        <p:cNvGrpSpPr/>
        <p:nvPr/>
      </p:nvGrpSpPr>
      <p:grpSpPr>
        <a:xfrm>
          <a:off x="0" y="0"/>
          <a:ext cx="0" cy="0"/>
          <a:chOff x="0" y="0"/>
          <a:chExt cx="0" cy="0"/>
        </a:xfrm>
      </p:grpSpPr>
      <p:sp>
        <p:nvSpPr>
          <p:cNvPr id="2" name="Text 0"/>
          <p:cNvSpPr/>
          <p:nvPr/>
        </p:nvSpPr>
        <p:spPr>
          <a:xfrm>
            <a:off x="990600" y="762000"/>
            <a:ext cx="3512713"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SCALE, AND THE ASK</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73" dirty="0">
                <a:solidFill>
                  <a:srgbClr val="6B7C89"/>
                </a:solidFill>
                <a:latin typeface="Arial" pitchFamily="34" charset="0"/>
                <a:ea typeface="Arial" pitchFamily="34" charset="-122"/>
                <a:cs typeface="Arial" pitchFamily="34" charset="-120"/>
              </a:rPr>
              <a:t>10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29715"/>
            <a:ext cx="16781943" cy="643890"/>
          </a:xfrm>
          <a:prstGeom prst="rect">
            <a:avLst/>
          </a:prstGeom>
          <a:noFill/>
          <a:ln/>
        </p:spPr>
        <p:txBody>
          <a:bodyPr wrap="square" lIns="25400" tIns="25400" rIns="25400" bIns="25400" rtlCol="0" anchor="t">
            <a:normAutofit lnSpcReduction="10000"/>
          </a:bodyPr>
          <a:lstStyle/>
          <a:p>
            <a:pPr marL="0" indent="0" algn="l">
              <a:lnSpc>
                <a:spcPct val="92442"/>
              </a:lnSpc>
              <a:buNone/>
            </a:pPr>
            <a:r>
              <a:rPr lang="en-US" sz="4500" b="1" kern="0" spc="-112" dirty="0">
                <a:solidFill>
                  <a:srgbClr val="124B68"/>
                </a:solidFill>
                <a:latin typeface="Arial" pitchFamily="34" charset="0"/>
                <a:ea typeface="Arial" pitchFamily="34" charset="-122"/>
                <a:cs typeface="Arial" pitchFamily="34" charset="-120"/>
              </a:rPr>
              <a:t>One demonstrator. A platform for industrial flexibility.</a:t>
            </a:r>
            <a:endParaRPr lang="en-US" sz="4500" dirty="0"/>
          </a:p>
        </p:txBody>
      </p:sp>
      <p:sp>
        <p:nvSpPr>
          <p:cNvPr id="6" name="Shape 4"/>
          <p:cNvSpPr/>
          <p:nvPr/>
        </p:nvSpPr>
        <p:spPr>
          <a:xfrm>
            <a:off x="990600" y="2421255"/>
            <a:ext cx="7081242" cy="762000"/>
          </a:xfrm>
          <a:prstGeom prst="roundRect">
            <a:avLst>
              <a:gd name="adj" fmla="val 15000"/>
            </a:avLst>
          </a:prstGeom>
          <a:solidFill>
            <a:srgbClr val="EAF7F1"/>
          </a:solidFill>
          <a:ln/>
        </p:spPr>
      </p:sp>
      <p:sp>
        <p:nvSpPr>
          <p:cNvPr id="7" name="Shape 5"/>
          <p:cNvSpPr/>
          <p:nvPr/>
        </p:nvSpPr>
        <p:spPr>
          <a:xfrm>
            <a:off x="990600" y="3175635"/>
            <a:ext cx="7081242" cy="9525"/>
          </a:xfrm>
          <a:prstGeom prst="rect">
            <a:avLst/>
          </a:prstGeom>
          <a:solidFill>
            <a:srgbClr val="BFE5D4"/>
          </a:solidFill>
          <a:ln/>
        </p:spPr>
      </p:sp>
      <p:sp>
        <p:nvSpPr>
          <p:cNvPr id="8" name="Shape 6"/>
          <p:cNvSpPr/>
          <p:nvPr/>
        </p:nvSpPr>
        <p:spPr>
          <a:xfrm>
            <a:off x="990600" y="2421255"/>
            <a:ext cx="7081242" cy="9525"/>
          </a:xfrm>
          <a:prstGeom prst="rect">
            <a:avLst/>
          </a:prstGeom>
          <a:solidFill>
            <a:srgbClr val="BFE5D4"/>
          </a:solidFill>
          <a:ln/>
        </p:spPr>
      </p:sp>
      <p:sp>
        <p:nvSpPr>
          <p:cNvPr id="9" name="Shape 7"/>
          <p:cNvSpPr/>
          <p:nvPr/>
        </p:nvSpPr>
        <p:spPr>
          <a:xfrm>
            <a:off x="990600" y="2421255"/>
            <a:ext cx="38100" cy="762000"/>
          </a:xfrm>
          <a:prstGeom prst="rect">
            <a:avLst/>
          </a:prstGeom>
          <a:solidFill>
            <a:srgbClr val="22A06B"/>
          </a:solidFill>
          <a:ln/>
        </p:spPr>
      </p:sp>
      <p:sp>
        <p:nvSpPr>
          <p:cNvPr id="10" name="Shape 8"/>
          <p:cNvSpPr/>
          <p:nvPr/>
        </p:nvSpPr>
        <p:spPr>
          <a:xfrm>
            <a:off x="8064222" y="2421255"/>
            <a:ext cx="9525" cy="762000"/>
          </a:xfrm>
          <a:prstGeom prst="rect">
            <a:avLst/>
          </a:prstGeom>
          <a:solidFill>
            <a:srgbClr val="BFE5D4"/>
          </a:solidFill>
          <a:ln/>
        </p:spPr>
      </p:sp>
      <p:sp>
        <p:nvSpPr>
          <p:cNvPr id="11" name="Text 9"/>
          <p:cNvSpPr/>
          <p:nvPr/>
        </p:nvSpPr>
        <p:spPr>
          <a:xfrm>
            <a:off x="1295400" y="2619374"/>
            <a:ext cx="2161309" cy="424815"/>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24B68"/>
                </a:solidFill>
                <a:latin typeface="Arial" pitchFamily="34" charset="0"/>
                <a:ea typeface="Arial" pitchFamily="34" charset="-122"/>
                <a:cs typeface="Arial" pitchFamily="34" charset="-120"/>
              </a:rPr>
              <a:t>Chlor-alkali</a:t>
            </a:r>
            <a:endParaRPr lang="en-US" sz="2550" dirty="0"/>
          </a:p>
        </p:txBody>
      </p:sp>
      <p:sp>
        <p:nvSpPr>
          <p:cNvPr id="12" name="Text 10"/>
          <p:cNvSpPr/>
          <p:nvPr/>
        </p:nvSpPr>
        <p:spPr>
          <a:xfrm>
            <a:off x="4222433" y="2672715"/>
            <a:ext cx="3932599" cy="297180"/>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44" dirty="0">
                <a:solidFill>
                  <a:srgbClr val="22A06B"/>
                </a:solidFill>
                <a:latin typeface="Arial" pitchFamily="34" charset="0"/>
                <a:ea typeface="Arial" pitchFamily="34" charset="-122"/>
                <a:cs typeface="Arial" pitchFamily="34" charset="-120"/>
              </a:rPr>
              <a:t>DEMONSTRATED · 120 DAYS</a:t>
            </a:r>
            <a:endParaRPr lang="en-US" sz="1800" dirty="0"/>
          </a:p>
        </p:txBody>
      </p:sp>
      <p:sp>
        <p:nvSpPr>
          <p:cNvPr id="13" name="Shape 11"/>
          <p:cNvSpPr/>
          <p:nvPr/>
        </p:nvSpPr>
        <p:spPr>
          <a:xfrm>
            <a:off x="990600" y="3316605"/>
            <a:ext cx="7081242" cy="762000"/>
          </a:xfrm>
          <a:prstGeom prst="roundRect">
            <a:avLst>
              <a:gd name="adj" fmla="val 15000"/>
            </a:avLst>
          </a:prstGeom>
          <a:solidFill>
            <a:srgbClr val="FFFFFF"/>
          </a:solidFill>
          <a:ln/>
        </p:spPr>
      </p:sp>
      <p:sp>
        <p:nvSpPr>
          <p:cNvPr id="14" name="Shape 12"/>
          <p:cNvSpPr/>
          <p:nvPr/>
        </p:nvSpPr>
        <p:spPr>
          <a:xfrm>
            <a:off x="990600" y="4070985"/>
            <a:ext cx="7081242" cy="9525"/>
          </a:xfrm>
          <a:prstGeom prst="rect">
            <a:avLst/>
          </a:prstGeom>
          <a:solidFill>
            <a:srgbClr val="DCE8ED"/>
          </a:solidFill>
          <a:ln/>
        </p:spPr>
      </p:sp>
      <p:sp>
        <p:nvSpPr>
          <p:cNvPr id="15" name="Shape 13"/>
          <p:cNvSpPr/>
          <p:nvPr/>
        </p:nvSpPr>
        <p:spPr>
          <a:xfrm>
            <a:off x="990600" y="3316605"/>
            <a:ext cx="7081242" cy="9525"/>
          </a:xfrm>
          <a:prstGeom prst="rect">
            <a:avLst/>
          </a:prstGeom>
          <a:solidFill>
            <a:srgbClr val="DCE8ED"/>
          </a:solidFill>
          <a:ln/>
        </p:spPr>
      </p:sp>
      <p:sp>
        <p:nvSpPr>
          <p:cNvPr id="16" name="Shape 14"/>
          <p:cNvSpPr/>
          <p:nvPr/>
        </p:nvSpPr>
        <p:spPr>
          <a:xfrm>
            <a:off x="990600" y="3316605"/>
            <a:ext cx="38100" cy="762000"/>
          </a:xfrm>
          <a:prstGeom prst="rect">
            <a:avLst/>
          </a:prstGeom>
          <a:solidFill>
            <a:srgbClr val="1597D4"/>
          </a:solidFill>
          <a:ln/>
        </p:spPr>
      </p:sp>
      <p:sp>
        <p:nvSpPr>
          <p:cNvPr id="17" name="Shape 15"/>
          <p:cNvSpPr/>
          <p:nvPr/>
        </p:nvSpPr>
        <p:spPr>
          <a:xfrm>
            <a:off x="8064222" y="3316605"/>
            <a:ext cx="9525" cy="762000"/>
          </a:xfrm>
          <a:prstGeom prst="rect">
            <a:avLst/>
          </a:prstGeom>
          <a:solidFill>
            <a:srgbClr val="DCE8ED"/>
          </a:solidFill>
          <a:ln/>
        </p:spPr>
      </p:sp>
      <p:sp>
        <p:nvSpPr>
          <p:cNvPr id="18" name="Text 16"/>
          <p:cNvSpPr/>
          <p:nvPr/>
        </p:nvSpPr>
        <p:spPr>
          <a:xfrm>
            <a:off x="1295399" y="3514725"/>
            <a:ext cx="1544645" cy="362902"/>
          </a:xfrm>
          <a:prstGeom prst="rect">
            <a:avLst/>
          </a:prstGeom>
          <a:noFill/>
          <a:ln/>
        </p:spPr>
        <p:txBody>
          <a:bodyPr wrap="square" lIns="25400" tIns="25400" rIns="25400" bIns="25400" rtlCol="0" anchor="t">
            <a:normAutofit fontScale="92500" lnSpcReduction="20000"/>
          </a:bodyPr>
          <a:lstStyle/>
          <a:p>
            <a:pPr marL="0" indent="0" algn="l">
              <a:buNone/>
            </a:pPr>
            <a:r>
              <a:rPr lang="en-US" sz="2550" b="1" dirty="0">
                <a:solidFill>
                  <a:srgbClr val="124B68"/>
                </a:solidFill>
                <a:latin typeface="Arial" pitchFamily="34" charset="0"/>
                <a:ea typeface="Arial" pitchFamily="34" charset="-122"/>
                <a:cs typeface="Arial" pitchFamily="34" charset="-120"/>
              </a:rPr>
              <a:t>Refinery</a:t>
            </a:r>
            <a:endParaRPr lang="en-US" sz="2550" dirty="0"/>
          </a:p>
        </p:txBody>
      </p:sp>
      <p:sp>
        <p:nvSpPr>
          <p:cNvPr id="19" name="Text 17"/>
          <p:cNvSpPr/>
          <p:nvPr/>
        </p:nvSpPr>
        <p:spPr>
          <a:xfrm>
            <a:off x="4431268" y="3568065"/>
            <a:ext cx="3702880" cy="297180"/>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NEXT VALIDATION TARGET</a:t>
            </a:r>
            <a:endParaRPr lang="en-US" sz="1800" dirty="0"/>
          </a:p>
        </p:txBody>
      </p:sp>
      <p:sp>
        <p:nvSpPr>
          <p:cNvPr id="20" name="Shape 18"/>
          <p:cNvSpPr/>
          <p:nvPr/>
        </p:nvSpPr>
        <p:spPr>
          <a:xfrm>
            <a:off x="990600" y="4211955"/>
            <a:ext cx="7081242" cy="762000"/>
          </a:xfrm>
          <a:prstGeom prst="roundRect">
            <a:avLst>
              <a:gd name="adj" fmla="val 15000"/>
            </a:avLst>
          </a:prstGeom>
          <a:solidFill>
            <a:srgbClr val="FFFFFF"/>
          </a:solidFill>
          <a:ln/>
        </p:spPr>
      </p:sp>
      <p:sp>
        <p:nvSpPr>
          <p:cNvPr id="21" name="Shape 19"/>
          <p:cNvSpPr/>
          <p:nvPr/>
        </p:nvSpPr>
        <p:spPr>
          <a:xfrm>
            <a:off x="990600" y="4966335"/>
            <a:ext cx="7081242" cy="9525"/>
          </a:xfrm>
          <a:prstGeom prst="rect">
            <a:avLst/>
          </a:prstGeom>
          <a:solidFill>
            <a:srgbClr val="DCE8ED"/>
          </a:solidFill>
          <a:ln/>
        </p:spPr>
      </p:sp>
      <p:sp>
        <p:nvSpPr>
          <p:cNvPr id="22" name="Shape 20"/>
          <p:cNvSpPr/>
          <p:nvPr/>
        </p:nvSpPr>
        <p:spPr>
          <a:xfrm>
            <a:off x="990600" y="4211955"/>
            <a:ext cx="7081242" cy="9525"/>
          </a:xfrm>
          <a:prstGeom prst="rect">
            <a:avLst/>
          </a:prstGeom>
          <a:solidFill>
            <a:srgbClr val="DCE8ED"/>
          </a:solidFill>
          <a:ln/>
        </p:spPr>
      </p:sp>
      <p:sp>
        <p:nvSpPr>
          <p:cNvPr id="23" name="Shape 21"/>
          <p:cNvSpPr/>
          <p:nvPr/>
        </p:nvSpPr>
        <p:spPr>
          <a:xfrm>
            <a:off x="990600" y="4211955"/>
            <a:ext cx="38100" cy="762000"/>
          </a:xfrm>
          <a:prstGeom prst="rect">
            <a:avLst/>
          </a:prstGeom>
          <a:solidFill>
            <a:srgbClr val="1597D4"/>
          </a:solidFill>
          <a:ln/>
        </p:spPr>
      </p:sp>
      <p:sp>
        <p:nvSpPr>
          <p:cNvPr id="24" name="Shape 22"/>
          <p:cNvSpPr/>
          <p:nvPr/>
        </p:nvSpPr>
        <p:spPr>
          <a:xfrm>
            <a:off x="8064222" y="4211955"/>
            <a:ext cx="9525" cy="762000"/>
          </a:xfrm>
          <a:prstGeom prst="rect">
            <a:avLst/>
          </a:prstGeom>
          <a:solidFill>
            <a:srgbClr val="DCE8ED"/>
          </a:solidFill>
          <a:ln/>
        </p:spPr>
      </p:sp>
      <p:sp>
        <p:nvSpPr>
          <p:cNvPr id="25" name="Text 23"/>
          <p:cNvSpPr/>
          <p:nvPr/>
        </p:nvSpPr>
        <p:spPr>
          <a:xfrm>
            <a:off x="1295399" y="4410075"/>
            <a:ext cx="1761257" cy="394334"/>
          </a:xfrm>
          <a:prstGeom prst="rect">
            <a:avLst/>
          </a:prstGeom>
          <a:noFill/>
          <a:ln/>
        </p:spPr>
        <p:txBody>
          <a:bodyPr wrap="square" lIns="25400" tIns="25400" rIns="25400" bIns="25400" rtlCol="0" anchor="t">
            <a:normAutofit fontScale="92500" lnSpcReduction="10000"/>
          </a:bodyPr>
          <a:lstStyle/>
          <a:p>
            <a:pPr marL="0" indent="0" algn="l">
              <a:buNone/>
            </a:pPr>
            <a:r>
              <a:rPr lang="en-US" sz="2550" b="1" dirty="0">
                <a:solidFill>
                  <a:srgbClr val="124B68"/>
                </a:solidFill>
                <a:latin typeface="Arial" pitchFamily="34" charset="0"/>
                <a:ea typeface="Arial" pitchFamily="34" charset="-122"/>
                <a:cs typeface="Arial" pitchFamily="34" charset="-120"/>
              </a:rPr>
              <a:t>Chemicals</a:t>
            </a:r>
            <a:endParaRPr lang="en-US" sz="2550" dirty="0"/>
          </a:p>
        </p:txBody>
      </p:sp>
      <p:sp>
        <p:nvSpPr>
          <p:cNvPr id="26" name="Text 24"/>
          <p:cNvSpPr/>
          <p:nvPr/>
        </p:nvSpPr>
        <p:spPr>
          <a:xfrm>
            <a:off x="5191720" y="4463415"/>
            <a:ext cx="2866382" cy="297180"/>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VALIDATION TARGET</a:t>
            </a:r>
            <a:endParaRPr lang="en-US" sz="1800" dirty="0"/>
          </a:p>
        </p:txBody>
      </p:sp>
      <p:sp>
        <p:nvSpPr>
          <p:cNvPr id="27" name="Shape 25"/>
          <p:cNvSpPr/>
          <p:nvPr/>
        </p:nvSpPr>
        <p:spPr>
          <a:xfrm>
            <a:off x="990600" y="5107305"/>
            <a:ext cx="7081242" cy="762000"/>
          </a:xfrm>
          <a:prstGeom prst="roundRect">
            <a:avLst>
              <a:gd name="adj" fmla="val 15000"/>
            </a:avLst>
          </a:prstGeom>
          <a:solidFill>
            <a:srgbClr val="FFFFFF"/>
          </a:solidFill>
          <a:ln/>
        </p:spPr>
      </p:sp>
      <p:sp>
        <p:nvSpPr>
          <p:cNvPr id="28" name="Shape 26"/>
          <p:cNvSpPr/>
          <p:nvPr/>
        </p:nvSpPr>
        <p:spPr>
          <a:xfrm>
            <a:off x="990600" y="5861685"/>
            <a:ext cx="7081242" cy="9525"/>
          </a:xfrm>
          <a:prstGeom prst="rect">
            <a:avLst/>
          </a:prstGeom>
          <a:solidFill>
            <a:srgbClr val="DCE8ED"/>
          </a:solidFill>
          <a:ln/>
        </p:spPr>
      </p:sp>
      <p:sp>
        <p:nvSpPr>
          <p:cNvPr id="29" name="Shape 27"/>
          <p:cNvSpPr/>
          <p:nvPr/>
        </p:nvSpPr>
        <p:spPr>
          <a:xfrm>
            <a:off x="990600" y="5107305"/>
            <a:ext cx="7081242" cy="9525"/>
          </a:xfrm>
          <a:prstGeom prst="rect">
            <a:avLst/>
          </a:prstGeom>
          <a:solidFill>
            <a:srgbClr val="DCE8ED"/>
          </a:solidFill>
          <a:ln/>
        </p:spPr>
      </p:sp>
      <p:sp>
        <p:nvSpPr>
          <p:cNvPr id="30" name="Shape 28"/>
          <p:cNvSpPr/>
          <p:nvPr/>
        </p:nvSpPr>
        <p:spPr>
          <a:xfrm>
            <a:off x="990600" y="5107305"/>
            <a:ext cx="38100" cy="762000"/>
          </a:xfrm>
          <a:prstGeom prst="rect">
            <a:avLst/>
          </a:prstGeom>
          <a:solidFill>
            <a:srgbClr val="1597D4"/>
          </a:solidFill>
          <a:ln/>
        </p:spPr>
      </p:sp>
      <p:sp>
        <p:nvSpPr>
          <p:cNvPr id="31" name="Shape 29"/>
          <p:cNvSpPr/>
          <p:nvPr/>
        </p:nvSpPr>
        <p:spPr>
          <a:xfrm>
            <a:off x="8064222" y="5107305"/>
            <a:ext cx="9525" cy="762000"/>
          </a:xfrm>
          <a:prstGeom prst="rect">
            <a:avLst/>
          </a:prstGeom>
          <a:solidFill>
            <a:srgbClr val="DCE8ED"/>
          </a:solidFill>
          <a:ln/>
        </p:spPr>
      </p:sp>
      <p:sp>
        <p:nvSpPr>
          <p:cNvPr id="32" name="Text 30"/>
          <p:cNvSpPr/>
          <p:nvPr/>
        </p:nvSpPr>
        <p:spPr>
          <a:xfrm>
            <a:off x="1295399" y="5305425"/>
            <a:ext cx="1632239"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24B68"/>
                </a:solidFill>
                <a:latin typeface="Arial" pitchFamily="34" charset="0"/>
                <a:ea typeface="Arial" pitchFamily="34" charset="-122"/>
                <a:cs typeface="Arial" pitchFamily="34" charset="-120"/>
              </a:rPr>
              <a:t>Fertilizer</a:t>
            </a:r>
            <a:endParaRPr lang="en-US" sz="2550" dirty="0"/>
          </a:p>
        </p:txBody>
      </p:sp>
      <p:sp>
        <p:nvSpPr>
          <p:cNvPr id="33" name="Text 31"/>
          <p:cNvSpPr/>
          <p:nvPr/>
        </p:nvSpPr>
        <p:spPr>
          <a:xfrm>
            <a:off x="5191720" y="5358765"/>
            <a:ext cx="2866382" cy="297180"/>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VALIDATION TARGET</a:t>
            </a:r>
            <a:endParaRPr lang="en-US" sz="1800" dirty="0"/>
          </a:p>
        </p:txBody>
      </p:sp>
      <p:sp>
        <p:nvSpPr>
          <p:cNvPr id="34" name="Shape 32"/>
          <p:cNvSpPr/>
          <p:nvPr/>
        </p:nvSpPr>
        <p:spPr>
          <a:xfrm>
            <a:off x="990600" y="6002655"/>
            <a:ext cx="7081242" cy="762000"/>
          </a:xfrm>
          <a:prstGeom prst="roundRect">
            <a:avLst>
              <a:gd name="adj" fmla="val 15000"/>
            </a:avLst>
          </a:prstGeom>
          <a:solidFill>
            <a:srgbClr val="FFFFFF"/>
          </a:solidFill>
          <a:ln/>
        </p:spPr>
      </p:sp>
      <p:sp>
        <p:nvSpPr>
          <p:cNvPr id="35" name="Shape 33"/>
          <p:cNvSpPr/>
          <p:nvPr/>
        </p:nvSpPr>
        <p:spPr>
          <a:xfrm>
            <a:off x="990600" y="6757035"/>
            <a:ext cx="7081242" cy="9525"/>
          </a:xfrm>
          <a:prstGeom prst="rect">
            <a:avLst/>
          </a:prstGeom>
          <a:solidFill>
            <a:srgbClr val="DCE8ED"/>
          </a:solidFill>
          <a:ln/>
        </p:spPr>
      </p:sp>
      <p:sp>
        <p:nvSpPr>
          <p:cNvPr id="36" name="Shape 34"/>
          <p:cNvSpPr/>
          <p:nvPr/>
        </p:nvSpPr>
        <p:spPr>
          <a:xfrm>
            <a:off x="990600" y="6002655"/>
            <a:ext cx="7081242" cy="9525"/>
          </a:xfrm>
          <a:prstGeom prst="rect">
            <a:avLst/>
          </a:prstGeom>
          <a:solidFill>
            <a:srgbClr val="DCE8ED"/>
          </a:solidFill>
          <a:ln/>
        </p:spPr>
      </p:sp>
      <p:sp>
        <p:nvSpPr>
          <p:cNvPr id="37" name="Shape 35"/>
          <p:cNvSpPr/>
          <p:nvPr/>
        </p:nvSpPr>
        <p:spPr>
          <a:xfrm>
            <a:off x="990600" y="6002655"/>
            <a:ext cx="38100" cy="762000"/>
          </a:xfrm>
          <a:prstGeom prst="rect">
            <a:avLst/>
          </a:prstGeom>
          <a:solidFill>
            <a:srgbClr val="38BDF2"/>
          </a:solidFill>
          <a:ln/>
        </p:spPr>
      </p:sp>
      <p:sp>
        <p:nvSpPr>
          <p:cNvPr id="38" name="Shape 36"/>
          <p:cNvSpPr/>
          <p:nvPr/>
        </p:nvSpPr>
        <p:spPr>
          <a:xfrm>
            <a:off x="8064222" y="6002655"/>
            <a:ext cx="9525" cy="762000"/>
          </a:xfrm>
          <a:prstGeom prst="rect">
            <a:avLst/>
          </a:prstGeom>
          <a:solidFill>
            <a:srgbClr val="DCE8ED"/>
          </a:solidFill>
          <a:ln/>
        </p:spPr>
      </p:sp>
      <p:sp>
        <p:nvSpPr>
          <p:cNvPr id="39" name="Text 37"/>
          <p:cNvSpPr/>
          <p:nvPr/>
        </p:nvSpPr>
        <p:spPr>
          <a:xfrm>
            <a:off x="1295400" y="6200775"/>
            <a:ext cx="1761256" cy="360998"/>
          </a:xfrm>
          <a:prstGeom prst="rect">
            <a:avLst/>
          </a:prstGeom>
          <a:noFill/>
          <a:ln/>
        </p:spPr>
        <p:txBody>
          <a:bodyPr wrap="square" lIns="25400" tIns="25400" rIns="25400" bIns="25400" rtlCol="0" anchor="t">
            <a:normAutofit fontScale="92500" lnSpcReduction="20000"/>
          </a:bodyPr>
          <a:lstStyle/>
          <a:p>
            <a:pPr marL="0" indent="0" algn="l">
              <a:buNone/>
            </a:pPr>
            <a:r>
              <a:rPr lang="en-US" sz="2550" b="1" dirty="0">
                <a:solidFill>
                  <a:srgbClr val="124B68"/>
                </a:solidFill>
                <a:latin typeface="Arial" pitchFamily="34" charset="0"/>
                <a:ea typeface="Arial" pitchFamily="34" charset="-122"/>
                <a:cs typeface="Arial" pitchFamily="34" charset="-120"/>
              </a:rPr>
              <a:t>Hydrogen</a:t>
            </a:r>
            <a:endParaRPr lang="en-US" sz="2550" dirty="0"/>
          </a:p>
        </p:txBody>
      </p:sp>
      <p:sp>
        <p:nvSpPr>
          <p:cNvPr id="40" name="Text 38"/>
          <p:cNvSpPr/>
          <p:nvPr/>
        </p:nvSpPr>
        <p:spPr>
          <a:xfrm>
            <a:off x="4946095" y="6254115"/>
            <a:ext cx="3136571" cy="297180"/>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44" dirty="0">
                <a:solidFill>
                  <a:srgbClr val="6B7C89"/>
                </a:solidFill>
                <a:latin typeface="Arial" pitchFamily="34" charset="0"/>
                <a:ea typeface="Arial" pitchFamily="34" charset="-122"/>
                <a:cs typeface="Arial" pitchFamily="34" charset="-120"/>
              </a:rPr>
              <a:t>DEPLOYMENT TARGET</a:t>
            </a:r>
            <a:endParaRPr lang="en-US" sz="1800" dirty="0"/>
          </a:p>
        </p:txBody>
      </p:sp>
      <p:sp>
        <p:nvSpPr>
          <p:cNvPr id="41" name="Text 39"/>
          <p:cNvSpPr/>
          <p:nvPr/>
        </p:nvSpPr>
        <p:spPr>
          <a:xfrm>
            <a:off x="990600" y="8506573"/>
            <a:ext cx="7293679" cy="747712"/>
          </a:xfrm>
          <a:prstGeom prst="rect">
            <a:avLst/>
          </a:prstGeom>
          <a:noFill/>
          <a:ln/>
        </p:spPr>
        <p:txBody>
          <a:bodyPr wrap="square" lIns="25400" tIns="25400" rIns="25400" bIns="25400" rtlCol="0" anchor="t">
            <a:normAutofit lnSpcReduction="10000"/>
          </a:bodyPr>
          <a:lstStyle/>
          <a:p>
            <a:pPr marL="0" indent="0" algn="l">
              <a:lnSpc>
                <a:spcPct val="119423"/>
              </a:lnSpc>
              <a:buNone/>
            </a:pPr>
            <a:r>
              <a:rPr lang="en-US" sz="2025" dirty="0">
                <a:solidFill>
                  <a:srgbClr val="6B7C89"/>
                </a:solidFill>
                <a:latin typeface="Arial" pitchFamily="34" charset="0"/>
                <a:ea typeface="Arial" pitchFamily="34" charset="-122"/>
                <a:cs typeface="Arial" pitchFamily="34" charset="-120"/>
              </a:rPr>
              <a:t>No savings are claimed for any unvalidated industry. Each one earns its number the same way chlor-alkali did.</a:t>
            </a:r>
            <a:endParaRPr lang="en-US" sz="2025" dirty="0"/>
          </a:p>
        </p:txBody>
      </p:sp>
      <p:sp>
        <p:nvSpPr>
          <p:cNvPr id="42" name="Shape 40"/>
          <p:cNvSpPr/>
          <p:nvPr/>
        </p:nvSpPr>
        <p:spPr>
          <a:xfrm>
            <a:off x="8376642" y="2421255"/>
            <a:ext cx="8920758" cy="7179945"/>
          </a:xfrm>
          <a:prstGeom prst="roundRect">
            <a:avLst>
              <a:gd name="adj" fmla="val 1857"/>
            </a:avLst>
          </a:prstGeom>
          <a:solidFill>
            <a:srgbClr val="EAF5FB"/>
          </a:solidFill>
          <a:ln w="7620">
            <a:solidFill>
              <a:srgbClr val="C7E2F1"/>
            </a:solidFill>
            <a:prstDash val="solid"/>
          </a:ln>
        </p:spPr>
      </p:sp>
      <p:sp>
        <p:nvSpPr>
          <p:cNvPr id="43" name="Text 41"/>
          <p:cNvSpPr/>
          <p:nvPr/>
        </p:nvSpPr>
        <p:spPr>
          <a:xfrm>
            <a:off x="8765262" y="2752725"/>
            <a:ext cx="8957870"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1597D4"/>
                </a:solidFill>
                <a:latin typeface="Arial" pitchFamily="34" charset="0"/>
                <a:ea typeface="Arial" pitchFamily="34" charset="-122"/>
                <a:cs typeface="Arial" pitchFamily="34" charset="-120"/>
              </a:rPr>
              <a:t>90-DAY ADVISORY PILOT</a:t>
            </a:r>
            <a:endParaRPr lang="en-US" sz="1950" dirty="0"/>
          </a:p>
        </p:txBody>
      </p:sp>
      <p:sp>
        <p:nvSpPr>
          <p:cNvPr id="44" name="Shape 42"/>
          <p:cNvSpPr/>
          <p:nvPr/>
        </p:nvSpPr>
        <p:spPr>
          <a:xfrm>
            <a:off x="8765262" y="3225165"/>
            <a:ext cx="8143518" cy="1076325"/>
          </a:xfrm>
          <a:prstGeom prst="roundRect">
            <a:avLst>
              <a:gd name="adj" fmla="val 8850"/>
            </a:avLst>
          </a:prstGeom>
          <a:solidFill>
            <a:srgbClr val="FFFFFF"/>
          </a:solidFill>
          <a:ln w="7620">
            <a:solidFill>
              <a:srgbClr val="C7E2F1"/>
            </a:solidFill>
            <a:prstDash val="solid"/>
          </a:ln>
        </p:spPr>
      </p:sp>
      <p:sp>
        <p:nvSpPr>
          <p:cNvPr id="45" name="Text 43"/>
          <p:cNvSpPr/>
          <p:nvPr/>
        </p:nvSpPr>
        <p:spPr>
          <a:xfrm>
            <a:off x="9001483" y="3457575"/>
            <a:ext cx="1357884" cy="320040"/>
          </a:xfrm>
          <a:prstGeom prst="rect">
            <a:avLst/>
          </a:prstGeom>
          <a:noFill/>
          <a:ln/>
        </p:spPr>
        <p:txBody>
          <a:bodyPr wrap="none" lIns="25400" tIns="25400" rIns="25400" bIns="25400" rtlCol="0" anchor="t">
            <a:normAutofit lnSpcReduction="10000"/>
          </a:bodyPr>
          <a:lstStyle/>
          <a:p>
            <a:pPr marL="0" indent="0" algn="l">
              <a:buNone/>
            </a:pPr>
            <a:r>
              <a:rPr lang="en-US" sz="1950" b="1" dirty="0">
                <a:solidFill>
                  <a:srgbClr val="1597D4"/>
                </a:solidFill>
                <a:latin typeface="Arial" pitchFamily="34" charset="0"/>
                <a:ea typeface="Arial" pitchFamily="34" charset="-122"/>
                <a:cs typeface="Arial" pitchFamily="34" charset="-120"/>
              </a:rPr>
              <a:t>Weeks 1–4</a:t>
            </a:r>
            <a:endParaRPr lang="en-US" sz="1950" dirty="0"/>
          </a:p>
        </p:txBody>
      </p:sp>
      <p:sp>
        <p:nvSpPr>
          <p:cNvPr id="46" name="Text 44"/>
          <p:cNvSpPr/>
          <p:nvPr/>
        </p:nvSpPr>
        <p:spPr>
          <a:xfrm>
            <a:off x="10464523" y="3404235"/>
            <a:ext cx="6394279" cy="756285"/>
          </a:xfrm>
          <a:prstGeom prst="rect">
            <a:avLst/>
          </a:prstGeom>
          <a:noFill/>
          <a:ln/>
        </p:spPr>
        <p:txBody>
          <a:bodyPr wrap="square" lIns="25400" tIns="25400" rIns="25400" bIns="25400" rtlCol="0" anchor="t">
            <a:normAutofit/>
          </a:bodyPr>
          <a:lstStyle/>
          <a:p>
            <a:pPr marL="0" indent="0" algn="l">
              <a:lnSpc>
                <a:spcPct val="112202"/>
              </a:lnSpc>
              <a:buNone/>
            </a:pPr>
            <a:r>
              <a:rPr lang="en-US" sz="2175" dirty="0">
                <a:solidFill>
                  <a:srgbClr val="17324D"/>
                </a:solidFill>
                <a:latin typeface="Arial" pitchFamily="34" charset="0"/>
                <a:ea typeface="Arial" pitchFamily="34" charset="-122"/>
                <a:cs typeface="Arial" pitchFamily="34" charset="-120"/>
              </a:rPr>
              <a:t>Plant-specific digital twin, fitted to their historian</a:t>
            </a:r>
            <a:endParaRPr lang="en-US" sz="2175" dirty="0"/>
          </a:p>
        </p:txBody>
      </p:sp>
      <p:sp>
        <p:nvSpPr>
          <p:cNvPr id="47" name="Shape 45"/>
          <p:cNvSpPr/>
          <p:nvPr/>
        </p:nvSpPr>
        <p:spPr>
          <a:xfrm>
            <a:off x="8765262" y="4415790"/>
            <a:ext cx="8143518" cy="1076325"/>
          </a:xfrm>
          <a:prstGeom prst="roundRect">
            <a:avLst>
              <a:gd name="adj" fmla="val 8850"/>
            </a:avLst>
          </a:prstGeom>
          <a:solidFill>
            <a:srgbClr val="FFFFFF"/>
          </a:solidFill>
          <a:ln w="7620">
            <a:solidFill>
              <a:srgbClr val="C7E2F1"/>
            </a:solidFill>
            <a:prstDash val="solid"/>
          </a:ln>
        </p:spPr>
      </p:sp>
      <p:sp>
        <p:nvSpPr>
          <p:cNvPr id="48" name="Text 46"/>
          <p:cNvSpPr/>
          <p:nvPr/>
        </p:nvSpPr>
        <p:spPr>
          <a:xfrm>
            <a:off x="9001483" y="4648200"/>
            <a:ext cx="1357884" cy="320040"/>
          </a:xfrm>
          <a:prstGeom prst="rect">
            <a:avLst/>
          </a:prstGeom>
          <a:noFill/>
          <a:ln/>
        </p:spPr>
        <p:txBody>
          <a:bodyPr wrap="none" lIns="25400" tIns="25400" rIns="25400" bIns="25400" rtlCol="0" anchor="t">
            <a:normAutofit lnSpcReduction="10000"/>
          </a:bodyPr>
          <a:lstStyle/>
          <a:p>
            <a:pPr marL="0" indent="0" algn="l">
              <a:buNone/>
            </a:pPr>
            <a:r>
              <a:rPr lang="en-US" sz="1950" b="1" dirty="0">
                <a:solidFill>
                  <a:srgbClr val="1597D4"/>
                </a:solidFill>
                <a:latin typeface="Arial" pitchFamily="34" charset="0"/>
                <a:ea typeface="Arial" pitchFamily="34" charset="-122"/>
                <a:cs typeface="Arial" pitchFamily="34" charset="-120"/>
              </a:rPr>
              <a:t>Weeks 5–8</a:t>
            </a:r>
            <a:endParaRPr lang="en-US" sz="1950" dirty="0"/>
          </a:p>
        </p:txBody>
      </p:sp>
      <p:sp>
        <p:nvSpPr>
          <p:cNvPr id="49" name="Text 47"/>
          <p:cNvSpPr/>
          <p:nvPr/>
        </p:nvSpPr>
        <p:spPr>
          <a:xfrm>
            <a:off x="10464523" y="4594860"/>
            <a:ext cx="6394279" cy="756285"/>
          </a:xfrm>
          <a:prstGeom prst="rect">
            <a:avLst/>
          </a:prstGeom>
          <a:noFill/>
          <a:ln/>
        </p:spPr>
        <p:txBody>
          <a:bodyPr wrap="square" lIns="25400" tIns="25400" rIns="25400" bIns="25400" rtlCol="0" anchor="t">
            <a:normAutofit lnSpcReduction="10000"/>
          </a:bodyPr>
          <a:lstStyle/>
          <a:p>
            <a:pPr marL="0" indent="0" algn="l">
              <a:lnSpc>
                <a:spcPct val="112202"/>
              </a:lnSpc>
              <a:buNone/>
            </a:pPr>
            <a:r>
              <a:rPr lang="en-US" sz="2175" dirty="0">
                <a:solidFill>
                  <a:srgbClr val="17324D"/>
                </a:solidFill>
                <a:latin typeface="Arial" pitchFamily="34" charset="0"/>
                <a:ea typeface="Arial" pitchFamily="34" charset="-122"/>
                <a:cs typeface="Arial" pitchFamily="34" charset="-120"/>
              </a:rPr>
              <a:t>Flexibility cost curve φ the number they have never had</a:t>
            </a:r>
            <a:endParaRPr lang="en-US" sz="2175" dirty="0"/>
          </a:p>
        </p:txBody>
      </p:sp>
      <p:sp>
        <p:nvSpPr>
          <p:cNvPr id="50" name="Shape 48"/>
          <p:cNvSpPr/>
          <p:nvPr/>
        </p:nvSpPr>
        <p:spPr>
          <a:xfrm>
            <a:off x="8765262" y="5606415"/>
            <a:ext cx="8143518" cy="1076325"/>
          </a:xfrm>
          <a:prstGeom prst="roundRect">
            <a:avLst>
              <a:gd name="adj" fmla="val 8850"/>
            </a:avLst>
          </a:prstGeom>
          <a:solidFill>
            <a:srgbClr val="FFFFFF"/>
          </a:solidFill>
          <a:ln w="7620">
            <a:solidFill>
              <a:srgbClr val="C7E2F1"/>
            </a:solidFill>
            <a:prstDash val="solid"/>
          </a:ln>
        </p:spPr>
      </p:sp>
      <p:sp>
        <p:nvSpPr>
          <p:cNvPr id="51" name="Text 49"/>
          <p:cNvSpPr/>
          <p:nvPr/>
        </p:nvSpPr>
        <p:spPr>
          <a:xfrm>
            <a:off x="9001483" y="5838825"/>
            <a:ext cx="1509415" cy="320040"/>
          </a:xfrm>
          <a:prstGeom prst="rect">
            <a:avLst/>
          </a:prstGeom>
          <a:noFill/>
          <a:ln/>
        </p:spPr>
        <p:txBody>
          <a:bodyPr wrap="none" lIns="25400" tIns="25400" rIns="25400" bIns="25400" rtlCol="0" anchor="t">
            <a:normAutofit lnSpcReduction="10000"/>
          </a:bodyPr>
          <a:lstStyle/>
          <a:p>
            <a:pPr marL="0" indent="0" algn="l">
              <a:buNone/>
            </a:pPr>
            <a:r>
              <a:rPr lang="en-US" sz="1950" b="1" dirty="0">
                <a:solidFill>
                  <a:srgbClr val="1597D4"/>
                </a:solidFill>
                <a:latin typeface="Arial" pitchFamily="34" charset="0"/>
                <a:ea typeface="Arial" pitchFamily="34" charset="-122"/>
                <a:cs typeface="Arial" pitchFamily="34" charset="-120"/>
              </a:rPr>
              <a:t>Weeks 9–12</a:t>
            </a:r>
            <a:endParaRPr lang="en-US" sz="1950" dirty="0"/>
          </a:p>
        </p:txBody>
      </p:sp>
      <p:sp>
        <p:nvSpPr>
          <p:cNvPr id="52" name="Text 50"/>
          <p:cNvSpPr/>
          <p:nvPr/>
        </p:nvSpPr>
        <p:spPr>
          <a:xfrm>
            <a:off x="10602277" y="5785485"/>
            <a:ext cx="6252391" cy="756285"/>
          </a:xfrm>
          <a:prstGeom prst="rect">
            <a:avLst/>
          </a:prstGeom>
          <a:noFill/>
          <a:ln/>
        </p:spPr>
        <p:txBody>
          <a:bodyPr wrap="square" lIns="25400" tIns="25400" rIns="25400" bIns="25400" rtlCol="0" anchor="t">
            <a:normAutofit lnSpcReduction="10000"/>
          </a:bodyPr>
          <a:lstStyle/>
          <a:p>
            <a:pPr marL="0" indent="0" algn="l">
              <a:lnSpc>
                <a:spcPct val="112202"/>
              </a:lnSpc>
              <a:buNone/>
            </a:pPr>
            <a:r>
              <a:rPr lang="en-US" sz="2175" dirty="0">
                <a:solidFill>
                  <a:srgbClr val="17324D"/>
                </a:solidFill>
                <a:latin typeface="Arial" pitchFamily="34" charset="0"/>
                <a:ea typeface="Arial" pitchFamily="34" charset="-122"/>
                <a:cs typeface="Arial" pitchFamily="34" charset="-120"/>
              </a:rPr>
              <a:t>Shadow-mode optimisation, compared against actuals daily</a:t>
            </a:r>
            <a:endParaRPr lang="en-US" sz="2175" dirty="0"/>
          </a:p>
        </p:txBody>
      </p:sp>
      <p:sp>
        <p:nvSpPr>
          <p:cNvPr id="53" name="Shape 51"/>
          <p:cNvSpPr/>
          <p:nvPr/>
        </p:nvSpPr>
        <p:spPr>
          <a:xfrm>
            <a:off x="8765262" y="6873240"/>
            <a:ext cx="3349466" cy="518160"/>
          </a:xfrm>
          <a:prstGeom prst="roundRect">
            <a:avLst>
              <a:gd name="adj" fmla="val 14706"/>
            </a:avLst>
          </a:prstGeom>
          <a:solidFill>
            <a:srgbClr val="FFFFFF"/>
          </a:solidFill>
          <a:ln w="7620">
            <a:solidFill>
              <a:srgbClr val="BFE5D4"/>
            </a:solidFill>
            <a:prstDash val="solid"/>
          </a:ln>
        </p:spPr>
      </p:sp>
      <p:sp>
        <p:nvSpPr>
          <p:cNvPr id="54" name="Text 52"/>
          <p:cNvSpPr/>
          <p:nvPr/>
        </p:nvSpPr>
        <p:spPr>
          <a:xfrm>
            <a:off x="8944332" y="6981305"/>
            <a:ext cx="3091810" cy="31242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124B68"/>
                </a:solidFill>
                <a:latin typeface="Arial" pitchFamily="34" charset="0"/>
                <a:ea typeface="Arial" pitchFamily="34" charset="-122"/>
                <a:cs typeface="Arial" pitchFamily="34" charset="-120"/>
              </a:rPr>
              <a:t>Lower landed electricity cost</a:t>
            </a:r>
            <a:endParaRPr lang="en-US" sz="1875" dirty="0"/>
          </a:p>
        </p:txBody>
      </p:sp>
      <p:sp>
        <p:nvSpPr>
          <p:cNvPr id="55" name="Shape 53"/>
          <p:cNvSpPr/>
          <p:nvPr/>
        </p:nvSpPr>
        <p:spPr>
          <a:xfrm>
            <a:off x="12209979" y="6873240"/>
            <a:ext cx="3494842" cy="518160"/>
          </a:xfrm>
          <a:prstGeom prst="roundRect">
            <a:avLst>
              <a:gd name="adj" fmla="val 14706"/>
            </a:avLst>
          </a:prstGeom>
          <a:solidFill>
            <a:srgbClr val="FFFFFF"/>
          </a:solidFill>
          <a:ln w="7620">
            <a:solidFill>
              <a:srgbClr val="BFE5D4"/>
            </a:solidFill>
            <a:prstDash val="solid"/>
          </a:ln>
        </p:spPr>
      </p:sp>
      <p:sp>
        <p:nvSpPr>
          <p:cNvPr id="56" name="Text 54"/>
          <p:cNvSpPr/>
          <p:nvPr/>
        </p:nvSpPr>
        <p:spPr>
          <a:xfrm>
            <a:off x="12389049" y="6981305"/>
            <a:ext cx="3241547" cy="31242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124B68"/>
                </a:solidFill>
                <a:latin typeface="Arial" pitchFamily="34" charset="0"/>
                <a:ea typeface="Arial" pitchFamily="34" charset="-122"/>
                <a:cs typeface="Arial" pitchFamily="34" charset="-120"/>
              </a:rPr>
              <a:t>Zero product-spec excursions</a:t>
            </a:r>
            <a:endParaRPr lang="en-US" sz="1875" dirty="0"/>
          </a:p>
        </p:txBody>
      </p:sp>
      <p:sp>
        <p:nvSpPr>
          <p:cNvPr id="57" name="Shape 55"/>
          <p:cNvSpPr/>
          <p:nvPr/>
        </p:nvSpPr>
        <p:spPr>
          <a:xfrm>
            <a:off x="8765262" y="7486650"/>
            <a:ext cx="2608183" cy="518160"/>
          </a:xfrm>
          <a:prstGeom prst="roundRect">
            <a:avLst>
              <a:gd name="adj" fmla="val 14706"/>
            </a:avLst>
          </a:prstGeom>
          <a:solidFill>
            <a:srgbClr val="FFFFFF"/>
          </a:solidFill>
          <a:ln w="7620">
            <a:solidFill>
              <a:srgbClr val="BFE5D4"/>
            </a:solidFill>
            <a:prstDash val="solid"/>
          </a:ln>
        </p:spPr>
      </p:sp>
      <p:sp>
        <p:nvSpPr>
          <p:cNvPr id="58" name="Text 56"/>
          <p:cNvSpPr/>
          <p:nvPr/>
        </p:nvSpPr>
        <p:spPr>
          <a:xfrm>
            <a:off x="8944332" y="7594715"/>
            <a:ext cx="2328289" cy="31242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124B68"/>
                </a:solidFill>
                <a:latin typeface="Arial" pitchFamily="34" charset="0"/>
                <a:ea typeface="Arial" pitchFamily="34" charset="-122"/>
                <a:cs typeface="Arial" pitchFamily="34" charset="-120"/>
              </a:rPr>
              <a:t>Zero safety violations</a:t>
            </a:r>
            <a:endParaRPr lang="en-US" sz="1875" dirty="0"/>
          </a:p>
        </p:txBody>
      </p:sp>
      <p:sp>
        <p:nvSpPr>
          <p:cNvPr id="59" name="Shape 57"/>
          <p:cNvSpPr/>
          <p:nvPr/>
        </p:nvSpPr>
        <p:spPr>
          <a:xfrm>
            <a:off x="11468695" y="7486650"/>
            <a:ext cx="4037886" cy="518160"/>
          </a:xfrm>
          <a:prstGeom prst="roundRect">
            <a:avLst>
              <a:gd name="adj" fmla="val 14706"/>
            </a:avLst>
          </a:prstGeom>
          <a:solidFill>
            <a:srgbClr val="FFFFFF"/>
          </a:solidFill>
          <a:ln w="7620">
            <a:solidFill>
              <a:srgbClr val="BFE5D4"/>
            </a:solidFill>
            <a:prstDash val="solid"/>
          </a:ln>
        </p:spPr>
      </p:sp>
      <p:sp>
        <p:nvSpPr>
          <p:cNvPr id="60" name="Text 58"/>
          <p:cNvSpPr/>
          <p:nvPr/>
        </p:nvSpPr>
        <p:spPr>
          <a:xfrm>
            <a:off x="11647765" y="7594715"/>
            <a:ext cx="3800882" cy="31242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124B68"/>
                </a:solidFill>
                <a:latin typeface="Arial" pitchFamily="34" charset="0"/>
                <a:ea typeface="Arial" pitchFamily="34" charset="-122"/>
                <a:cs typeface="Arial" pitchFamily="34" charset="-120"/>
              </a:rPr>
              <a:t>No production authority transferred</a:t>
            </a:r>
            <a:endParaRPr lang="en-US" sz="1875" dirty="0"/>
          </a:p>
        </p:txBody>
      </p:sp>
      <p:sp>
        <p:nvSpPr>
          <p:cNvPr id="61" name="Shape 59"/>
          <p:cNvSpPr/>
          <p:nvPr/>
        </p:nvSpPr>
        <p:spPr>
          <a:xfrm>
            <a:off x="8765262" y="8254365"/>
            <a:ext cx="8143518" cy="9525"/>
          </a:xfrm>
          <a:prstGeom prst="rect">
            <a:avLst/>
          </a:prstGeom>
          <a:solidFill>
            <a:srgbClr val="C7E2F1"/>
          </a:solidFill>
          <a:ln/>
        </p:spPr>
      </p:sp>
      <p:sp>
        <p:nvSpPr>
          <p:cNvPr id="62" name="Text 60"/>
          <p:cNvSpPr/>
          <p:nvPr/>
        </p:nvSpPr>
        <p:spPr>
          <a:xfrm>
            <a:off x="8765262" y="8452485"/>
            <a:ext cx="8532138" cy="1072515"/>
          </a:xfrm>
          <a:prstGeom prst="rect">
            <a:avLst/>
          </a:prstGeom>
          <a:noFill/>
          <a:ln/>
        </p:spPr>
        <p:txBody>
          <a:bodyPr wrap="square" lIns="25400" tIns="25400" rIns="25400" bIns="25400" rtlCol="0" anchor="t">
            <a:normAutofit fontScale="92500"/>
          </a:bodyPr>
          <a:lstStyle/>
          <a:p>
            <a:pPr marL="0" indent="0" algn="l">
              <a:lnSpc>
                <a:spcPct val="114096"/>
              </a:lnSpc>
              <a:buNone/>
            </a:pPr>
            <a:r>
              <a:rPr lang="en-US" sz="2475" b="1" dirty="0">
                <a:solidFill>
                  <a:srgbClr val="124B68"/>
                </a:solidFill>
                <a:latin typeface="Arial" pitchFamily="34" charset="0"/>
                <a:ea typeface="Arial" pitchFamily="34" charset="-122"/>
                <a:cs typeface="Arial" pitchFamily="34" charset="-120"/>
              </a:rPr>
              <a:t>PRANA does not tell the plant what equipment to sacrifice. It tells the plant what flexibility it can safely afford.</a:t>
            </a:r>
            <a:endParaRPr lang="en-US" sz="24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2723</Words>
  <Application>Microsoft Office PowerPoint</Application>
  <PresentationFormat>Custom</PresentationFormat>
  <Paragraphs>255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Buddharatna Hingole</cp:lastModifiedBy>
  <cp:revision>2</cp:revision>
  <dcterms:created xsi:type="dcterms:W3CDTF">2026-08-11T14:20:00Z</dcterms:created>
  <dcterms:modified xsi:type="dcterms:W3CDTF">2026-08-11T15:52:21Z</dcterms:modified>
</cp:coreProperties>
</file>