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flat. Name, one line, then move. Left is who we are; right is the whole thesis in two pictures — the price signal that makes flexibility valuable, and the asset that already exists to supply it. The line to land: the cell house is the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Settled money, not a forecast. 152,542 blocks. Say the FY2026-27 caveat out loud before anyone catches it: April to August only, India's peak-solar and peak-demand months, seasonally biased upward. It indicates acceleration; it does not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Chlor-alkali is the customer because power is the raw material. Grid-exposed, owns the asset, and the works manager already avoids peak hours by hand. We are asking them to do an existing behaviour optimally.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consensus answer is to build 411 GWh. Fine — that build must happen. But one 700 TPD plant already holds 748 deliverable megawatt-hours, and nobody dispatches it. Stress the word deliverable: we quote the chlorine consumer's floor, not the cell's safety interlock.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high point. I did not assume the convexity — electrochemistry gives it to me. Voltage rises linearly with current density, Faraday's law makes production proportional to current, so power is necessarily quadratic in production. And the Government of India's own published cell equation says specific energy FALLS on turn-down. Chlor-alkali is the one industrial process paid, in energy terms, to be flexible.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novel object. Ask any Indian plant how many MW it can move, for how long, at what cost — no document answers. φ is that document. The number the plant has never had about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diagram, ten seconds each. The load-bearing detail is at the end: explanations come from the solver's binding constraints, not from the language model. It cannot invent a reason because it is never asked to produce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schedules for the same days: one built against the exchange clearing price, one against the landed bill, both settled at the landed bill. Note we killed our own earlier version of this test — zeroing the demand charge leaves the peak variable unpriced, so the difference was degeneracy, not behaviour. Measuring the rupee penalty on a commonly-settled bill is the correct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the forecast-error row, never perfect foresight. Everything is net: one fifth of the gross saving is paid straight back to the plant for membrane wear, dumped chlorine and kVAh droop. Thirteen bad days out of 120 — reported, not removed. A single-asset site with a hard 70% floor has no second lever when the forecast is wrong, which is the honest argument for adding a second flexible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explicitly. An electrolyser is a chlor-alkali cell with a different membrane — same voltage law, same convex curve, same twin, already implemented. Then the ask, and stop talking: one plant, 90 days, advisory only, costs them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0600" y="964883"/>
            <a:ext cx="914400" cy="28575"/>
          </a:xfrm>
          <a:prstGeom prst="rect">
            <a:avLst/>
          </a:prstGeom>
          <a:gradFill rotWithShape="1">
            <a:gsLst>
              <a:gs pos="0">
                <a:srgbClr val="1597D4">
                  <a:alpha val="100000"/>
                </a:srgbClr>
              </a:gs>
              <a:gs pos="50000">
                <a:srgbClr val="38BDF2">
                  <a:alpha val="100000"/>
                </a:srgbClr>
              </a:gs>
              <a:gs pos="100000">
                <a:srgbClr val="22A06B">
                  <a:alpha val="100000"/>
                </a:srgbClr>
              </a:gs>
            </a:gsLst>
            <a:lin ang="0" scaled="0"/>
          </a:gradFill>
          <a:ln/>
        </p:spPr>
      </p:sp>
      <p:sp>
        <p:nvSpPr>
          <p:cNvPr id="3" name="Text 1"/>
          <p:cNvSpPr/>
          <p:nvPr/>
        </p:nvSpPr>
        <p:spPr>
          <a:xfrm>
            <a:off x="2095500" y="838200"/>
            <a:ext cx="6392061"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TRACK · DIGITAL ASSET MANAGEMENT</a:t>
            </a:r>
            <a:endParaRPr lang="en-US" sz="1950" dirty="0"/>
          </a:p>
        </p:txBody>
      </p:sp>
      <p:sp>
        <p:nvSpPr>
          <p:cNvPr id="4" name="Text 2"/>
          <p:cNvSpPr/>
          <p:nvPr/>
        </p:nvSpPr>
        <p:spPr>
          <a:xfrm>
            <a:off x="990600" y="2385060"/>
            <a:ext cx="4993708" cy="1306830"/>
          </a:xfrm>
          <a:prstGeom prst="rect">
            <a:avLst/>
          </a:prstGeom>
          <a:noFill/>
          <a:ln/>
        </p:spPr>
        <p:txBody>
          <a:bodyPr wrap="square" lIns="25400" tIns="25400" rIns="25400" bIns="25400" rtlCol="0" anchor="t">
            <a:normAutofit/>
          </a:bodyPr>
          <a:lstStyle/>
          <a:p>
            <a:pPr algn="l" indent="0" marL="0">
              <a:lnSpc>
                <a:spcPct val="78538"/>
              </a:lnSpc>
              <a:buNone/>
            </a:pPr>
            <a:r>
              <a:rPr lang="en-US" sz="11100" b="1" spc="-499" kern="0" dirty="0">
                <a:solidFill>
                  <a:srgbClr val="124B68"/>
                </a:solidFill>
                <a:latin typeface="Arial" pitchFamily="34" charset="0"/>
                <a:ea typeface="Arial" pitchFamily="34" charset="-122"/>
                <a:cs typeface="Arial" pitchFamily="34" charset="-120"/>
              </a:rPr>
              <a:t>PRANA</a:t>
            </a:r>
            <a:endParaRPr lang="en-US" sz="11100" dirty="0"/>
          </a:p>
        </p:txBody>
      </p:sp>
      <p:sp>
        <p:nvSpPr>
          <p:cNvPr id="5" name="Text 3"/>
          <p:cNvSpPr/>
          <p:nvPr/>
        </p:nvSpPr>
        <p:spPr>
          <a:xfrm>
            <a:off x="5816084" y="2910840"/>
            <a:ext cx="1454932" cy="838200"/>
          </a:xfrm>
          <a:prstGeom prst="rect">
            <a:avLst/>
          </a:prstGeom>
          <a:noFill/>
          <a:ln/>
        </p:spPr>
        <p:txBody>
          <a:bodyPr wrap="square" lIns="25400" tIns="25400" rIns="25400" bIns="25400" rtlCol="0" anchor="t">
            <a:normAutofit/>
          </a:bodyPr>
          <a:lstStyle/>
          <a:p>
            <a:pPr algn="l" indent="0" marL="0">
              <a:lnSpc>
                <a:spcPct val="87500"/>
              </a:lnSpc>
              <a:buNone/>
            </a:pPr>
            <a:r>
              <a:rPr lang="en-US" sz="6300" b="1" dirty="0">
                <a:solidFill>
                  <a:srgbClr val="38BDF2"/>
                </a:solidFill>
                <a:latin typeface="Arial" pitchFamily="34" charset="0"/>
                <a:ea typeface="Arial" pitchFamily="34" charset="-122"/>
                <a:cs typeface="Arial" pitchFamily="34" charset="-120"/>
              </a:rPr>
              <a:t>प्राण</a:t>
            </a:r>
            <a:endParaRPr lang="en-US" sz="6300" dirty="0"/>
          </a:p>
        </p:txBody>
      </p:sp>
      <p:sp>
        <p:nvSpPr>
          <p:cNvPr id="6" name="Text 4"/>
          <p:cNvSpPr/>
          <p:nvPr/>
        </p:nvSpPr>
        <p:spPr>
          <a:xfrm>
            <a:off x="990600" y="3920490"/>
            <a:ext cx="6001849" cy="1085850"/>
          </a:xfrm>
          <a:prstGeom prst="rect">
            <a:avLst/>
          </a:prstGeom>
          <a:noFill/>
          <a:ln/>
        </p:spPr>
        <p:txBody>
          <a:bodyPr wrap="square" lIns="25400" tIns="25400" rIns="25400" bIns="25400" rtlCol="0" anchor="t">
            <a:normAutofit/>
          </a:bodyPr>
          <a:lstStyle/>
          <a:p>
            <a:pPr algn="l" indent="0" marL="0">
              <a:lnSpc>
                <a:spcPct val="95486"/>
              </a:lnSpc>
              <a:buNone/>
            </a:pPr>
            <a:r>
              <a:rPr lang="en-US" sz="3750" b="1" spc="-75" kern="0" dirty="0">
                <a:solidFill>
                  <a:srgbClr val="1597D4"/>
                </a:solidFill>
                <a:latin typeface="Arial" pitchFamily="34" charset="0"/>
                <a:ea typeface="Arial" pitchFamily="34" charset="-122"/>
                <a:cs typeface="Arial" pitchFamily="34" charset="-120"/>
              </a:rPr>
              <a:t>India's electrochemical grid battery</a:t>
            </a:r>
            <a:endParaRPr lang="en-US" sz="3750" dirty="0"/>
          </a:p>
        </p:txBody>
      </p:sp>
      <p:sp>
        <p:nvSpPr>
          <p:cNvPr id="7" name="Text 5"/>
          <p:cNvSpPr/>
          <p:nvPr/>
        </p:nvSpPr>
        <p:spPr>
          <a:xfrm>
            <a:off x="990600" y="5177790"/>
            <a:ext cx="7844676" cy="678180"/>
          </a:xfrm>
          <a:prstGeom prst="rect">
            <a:avLst/>
          </a:prstGeom>
          <a:noFill/>
          <a:ln/>
        </p:spPr>
        <p:txBody>
          <a:bodyPr wrap="square" lIns="25400" tIns="25400" rIns="25400" bIns="25400" rtlCol="0" anchor="t">
            <a:normAutofit/>
          </a:bodyPr>
          <a:lstStyle/>
          <a:p>
            <a:pPr algn="l" indent="0" marL="0">
              <a:buNone/>
            </a:pPr>
            <a:r>
              <a:rPr lang="en-US" sz="2100" spc="210" kern="0" dirty="0">
                <a:solidFill>
                  <a:srgbClr val="6B7C89"/>
                </a:solidFill>
                <a:latin typeface="Arial" pitchFamily="34" charset="0"/>
                <a:ea typeface="Arial" pitchFamily="34" charset="-122"/>
                <a:cs typeface="Arial" pitchFamily="34" charset="-120"/>
              </a:rPr>
              <a:t>PROCESS RESPONSE &amp; ADAPTIVE NETWORK AGENT</a:t>
            </a:r>
            <a:endParaRPr lang="en-US" sz="2100" dirty="0"/>
          </a:p>
        </p:txBody>
      </p:sp>
      <p:sp>
        <p:nvSpPr>
          <p:cNvPr id="8" name="Text 6"/>
          <p:cNvSpPr/>
          <p:nvPr/>
        </p:nvSpPr>
        <p:spPr>
          <a:xfrm>
            <a:off x="990600" y="6084570"/>
            <a:ext cx="7129963" cy="1318260"/>
          </a:xfrm>
          <a:prstGeom prst="rect">
            <a:avLst/>
          </a:prstGeom>
          <a:noFill/>
          <a:ln/>
        </p:spPr>
        <p:txBody>
          <a:bodyPr wrap="square" lIns="25400" tIns="25400" rIns="25400" bIns="25400" rtlCol="0" anchor="t">
            <a:normAutofit/>
          </a:bodyPr>
          <a:lstStyle/>
          <a:p>
            <a:pPr algn="l" indent="0" marL="0">
              <a:lnSpc>
                <a:spcPct val="124444"/>
              </a:lnSpc>
              <a:buNone/>
            </a:pPr>
            <a:r>
              <a:rPr lang="en-US" sz="2400" dirty="0">
                <a:solidFill>
                  <a:srgbClr val="17324D"/>
                </a:solidFill>
                <a:latin typeface="Arial" pitchFamily="34" charset="0"/>
                <a:ea typeface="Arial" pitchFamily="34" charset="-122"/>
                <a:cs typeface="Arial" pitchFamily="34" charset="-120"/>
              </a:rPr>
              <a:t>The cell house is the battery. Its state of charge is the caustic tank, and no plant in India dispatches it.</a:t>
            </a:r>
            <a:endParaRPr lang="en-US" sz="2400" dirty="0"/>
          </a:p>
        </p:txBody>
      </p:sp>
      <p:sp>
        <p:nvSpPr>
          <p:cNvPr id="9" name="Shape 7"/>
          <p:cNvSpPr/>
          <p:nvPr/>
        </p:nvSpPr>
        <p:spPr>
          <a:xfrm>
            <a:off x="990600" y="8629650"/>
            <a:ext cx="7616190" cy="9525"/>
          </a:xfrm>
          <a:prstGeom prst="rect">
            <a:avLst/>
          </a:prstGeom>
          <a:solidFill>
            <a:srgbClr val="DCE8ED"/>
          </a:solidFill>
          <a:ln/>
        </p:spPr>
      </p:sp>
      <p:sp>
        <p:nvSpPr>
          <p:cNvPr id="10" name="Text 8"/>
          <p:cNvSpPr/>
          <p:nvPr/>
        </p:nvSpPr>
        <p:spPr>
          <a:xfrm>
            <a:off x="990600" y="8865870"/>
            <a:ext cx="2756630" cy="342900"/>
          </a:xfrm>
          <a:prstGeom prst="rect">
            <a:avLst/>
          </a:prstGeom>
          <a:noFill/>
          <a:ln/>
        </p:spPr>
        <p:txBody>
          <a:bodyPr wrap="none" lIns="25400" tIns="25400" rIns="25400" bIns="25400" rtlCol="0" anchor="t">
            <a:normAutofit/>
          </a:bodyPr>
          <a:lstStyle/>
          <a:p>
            <a:pPr algn="l" indent="0" marL="0">
              <a:buNone/>
            </a:pPr>
            <a:r>
              <a:rPr lang="en-US" sz="2100" b="1" dirty="0">
                <a:solidFill>
                  <a:srgbClr val="124B68"/>
                </a:solidFill>
                <a:latin typeface="Arial" pitchFamily="34" charset="0"/>
                <a:ea typeface="Arial" pitchFamily="34" charset="-122"/>
                <a:cs typeface="Arial" pitchFamily="34" charset="-120"/>
              </a:rPr>
              <a:t>Buddharatna Hingole</a:t>
            </a:r>
            <a:endParaRPr lang="en-US" sz="2100" dirty="0"/>
          </a:p>
        </p:txBody>
      </p:sp>
      <p:sp>
        <p:nvSpPr>
          <p:cNvPr id="11" name="Text 9"/>
          <p:cNvSpPr/>
          <p:nvPr/>
        </p:nvSpPr>
        <p:spPr>
          <a:xfrm>
            <a:off x="990600" y="9227820"/>
            <a:ext cx="2756630" cy="335280"/>
          </a:xfrm>
          <a:prstGeom prst="rect">
            <a:avLst/>
          </a:prstGeom>
          <a:noFill/>
          <a:ln/>
        </p:spPr>
        <p:txBody>
          <a:bodyPr wrap="square" lIns="25400" tIns="25400" rIns="25400" bIns="25400" rtlCol="0" anchor="t">
            <a:normAutofit/>
          </a:bodyPr>
          <a:lstStyle/>
          <a:p>
            <a:pPr algn="l" indent="0" marL="0">
              <a:buNone/>
            </a:pPr>
            <a:r>
              <a:rPr lang="en-US" sz="1950" dirty="0">
                <a:solidFill>
                  <a:srgbClr val="6B7C89"/>
                </a:solidFill>
                <a:latin typeface="Arial" pitchFamily="34" charset="0"/>
                <a:ea typeface="Arial" pitchFamily="34" charset="-122"/>
                <a:cs typeface="Arial" pitchFamily="34" charset="-120"/>
              </a:rPr>
              <a:t>IIT Mandi</a:t>
            </a:r>
            <a:endParaRPr lang="en-US" sz="1950" dirty="0"/>
          </a:p>
        </p:txBody>
      </p:sp>
      <p:sp>
        <p:nvSpPr>
          <p:cNvPr id="12" name="Text 10"/>
          <p:cNvSpPr/>
          <p:nvPr/>
        </p:nvSpPr>
        <p:spPr>
          <a:xfrm>
            <a:off x="4058245" y="8903970"/>
            <a:ext cx="4548545" cy="297180"/>
          </a:xfrm>
          <a:prstGeom prst="rect">
            <a:avLst/>
          </a:prstGeom>
          <a:noFill/>
          <a:ln/>
        </p:spPr>
        <p:txBody>
          <a:bodyPr wrap="none" lIns="25400" tIns="25400" rIns="25400" bIns="25400" rtlCol="0" anchor="t">
            <a:normAutofit/>
          </a:bodyPr>
          <a:lstStyle/>
          <a:p>
            <a:pPr algn="r" indent="0" marL="0">
              <a:buNone/>
            </a:pPr>
            <a:r>
              <a:rPr lang="en-US" sz="1800" b="1" dirty="0">
                <a:solidFill>
                  <a:srgbClr val="124B68"/>
                </a:solidFill>
                <a:latin typeface="Arial" pitchFamily="34" charset="0"/>
                <a:ea typeface="Arial" pitchFamily="34" charset="-122"/>
                <a:cs typeface="Arial" pitchFamily="34" charset="-120"/>
              </a:rPr>
              <a:t>Platinum Jubilee Innovation Hackathon</a:t>
            </a:r>
            <a:endParaRPr lang="en-US" sz="1800" dirty="0"/>
          </a:p>
        </p:txBody>
      </p:sp>
      <p:sp>
        <p:nvSpPr>
          <p:cNvPr id="13" name="Text 11"/>
          <p:cNvSpPr/>
          <p:nvPr/>
        </p:nvSpPr>
        <p:spPr>
          <a:xfrm>
            <a:off x="4058245" y="9220200"/>
            <a:ext cx="4548545" cy="342900"/>
          </a:xfrm>
          <a:prstGeom prst="rect">
            <a:avLst/>
          </a:prstGeom>
          <a:noFill/>
          <a:ln/>
        </p:spPr>
        <p:txBody>
          <a:bodyPr wrap="none" lIns="25400" tIns="25400" rIns="25400" bIns="25400" rtlCol="0" anchor="t">
            <a:normAutofit/>
          </a:bodyPr>
          <a:lstStyle/>
          <a:p>
            <a:pPr algn="r" indent="0" marL="0">
              <a:buNone/>
            </a:pPr>
            <a:r>
              <a:rPr lang="en-US" sz="1800" dirty="0">
                <a:solidFill>
                  <a:srgbClr val="6B7C89"/>
                </a:solidFill>
                <a:latin typeface="Arial" pitchFamily="34" charset="0"/>
                <a:ea typeface="Arial" pitchFamily="34" charset="-122"/>
                <a:cs typeface="Arial" pitchFamily="34" charset="-120"/>
              </a:rPr>
              <a:t>MC²⁺ · Oil India Limited · IIT Kharagpur</a:t>
            </a:r>
            <a:endParaRPr lang="en-US" sz="1800" dirty="0"/>
          </a:p>
        </p:txBody>
      </p:sp>
      <p:sp>
        <p:nvSpPr>
          <p:cNvPr id="14" name="Shape 12"/>
          <p:cNvSpPr/>
          <p:nvPr/>
        </p:nvSpPr>
        <p:spPr>
          <a:xfrm>
            <a:off x="9292590" y="0"/>
            <a:ext cx="8995410" cy="10287000"/>
          </a:xfrm>
          <a:prstGeom prst="rect">
            <a:avLst/>
          </a:prstGeom>
          <a:solidFill>
            <a:srgbClr val="F5FAFC"/>
          </a:solidFill>
          <a:ln/>
        </p:spPr>
      </p:sp>
      <p:sp>
        <p:nvSpPr>
          <p:cNvPr id="15" name="Shape 13"/>
          <p:cNvSpPr/>
          <p:nvPr/>
        </p:nvSpPr>
        <p:spPr>
          <a:xfrm>
            <a:off x="9292590" y="0"/>
            <a:ext cx="9525" cy="10287000"/>
          </a:xfrm>
          <a:prstGeom prst="rect">
            <a:avLst/>
          </a:prstGeom>
          <a:solidFill>
            <a:srgbClr val="DCE8ED"/>
          </a:solidFill>
          <a:ln/>
        </p:spPr>
      </p:sp>
      <p:sp>
        <p:nvSpPr>
          <p:cNvPr id="16" name="Shape 14"/>
          <p:cNvSpPr/>
          <p:nvPr/>
        </p:nvSpPr>
        <p:spPr>
          <a:xfrm>
            <a:off x="9833610" y="838200"/>
            <a:ext cx="7616190" cy="4210050"/>
          </a:xfrm>
          <a:prstGeom prst="roundRect">
            <a:avLst>
              <a:gd name="adj" fmla="val 3167"/>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17" name="Text 15"/>
          <p:cNvSpPr/>
          <p:nvPr/>
        </p:nvSpPr>
        <p:spPr>
          <a:xfrm>
            <a:off x="10165081" y="1112520"/>
            <a:ext cx="7648575" cy="312420"/>
          </a:xfrm>
          <a:prstGeom prst="rect">
            <a:avLst/>
          </a:prstGeom>
          <a:noFill/>
          <a:ln/>
        </p:spPr>
        <p:txBody>
          <a:bodyPr wrap="square" lIns="25400" tIns="25400" rIns="25400" bIns="25400" rtlCol="0" anchor="t">
            <a:normAutofit/>
          </a:bodyPr>
          <a:lstStyle/>
          <a:p>
            <a:pPr algn="l" indent="0" marL="0">
              <a:buNone/>
            </a:pPr>
            <a:r>
              <a:rPr lang="en-US" sz="1875" b="1" spc="188" kern="0" dirty="0">
                <a:solidFill>
                  <a:srgbClr val="1597D4"/>
                </a:solidFill>
                <a:latin typeface="Arial" pitchFamily="34" charset="0"/>
                <a:ea typeface="Arial" pitchFamily="34" charset="-122"/>
                <a:cs typeface="Arial" pitchFamily="34" charset="-120"/>
              </a:rPr>
              <a:t>01 · THE OPPORTUNITY</a:t>
            </a:r>
            <a:endParaRPr lang="en-US" sz="1875" dirty="0"/>
          </a:p>
        </p:txBody>
      </p:sp>
      <p:sp>
        <p:nvSpPr>
          <p:cNvPr id="18" name="Text 16"/>
          <p:cNvSpPr/>
          <p:nvPr/>
        </p:nvSpPr>
        <p:spPr>
          <a:xfrm>
            <a:off x="10165081" y="1482090"/>
            <a:ext cx="7648575" cy="388620"/>
          </a:xfrm>
          <a:prstGeom prst="rect">
            <a:avLst/>
          </a:prstGeom>
          <a:noFill/>
          <a:ln/>
        </p:spPr>
        <p:txBody>
          <a:bodyPr wrap="square" lIns="25400" tIns="25400" rIns="25400" bIns="25400" rtlCol="0" anchor="t">
            <a:normAutofit/>
          </a:bodyPr>
          <a:lstStyle/>
          <a:p>
            <a:pPr algn="l" indent="0" marL="0">
              <a:lnSpc>
                <a:spcPct val="102222"/>
              </a:lnSpc>
              <a:buNone/>
            </a:pPr>
            <a:r>
              <a:rPr lang="en-US" sz="2400" b="1" dirty="0">
                <a:solidFill>
                  <a:srgbClr val="124B68"/>
                </a:solidFill>
                <a:latin typeface="Arial" pitchFamily="34" charset="0"/>
                <a:ea typeface="Arial" pitchFamily="34" charset="-122"/>
                <a:cs typeface="Arial" pitchFamily="34" charset="-120"/>
              </a:rPr>
              <a:t>Power price within a single delivery day</a:t>
            </a:r>
            <a:endParaRPr lang="en-US" sz="240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5081" y="1927860"/>
            <a:ext cx="6953250" cy="1747838"/>
          </a:xfrm>
          <a:prstGeom prst="rect">
            <a:avLst/>
          </a:prstGeom>
        </p:spPr>
      </p:pic>
      <p:sp>
        <p:nvSpPr>
          <p:cNvPr id="20" name="Text 17"/>
          <p:cNvSpPr/>
          <p:nvPr/>
        </p:nvSpPr>
        <p:spPr>
          <a:xfrm>
            <a:off x="10165081" y="3770947"/>
            <a:ext cx="7161848" cy="1041083"/>
          </a:xfrm>
          <a:prstGeom prst="rect">
            <a:avLst/>
          </a:prstGeom>
          <a:noFill/>
          <a:ln/>
        </p:spPr>
        <p:txBody>
          <a:bodyPr wrap="square" lIns="25400" tIns="25400" rIns="25400" bIns="25400" rtlCol="0" anchor="t">
            <a:normAutofit/>
          </a:bodyPr>
          <a:lstStyle/>
          <a:p>
            <a:pPr algn="l" indent="0" marL="0">
              <a:lnSpc>
                <a:spcPct val="118581"/>
              </a:lnSpc>
              <a:buNone/>
            </a:pPr>
            <a:r>
              <a:rPr lang="en-US" sz="1950" dirty="0">
                <a:solidFill>
                  <a:srgbClr val="17324D"/>
                </a:solidFill>
                <a:latin typeface="Arial" pitchFamily="34" charset="0"/>
                <a:ea typeface="Arial" pitchFamily="34" charset="-122"/>
                <a:cs typeface="Arial" pitchFamily="34" charset="-120"/>
              </a:rPr>
              <a:t>Midday clears near ₹2/kWh while the evening peak runs to the ₹10 cap. A flat industrial load pays that spread every day.</a:t>
            </a:r>
            <a:endParaRPr lang="en-US" sz="1950" dirty="0"/>
          </a:p>
        </p:txBody>
      </p:sp>
      <p:sp>
        <p:nvSpPr>
          <p:cNvPr id="21" name="Shape 18"/>
          <p:cNvSpPr/>
          <p:nvPr/>
        </p:nvSpPr>
        <p:spPr>
          <a:xfrm>
            <a:off x="9833610" y="5314950"/>
            <a:ext cx="7616190" cy="4210050"/>
          </a:xfrm>
          <a:prstGeom prst="roundRect">
            <a:avLst>
              <a:gd name="adj" fmla="val 3167"/>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22" name="Text 19"/>
          <p:cNvSpPr/>
          <p:nvPr/>
        </p:nvSpPr>
        <p:spPr>
          <a:xfrm>
            <a:off x="10165081" y="5589270"/>
            <a:ext cx="7648575" cy="312420"/>
          </a:xfrm>
          <a:prstGeom prst="rect">
            <a:avLst/>
          </a:prstGeom>
          <a:noFill/>
          <a:ln/>
        </p:spPr>
        <p:txBody>
          <a:bodyPr wrap="square" lIns="25400" tIns="25400" rIns="25400" bIns="25400" rtlCol="0" anchor="t">
            <a:normAutofit/>
          </a:bodyPr>
          <a:lstStyle/>
          <a:p>
            <a:pPr algn="l" indent="0" marL="0">
              <a:buNone/>
            </a:pPr>
            <a:r>
              <a:rPr lang="en-US" sz="1875" b="1" spc="188" kern="0" dirty="0">
                <a:solidFill>
                  <a:srgbClr val="22A06B"/>
                </a:solidFill>
                <a:latin typeface="Arial" pitchFamily="34" charset="0"/>
                <a:ea typeface="Arial" pitchFamily="34" charset="-122"/>
                <a:cs typeface="Arial" pitchFamily="34" charset="-120"/>
              </a:rPr>
              <a:t>02 · THE ASSET</a:t>
            </a:r>
            <a:endParaRPr lang="en-US" sz="1875" dirty="0"/>
          </a:p>
        </p:txBody>
      </p:sp>
      <p:sp>
        <p:nvSpPr>
          <p:cNvPr id="23" name="Text 20"/>
          <p:cNvSpPr/>
          <p:nvPr/>
        </p:nvSpPr>
        <p:spPr>
          <a:xfrm>
            <a:off x="10165081" y="5958840"/>
            <a:ext cx="7648575" cy="388620"/>
          </a:xfrm>
          <a:prstGeom prst="rect">
            <a:avLst/>
          </a:prstGeom>
          <a:noFill/>
          <a:ln/>
        </p:spPr>
        <p:txBody>
          <a:bodyPr wrap="square" lIns="25400" tIns="25400" rIns="25400" bIns="25400" rtlCol="0" anchor="t">
            <a:normAutofit/>
          </a:bodyPr>
          <a:lstStyle/>
          <a:p>
            <a:pPr algn="l" indent="0" marL="0">
              <a:lnSpc>
                <a:spcPct val="102222"/>
              </a:lnSpc>
              <a:buNone/>
            </a:pPr>
            <a:r>
              <a:rPr lang="en-US" sz="2400" b="1" dirty="0">
                <a:solidFill>
                  <a:srgbClr val="124B68"/>
                </a:solidFill>
                <a:latin typeface="Arial" pitchFamily="34" charset="0"/>
                <a:ea typeface="Arial" pitchFamily="34" charset="-122"/>
                <a:cs typeface="Arial" pitchFamily="34" charset="-120"/>
              </a:rPr>
              <a:t>Where the storage already sits</a:t>
            </a:r>
            <a:endParaRPr lang="en-US" sz="2400" dirty="0"/>
          </a:p>
        </p:txBody>
      </p:sp>
      <p:pic>
        <p:nvPicPr>
          <p:cNvPr id="2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65081" y="6404610"/>
            <a:ext cx="6953250" cy="1413510"/>
          </a:xfrm>
          <a:prstGeom prst="rect">
            <a:avLst/>
          </a:prstGeom>
        </p:spPr>
      </p:pic>
      <p:sp>
        <p:nvSpPr>
          <p:cNvPr id="25" name="Text 21"/>
          <p:cNvSpPr/>
          <p:nvPr/>
        </p:nvSpPr>
        <p:spPr>
          <a:xfrm>
            <a:off x="10165081" y="7913370"/>
            <a:ext cx="7161848" cy="1375410"/>
          </a:xfrm>
          <a:prstGeom prst="rect">
            <a:avLst/>
          </a:prstGeom>
          <a:noFill/>
          <a:ln/>
        </p:spPr>
        <p:txBody>
          <a:bodyPr wrap="square" lIns="25400" tIns="25400" rIns="25400" bIns="25400" rtlCol="0" anchor="t">
            <a:normAutofit/>
          </a:bodyPr>
          <a:lstStyle/>
          <a:p>
            <a:pPr algn="l" indent="0" marL="0">
              <a:lnSpc>
                <a:spcPct val="118581"/>
              </a:lnSpc>
              <a:buNone/>
            </a:pPr>
            <a:r>
              <a:rPr lang="en-US" sz="1950" dirty="0">
                <a:solidFill>
                  <a:srgbClr val="17324D"/>
                </a:solidFill>
                <a:latin typeface="Arial" pitchFamily="34" charset="0"/>
                <a:ea typeface="Arial" pitchFamily="34" charset="-122"/>
                <a:cs typeface="Arial" pitchFamily="34" charset="-120"/>
              </a:rPr>
              <a:t>Four rectifier trains, one caustic tank. The tank is the state of charge: run the cells hard on cheap power, then coast through the evening on stored caustic. Tonnes shipped stay the same.</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3170753"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MARKET EVIDENCE</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02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3285732" cy="64389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Evening power now costs 3.5× midday power</a:t>
            </a:r>
            <a:endParaRPr lang="en-US" sz="4500" dirty="0"/>
          </a:p>
        </p:txBody>
      </p:sp>
      <p:sp>
        <p:nvSpPr>
          <p:cNvPr id="6" name="Text 4"/>
          <p:cNvSpPr/>
          <p:nvPr/>
        </p:nvSpPr>
        <p:spPr>
          <a:xfrm>
            <a:off x="990600" y="2345055"/>
            <a:ext cx="13863816" cy="86106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17324D"/>
                </a:solidFill>
                <a:latin typeface="Arial" pitchFamily="34" charset="0"/>
                <a:ea typeface="Arial" pitchFamily="34" charset="-122"/>
                <a:cs typeface="Arial" pitchFamily="34" charset="-120"/>
              </a:rPr>
              <a:t>IEX real-time market, Maharashtra W2 — mean evening price divided by mean solar-hour price, on every settled 15-minute block since April 2022.</a:t>
            </a:r>
            <a:endParaRPr lang="en-US" sz="2400" dirty="0"/>
          </a:p>
        </p:txBody>
      </p:sp>
      <p:sp>
        <p:nvSpPr>
          <p:cNvPr id="7" name="Shape 5"/>
          <p:cNvSpPr/>
          <p:nvPr/>
        </p:nvSpPr>
        <p:spPr>
          <a:xfrm>
            <a:off x="990600" y="3472815"/>
            <a:ext cx="9501545" cy="5408295"/>
          </a:xfrm>
          <a:prstGeom prst="roundRect">
            <a:avLst>
              <a:gd name="adj" fmla="val 2466"/>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8" name="Text 6"/>
          <p:cNvSpPr/>
          <p:nvPr/>
        </p:nvSpPr>
        <p:spPr>
          <a:xfrm>
            <a:off x="1379220" y="3804285"/>
            <a:ext cx="9596735" cy="320040"/>
          </a:xfrm>
          <a:prstGeom prst="rect">
            <a:avLst/>
          </a:prstGeom>
          <a:noFill/>
          <a:ln/>
        </p:spPr>
        <p:txBody>
          <a:bodyPr wrap="square" lIns="25400" tIns="25400" rIns="25400" bIns="25400" rtlCol="0" anchor="t">
            <a:normAutofit/>
          </a:bodyPr>
          <a:lstStyle/>
          <a:p>
            <a:pPr algn="l" indent="0" marL="0">
              <a:buNone/>
            </a:pPr>
            <a:r>
              <a:rPr lang="en-US" sz="1950" b="1" spc="156" kern="0" dirty="0">
                <a:solidFill>
                  <a:srgbClr val="6B7C89"/>
                </a:solidFill>
                <a:latin typeface="Arial" pitchFamily="34" charset="0"/>
                <a:ea typeface="Arial" pitchFamily="34" charset="-122"/>
                <a:cs typeface="Arial" pitchFamily="34" charset="-120"/>
              </a:rPr>
              <a:t>EVENING-TO-MIDDAY PRICE RATIO, BY FINANCIAL YEAR</a:t>
            </a:r>
            <a:endParaRPr lang="en-US" sz="1950" dirty="0"/>
          </a:p>
        </p:txBody>
      </p:sp>
      <p:sp>
        <p:nvSpPr>
          <p:cNvPr id="9" name="Text 7"/>
          <p:cNvSpPr/>
          <p:nvPr/>
        </p:nvSpPr>
        <p:spPr>
          <a:xfrm>
            <a:off x="1806892" y="6871335"/>
            <a:ext cx="706517"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6B7C89"/>
                </a:solidFill>
                <a:latin typeface="Arial" pitchFamily="34" charset="0"/>
                <a:ea typeface="Arial" pitchFamily="34" charset="-122"/>
                <a:cs typeface="Arial" pitchFamily="34" charset="-120"/>
              </a:rPr>
              <a:t>1.47</a:t>
            </a:r>
            <a:endParaRPr lang="en-US" sz="2550" dirty="0"/>
          </a:p>
        </p:txBody>
      </p:sp>
      <p:sp>
        <p:nvSpPr>
          <p:cNvPr id="10" name="Shape 8"/>
          <p:cNvSpPr/>
          <p:nvPr/>
        </p:nvSpPr>
        <p:spPr>
          <a:xfrm>
            <a:off x="1379220" y="7351395"/>
            <a:ext cx="1485781" cy="847725"/>
          </a:xfrm>
          <a:custGeom>
            <a:avLst/>
            <a:gdLst/>
            <a:ahLst/>
            <a:cxnLst/>
            <a:rect l="l" t="t" r="r" b="b"/>
            <a:pathLst>
              <a:path w="1485781" h="847725">
                <a:moveTo>
                  <a:pt x="57150" y="0"/>
                </a:moveTo>
                <a:lnTo>
                  <a:pt x="1428631" y="0"/>
                </a:lnTo>
                <a:arcTo hR="57150" wR="57150" stAng="16200000" swAng="5400000"/>
                <a:lnTo>
                  <a:pt x="1485781" y="847725"/>
                </a:lnTo>
                <a:lnTo>
                  <a:pt x="0" y="847725"/>
                </a:lnTo>
                <a:lnTo>
                  <a:pt x="0" y="57150"/>
                </a:lnTo>
                <a:arcTo hR="57150" wR="57150" stAng="10800000" swAng="5400000"/>
                <a:close/>
              </a:path>
            </a:pathLst>
          </a:custGeom>
          <a:solidFill>
            <a:srgbClr val="DCE8ED"/>
          </a:solidFill>
          <a:ln/>
        </p:spPr>
      </p:sp>
      <p:sp>
        <p:nvSpPr>
          <p:cNvPr id="11" name="Text 9"/>
          <p:cNvSpPr/>
          <p:nvPr/>
        </p:nvSpPr>
        <p:spPr>
          <a:xfrm>
            <a:off x="1651754" y="8313420"/>
            <a:ext cx="1016794"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2022-23</a:t>
            </a:r>
            <a:endParaRPr lang="en-US" sz="1800" dirty="0"/>
          </a:p>
        </p:txBody>
      </p:sp>
      <p:sp>
        <p:nvSpPr>
          <p:cNvPr id="12" name="Text 10"/>
          <p:cNvSpPr/>
          <p:nvPr/>
        </p:nvSpPr>
        <p:spPr>
          <a:xfrm>
            <a:off x="3616523" y="6880860"/>
            <a:ext cx="706517"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6B7C89"/>
                </a:solidFill>
                <a:latin typeface="Arial" pitchFamily="34" charset="0"/>
                <a:ea typeface="Arial" pitchFamily="34" charset="-122"/>
                <a:cs typeface="Arial" pitchFamily="34" charset="-120"/>
              </a:rPr>
              <a:t>1.46</a:t>
            </a:r>
            <a:endParaRPr lang="en-US" sz="2550" dirty="0"/>
          </a:p>
        </p:txBody>
      </p:sp>
      <p:sp>
        <p:nvSpPr>
          <p:cNvPr id="13" name="Shape 11"/>
          <p:cNvSpPr/>
          <p:nvPr/>
        </p:nvSpPr>
        <p:spPr>
          <a:xfrm>
            <a:off x="3188851" y="7360920"/>
            <a:ext cx="1485781" cy="838200"/>
          </a:xfrm>
          <a:custGeom>
            <a:avLst/>
            <a:gdLst/>
            <a:ahLst/>
            <a:cxnLst/>
            <a:rect l="l" t="t" r="r" b="b"/>
            <a:pathLst>
              <a:path w="1485781" h="838200">
                <a:moveTo>
                  <a:pt x="57150" y="0"/>
                </a:moveTo>
                <a:lnTo>
                  <a:pt x="1428631" y="0"/>
                </a:lnTo>
                <a:arcTo hR="57150" wR="57150" stAng="16200000" swAng="5400000"/>
                <a:lnTo>
                  <a:pt x="1485781" y="838200"/>
                </a:lnTo>
                <a:lnTo>
                  <a:pt x="0" y="838200"/>
                </a:lnTo>
                <a:lnTo>
                  <a:pt x="0" y="57150"/>
                </a:lnTo>
                <a:arcTo hR="57150" wR="57150" stAng="10800000" swAng="5400000"/>
                <a:close/>
              </a:path>
            </a:pathLst>
          </a:custGeom>
          <a:solidFill>
            <a:srgbClr val="DCE8ED"/>
          </a:solidFill>
          <a:ln/>
        </p:spPr>
      </p:sp>
      <p:sp>
        <p:nvSpPr>
          <p:cNvPr id="14" name="Text 12"/>
          <p:cNvSpPr/>
          <p:nvPr/>
        </p:nvSpPr>
        <p:spPr>
          <a:xfrm>
            <a:off x="3459123" y="8313420"/>
            <a:ext cx="1021437"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2023-24</a:t>
            </a:r>
            <a:endParaRPr lang="en-US" sz="1800" dirty="0"/>
          </a:p>
        </p:txBody>
      </p:sp>
      <p:sp>
        <p:nvSpPr>
          <p:cNvPr id="15" name="Text 13"/>
          <p:cNvSpPr/>
          <p:nvPr/>
        </p:nvSpPr>
        <p:spPr>
          <a:xfrm>
            <a:off x="5426154" y="6642735"/>
            <a:ext cx="706517"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1597D4"/>
                </a:solidFill>
                <a:latin typeface="Arial" pitchFamily="34" charset="0"/>
                <a:ea typeface="Arial" pitchFamily="34" charset="-122"/>
                <a:cs typeface="Arial" pitchFamily="34" charset="-120"/>
              </a:rPr>
              <a:t>1.87</a:t>
            </a:r>
            <a:endParaRPr lang="en-US" sz="2550" dirty="0"/>
          </a:p>
        </p:txBody>
      </p:sp>
      <p:sp>
        <p:nvSpPr>
          <p:cNvPr id="16" name="Shape 14"/>
          <p:cNvSpPr/>
          <p:nvPr/>
        </p:nvSpPr>
        <p:spPr>
          <a:xfrm>
            <a:off x="4998482" y="7122795"/>
            <a:ext cx="1485781" cy="1076325"/>
          </a:xfrm>
          <a:custGeom>
            <a:avLst/>
            <a:gdLst/>
            <a:ahLst/>
            <a:cxnLst/>
            <a:rect l="l" t="t" r="r" b="b"/>
            <a:pathLst>
              <a:path w="1485781" h="1076325">
                <a:moveTo>
                  <a:pt x="57150" y="0"/>
                </a:moveTo>
                <a:lnTo>
                  <a:pt x="1428631" y="0"/>
                </a:lnTo>
                <a:arcTo hR="57150" wR="57150" stAng="16200000" swAng="5400000"/>
                <a:lnTo>
                  <a:pt x="1485781" y="1076325"/>
                </a:lnTo>
                <a:lnTo>
                  <a:pt x="0" y="1076325"/>
                </a:lnTo>
                <a:lnTo>
                  <a:pt x="0" y="57150"/>
                </a:lnTo>
                <a:arcTo hR="57150" wR="57150" stAng="10800000" swAng="5400000"/>
                <a:close/>
              </a:path>
            </a:pathLst>
          </a:custGeom>
          <a:solidFill>
            <a:srgbClr val="9ED3EF"/>
          </a:solidFill>
          <a:ln/>
        </p:spPr>
      </p:sp>
      <p:sp>
        <p:nvSpPr>
          <p:cNvPr id="17" name="Text 15"/>
          <p:cNvSpPr/>
          <p:nvPr/>
        </p:nvSpPr>
        <p:spPr>
          <a:xfrm>
            <a:off x="5271492" y="8313420"/>
            <a:ext cx="1015841"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2024-25</a:t>
            </a:r>
            <a:endParaRPr lang="en-US" sz="1800" dirty="0"/>
          </a:p>
        </p:txBody>
      </p:sp>
      <p:sp>
        <p:nvSpPr>
          <p:cNvPr id="18" name="Text 16"/>
          <p:cNvSpPr/>
          <p:nvPr/>
        </p:nvSpPr>
        <p:spPr>
          <a:xfrm>
            <a:off x="7235786" y="6433185"/>
            <a:ext cx="706517"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1597D4"/>
                </a:solidFill>
                <a:latin typeface="Arial" pitchFamily="34" charset="0"/>
                <a:ea typeface="Arial" pitchFamily="34" charset="-122"/>
                <a:cs typeface="Arial" pitchFamily="34" charset="-120"/>
              </a:rPr>
              <a:t>2.23</a:t>
            </a:r>
            <a:endParaRPr lang="en-US" sz="2550" dirty="0"/>
          </a:p>
        </p:txBody>
      </p:sp>
      <p:sp>
        <p:nvSpPr>
          <p:cNvPr id="19" name="Shape 17"/>
          <p:cNvSpPr/>
          <p:nvPr/>
        </p:nvSpPr>
        <p:spPr>
          <a:xfrm>
            <a:off x="6808113" y="6913245"/>
            <a:ext cx="1485781" cy="1285875"/>
          </a:xfrm>
          <a:custGeom>
            <a:avLst/>
            <a:gdLst/>
            <a:ahLst/>
            <a:cxnLst/>
            <a:rect l="l" t="t" r="r" b="b"/>
            <a:pathLst>
              <a:path w="1485781" h="1285875">
                <a:moveTo>
                  <a:pt x="57150" y="0"/>
                </a:moveTo>
                <a:lnTo>
                  <a:pt x="1428631" y="0"/>
                </a:lnTo>
                <a:arcTo hR="57150" wR="57150" stAng="16200000" swAng="5400000"/>
                <a:lnTo>
                  <a:pt x="1485781" y="1285875"/>
                </a:lnTo>
                <a:lnTo>
                  <a:pt x="0" y="1285875"/>
                </a:lnTo>
                <a:lnTo>
                  <a:pt x="0" y="57150"/>
                </a:lnTo>
                <a:arcTo hR="57150" wR="57150" stAng="10800000" swAng="5400000"/>
                <a:close/>
              </a:path>
            </a:pathLst>
          </a:custGeom>
          <a:solidFill>
            <a:srgbClr val="5FBEE9"/>
          </a:solidFill>
          <a:ln/>
        </p:spPr>
      </p:sp>
      <p:sp>
        <p:nvSpPr>
          <p:cNvPr id="20" name="Text 18"/>
          <p:cNvSpPr/>
          <p:nvPr/>
        </p:nvSpPr>
        <p:spPr>
          <a:xfrm>
            <a:off x="7082314" y="8313420"/>
            <a:ext cx="1013579"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2025-26</a:t>
            </a:r>
            <a:endParaRPr lang="en-US" sz="1800" dirty="0"/>
          </a:p>
        </p:txBody>
      </p:sp>
      <p:sp>
        <p:nvSpPr>
          <p:cNvPr id="21" name="Text 19"/>
          <p:cNvSpPr/>
          <p:nvPr/>
        </p:nvSpPr>
        <p:spPr>
          <a:xfrm>
            <a:off x="9045416" y="5680710"/>
            <a:ext cx="706517"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124B68"/>
                </a:solidFill>
                <a:latin typeface="Arial" pitchFamily="34" charset="0"/>
                <a:ea typeface="Arial" pitchFamily="34" charset="-122"/>
                <a:cs typeface="Arial" pitchFamily="34" charset="-120"/>
              </a:rPr>
              <a:t>3.53</a:t>
            </a:r>
            <a:endParaRPr lang="en-US" sz="2550" dirty="0"/>
          </a:p>
        </p:txBody>
      </p:sp>
      <p:sp>
        <p:nvSpPr>
          <p:cNvPr id="22" name="Shape 20"/>
          <p:cNvSpPr/>
          <p:nvPr/>
        </p:nvSpPr>
        <p:spPr>
          <a:xfrm>
            <a:off x="8617744" y="6160770"/>
            <a:ext cx="1485781" cy="2038350"/>
          </a:xfrm>
          <a:custGeom>
            <a:avLst/>
            <a:gdLst/>
            <a:ahLst/>
            <a:cxnLst/>
            <a:rect l="l" t="t" r="r" b="b"/>
            <a:pathLst>
              <a:path w="1485781" h="2038350">
                <a:moveTo>
                  <a:pt x="57150" y="0"/>
                </a:moveTo>
                <a:lnTo>
                  <a:pt x="1428631" y="0"/>
                </a:lnTo>
                <a:arcTo hR="57150" wR="57150" stAng="16200000" swAng="5400000"/>
                <a:lnTo>
                  <a:pt x="1485781" y="2038350"/>
                </a:lnTo>
                <a:lnTo>
                  <a:pt x="0" y="2038350"/>
                </a:lnTo>
                <a:lnTo>
                  <a:pt x="0" y="57150"/>
                </a:lnTo>
                <a:arcTo hR="57150" wR="57150" stAng="10800000" swAng="5400000"/>
                <a:close/>
              </a:path>
            </a:pathLst>
          </a:custGeom>
          <a:solidFill>
            <a:srgbClr val="1597D4"/>
          </a:solidFill>
          <a:ln/>
        </p:spPr>
      </p:sp>
      <p:sp>
        <p:nvSpPr>
          <p:cNvPr id="23" name="Text 21"/>
          <p:cNvSpPr/>
          <p:nvPr/>
        </p:nvSpPr>
        <p:spPr>
          <a:xfrm>
            <a:off x="8805625" y="8313420"/>
            <a:ext cx="1186101"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2026-27 *</a:t>
            </a:r>
            <a:endParaRPr lang="en-US" sz="1800" dirty="0"/>
          </a:p>
        </p:txBody>
      </p:sp>
      <p:sp>
        <p:nvSpPr>
          <p:cNvPr id="24" name="Shape 22"/>
          <p:cNvSpPr/>
          <p:nvPr/>
        </p:nvSpPr>
        <p:spPr>
          <a:xfrm>
            <a:off x="10835044" y="3472815"/>
            <a:ext cx="6462356" cy="1663065"/>
          </a:xfrm>
          <a:prstGeom prst="roundRect">
            <a:avLst>
              <a:gd name="adj" fmla="val 8018"/>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25" name="Text 23"/>
          <p:cNvSpPr/>
          <p:nvPr/>
        </p:nvSpPr>
        <p:spPr>
          <a:xfrm>
            <a:off x="11128415" y="3612833"/>
            <a:ext cx="6463177" cy="624840"/>
          </a:xfrm>
          <a:prstGeom prst="rect">
            <a:avLst/>
          </a:prstGeom>
          <a:noFill/>
          <a:ln/>
        </p:spPr>
        <p:txBody>
          <a:bodyPr wrap="square" lIns="25400" tIns="25400" rIns="25400" bIns="25400" rtlCol="0" anchor="t">
            <a:normAutofit/>
          </a:bodyPr>
          <a:lstStyle/>
          <a:p>
            <a:pPr algn="l" indent="0" marL="0">
              <a:buNone/>
            </a:pPr>
            <a:r>
              <a:rPr lang="en-US" sz="4050" b="1" spc="-122" kern="0" dirty="0">
                <a:solidFill>
                  <a:srgbClr val="22A06B"/>
                </a:solidFill>
                <a:latin typeface="Arial" pitchFamily="34" charset="0"/>
                <a:ea typeface="Arial" pitchFamily="34" charset="-122"/>
                <a:cs typeface="Arial" pitchFamily="34" charset="-120"/>
              </a:rPr>
              <a:t>21.1%</a:t>
            </a:r>
            <a:endParaRPr lang="en-US" sz="4050" dirty="0"/>
          </a:p>
        </p:txBody>
      </p:sp>
      <p:sp>
        <p:nvSpPr>
          <p:cNvPr id="26" name="Text 24"/>
          <p:cNvSpPr/>
          <p:nvPr/>
        </p:nvSpPr>
        <p:spPr>
          <a:xfrm>
            <a:off x="11128415" y="4275772"/>
            <a:ext cx="6051884" cy="758190"/>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7324D"/>
                </a:solidFill>
                <a:latin typeface="Arial" pitchFamily="34" charset="0"/>
                <a:ea typeface="Arial" pitchFamily="34" charset="-122"/>
                <a:cs typeface="Arial" pitchFamily="34" charset="-120"/>
              </a:rPr>
              <a:t>of the year now clears below ₹2/kWh, up from 4.1%</a:t>
            </a:r>
            <a:endParaRPr lang="en-US" sz="2100" dirty="0"/>
          </a:p>
        </p:txBody>
      </p:sp>
      <p:sp>
        <p:nvSpPr>
          <p:cNvPr id="27" name="Shape 25"/>
          <p:cNvSpPr/>
          <p:nvPr/>
        </p:nvSpPr>
        <p:spPr>
          <a:xfrm>
            <a:off x="10835044" y="5345430"/>
            <a:ext cx="6462356" cy="1663065"/>
          </a:xfrm>
          <a:prstGeom prst="roundRect">
            <a:avLst>
              <a:gd name="adj" fmla="val 8018"/>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28" name="Text 26"/>
          <p:cNvSpPr/>
          <p:nvPr/>
        </p:nvSpPr>
        <p:spPr>
          <a:xfrm>
            <a:off x="11128415" y="5485448"/>
            <a:ext cx="6463177" cy="624840"/>
          </a:xfrm>
          <a:prstGeom prst="rect">
            <a:avLst/>
          </a:prstGeom>
          <a:noFill/>
          <a:ln/>
        </p:spPr>
        <p:txBody>
          <a:bodyPr wrap="square" lIns="25400" tIns="25400" rIns="25400" bIns="25400" rtlCol="0" anchor="t">
            <a:normAutofit/>
          </a:bodyPr>
          <a:lstStyle/>
          <a:p>
            <a:pPr algn="l" indent="0" marL="0">
              <a:buNone/>
            </a:pPr>
            <a:r>
              <a:rPr lang="en-US" sz="4050" b="1" spc="-122" kern="0" dirty="0">
                <a:solidFill>
                  <a:srgbClr val="E9A72C"/>
                </a:solidFill>
                <a:latin typeface="Arial" pitchFamily="34" charset="0"/>
                <a:ea typeface="Arial" pitchFamily="34" charset="-122"/>
                <a:cs typeface="Arial" pitchFamily="34" charset="-120"/>
              </a:rPr>
              <a:t>₹10/kWh</a:t>
            </a:r>
            <a:endParaRPr lang="en-US" sz="4050" dirty="0"/>
          </a:p>
        </p:txBody>
      </p:sp>
      <p:sp>
        <p:nvSpPr>
          <p:cNvPr id="29" name="Text 27"/>
          <p:cNvSpPr/>
          <p:nvPr/>
        </p:nvSpPr>
        <p:spPr>
          <a:xfrm>
            <a:off x="11128415" y="6148388"/>
            <a:ext cx="6051884" cy="758190"/>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7324D"/>
                </a:solidFill>
                <a:latin typeface="Arial" pitchFamily="34" charset="0"/>
                <a:ea typeface="Arial" pitchFamily="34" charset="-122"/>
                <a:cs typeface="Arial" pitchFamily="34" charset="-120"/>
              </a:rPr>
              <a:t>the regulatory cap, hit repeatedly in the evening peak</a:t>
            </a:r>
            <a:endParaRPr lang="en-US" sz="2100" dirty="0"/>
          </a:p>
        </p:txBody>
      </p:sp>
      <p:sp>
        <p:nvSpPr>
          <p:cNvPr id="30" name="Shape 28"/>
          <p:cNvSpPr/>
          <p:nvPr/>
        </p:nvSpPr>
        <p:spPr>
          <a:xfrm>
            <a:off x="10835044" y="7218045"/>
            <a:ext cx="6462356" cy="1663065"/>
          </a:xfrm>
          <a:prstGeom prst="roundRect">
            <a:avLst>
              <a:gd name="adj" fmla="val 8018"/>
            </a:avLst>
          </a:prstGeom>
          <a:solidFill>
            <a:srgbClr val="EAF5FB"/>
          </a:solidFill>
          <a:ln w="7620">
            <a:solidFill>
              <a:srgbClr val="DCE8ED"/>
            </a:solidFill>
            <a:prstDash val="solid"/>
          </a:ln>
        </p:spPr>
      </p:sp>
      <p:sp>
        <p:nvSpPr>
          <p:cNvPr id="31" name="Text 29"/>
          <p:cNvSpPr/>
          <p:nvPr/>
        </p:nvSpPr>
        <p:spPr>
          <a:xfrm>
            <a:off x="11128415" y="7358063"/>
            <a:ext cx="6463177" cy="624840"/>
          </a:xfrm>
          <a:prstGeom prst="rect">
            <a:avLst/>
          </a:prstGeom>
          <a:noFill/>
          <a:ln/>
        </p:spPr>
        <p:txBody>
          <a:bodyPr wrap="square" lIns="25400" tIns="25400" rIns="25400" bIns="25400" rtlCol="0" anchor="t">
            <a:normAutofit/>
          </a:bodyPr>
          <a:lstStyle/>
          <a:p>
            <a:pPr algn="l" indent="0" marL="0">
              <a:buNone/>
            </a:pPr>
            <a:r>
              <a:rPr lang="en-US" sz="4050" b="1" spc="-122" kern="0" dirty="0">
                <a:solidFill>
                  <a:srgbClr val="124B68"/>
                </a:solidFill>
                <a:latin typeface="Arial" pitchFamily="34" charset="0"/>
                <a:ea typeface="Arial" pitchFamily="34" charset="-122"/>
                <a:cs typeface="Arial" pitchFamily="34" charset="-120"/>
              </a:rPr>
              <a:t>152,542</a:t>
            </a:r>
            <a:endParaRPr lang="en-US" sz="4050" dirty="0"/>
          </a:p>
        </p:txBody>
      </p:sp>
      <p:sp>
        <p:nvSpPr>
          <p:cNvPr id="32" name="Text 30"/>
          <p:cNvSpPr/>
          <p:nvPr/>
        </p:nvSpPr>
        <p:spPr>
          <a:xfrm>
            <a:off x="11128415" y="8021003"/>
            <a:ext cx="6051884" cy="758190"/>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7324D"/>
                </a:solidFill>
                <a:latin typeface="Arial" pitchFamily="34" charset="0"/>
                <a:ea typeface="Arial" pitchFamily="34" charset="-122"/>
                <a:cs typeface="Arial" pitchFamily="34" charset="-120"/>
              </a:rPr>
              <a:t>settled blocks behind these figures — nothing modelled</a:t>
            </a:r>
            <a:endParaRPr lang="en-US" sz="2100" dirty="0"/>
          </a:p>
        </p:txBody>
      </p:sp>
      <p:sp>
        <p:nvSpPr>
          <p:cNvPr id="33" name="Shape 31"/>
          <p:cNvSpPr/>
          <p:nvPr/>
        </p:nvSpPr>
        <p:spPr>
          <a:xfrm>
            <a:off x="990600" y="9128760"/>
            <a:ext cx="16306800" cy="9525"/>
          </a:xfrm>
          <a:prstGeom prst="rect">
            <a:avLst/>
          </a:prstGeom>
          <a:solidFill>
            <a:srgbClr val="DCE8ED"/>
          </a:solidFill>
          <a:ln/>
        </p:spPr>
      </p:sp>
      <p:sp>
        <p:nvSpPr>
          <p:cNvPr id="34" name="Text 32"/>
          <p:cNvSpPr/>
          <p:nvPr/>
        </p:nvSpPr>
        <p:spPr>
          <a:xfrm>
            <a:off x="990600" y="9326880"/>
            <a:ext cx="16796004"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 April–August 2026 only — India's peak-demand and peak-solar months. Seasonally biased upward; it indicates acceleration, it does not measure 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2632079"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THE CUSTOMER</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03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3984975" cy="64389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For a chlor-alkali plant, electricity is the feedstock</a:t>
            </a:r>
            <a:endParaRPr lang="en-US" sz="4500" dirty="0"/>
          </a:p>
        </p:txBody>
      </p:sp>
      <p:sp>
        <p:nvSpPr>
          <p:cNvPr id="6" name="Text 4"/>
          <p:cNvSpPr/>
          <p:nvPr/>
        </p:nvSpPr>
        <p:spPr>
          <a:xfrm>
            <a:off x="990600" y="2345055"/>
            <a:ext cx="13863816" cy="86106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17324D"/>
                </a:solidFill>
                <a:latin typeface="Arial" pitchFamily="34" charset="0"/>
                <a:ea typeface="Arial" pitchFamily="34" charset="-122"/>
                <a:cs typeface="Arial" pitchFamily="34" charset="-120"/>
              </a:rPr>
              <a:t>Indian producers buy from the grid, own their cell house, and run a flat profile into a market that now moves 3.5× within the day.</a:t>
            </a:r>
            <a:endParaRPr lang="en-US" sz="2400" dirty="0"/>
          </a:p>
        </p:txBody>
      </p:sp>
      <p:sp>
        <p:nvSpPr>
          <p:cNvPr id="7" name="Shape 5"/>
          <p:cNvSpPr/>
          <p:nvPr/>
        </p:nvSpPr>
        <p:spPr>
          <a:xfrm>
            <a:off x="990600" y="4304347"/>
            <a:ext cx="9214247" cy="3745230"/>
          </a:xfrm>
          <a:prstGeom prst="roundRect">
            <a:avLst>
              <a:gd name="adj" fmla="val 3561"/>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8" name="Text 6"/>
          <p:cNvSpPr/>
          <p:nvPr/>
        </p:nvSpPr>
        <p:spPr>
          <a:xfrm>
            <a:off x="1379220" y="4654868"/>
            <a:ext cx="9280708" cy="320040"/>
          </a:xfrm>
          <a:prstGeom prst="rect">
            <a:avLst/>
          </a:prstGeom>
          <a:noFill/>
          <a:ln/>
        </p:spPr>
        <p:txBody>
          <a:bodyPr wrap="square" lIns="25400" tIns="25400" rIns="25400" bIns="25400" rtlCol="0" anchor="t">
            <a:normAutofit/>
          </a:bodyPr>
          <a:lstStyle/>
          <a:p>
            <a:pPr algn="l" indent="0" marL="0">
              <a:buNone/>
            </a:pPr>
            <a:r>
              <a:rPr lang="en-US" sz="1950" b="1" spc="156" kern="0" dirty="0">
                <a:solidFill>
                  <a:srgbClr val="6B7C89"/>
                </a:solidFill>
                <a:latin typeface="Arial" pitchFamily="34" charset="0"/>
                <a:ea typeface="Arial" pitchFamily="34" charset="-122"/>
                <a:cs typeface="Arial" pitchFamily="34" charset="-120"/>
              </a:rPr>
              <a:t>CASH COST OF A TONNE OF CAUSTIC SODA</a:t>
            </a:r>
            <a:endParaRPr lang="en-US" sz="1950" dirty="0"/>
          </a:p>
        </p:txBody>
      </p:sp>
      <p:sp>
        <p:nvSpPr>
          <p:cNvPr id="9" name="Shape 7"/>
          <p:cNvSpPr/>
          <p:nvPr/>
        </p:nvSpPr>
        <p:spPr>
          <a:xfrm>
            <a:off x="1379220" y="5184457"/>
            <a:ext cx="5166956" cy="1066800"/>
          </a:xfrm>
          <a:prstGeom prst="rect">
            <a:avLst/>
          </a:prstGeom>
          <a:solidFill>
            <a:srgbClr val="1597D4"/>
          </a:solidFill>
          <a:ln/>
        </p:spPr>
      </p:sp>
      <p:sp>
        <p:nvSpPr>
          <p:cNvPr id="10" name="Text 8"/>
          <p:cNvSpPr/>
          <p:nvPr/>
        </p:nvSpPr>
        <p:spPr>
          <a:xfrm>
            <a:off x="1645920" y="5184457"/>
            <a:ext cx="5055264" cy="1104900"/>
          </a:xfrm>
          <a:prstGeom prst="rect">
            <a:avLst/>
          </a:prstGeom>
          <a:noFill/>
          <a:ln/>
        </p:spPr>
        <p:txBody>
          <a:bodyPr wrap="square" lIns="25400" tIns="25400" rIns="25400" bIns="2540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Power 55–70%</a:t>
            </a:r>
            <a:endParaRPr lang="en-US" sz="2400" dirty="0"/>
          </a:p>
        </p:txBody>
      </p:sp>
      <p:sp>
        <p:nvSpPr>
          <p:cNvPr id="11" name="Shape 9"/>
          <p:cNvSpPr/>
          <p:nvPr/>
        </p:nvSpPr>
        <p:spPr>
          <a:xfrm>
            <a:off x="6546175" y="5184457"/>
            <a:ext cx="3270052" cy="1066800"/>
          </a:xfrm>
          <a:prstGeom prst="rect">
            <a:avLst/>
          </a:prstGeom>
          <a:solidFill>
            <a:srgbClr val="EAF5FB"/>
          </a:solidFill>
          <a:ln/>
        </p:spPr>
      </p:sp>
      <p:sp>
        <p:nvSpPr>
          <p:cNvPr id="12" name="Text 10"/>
          <p:cNvSpPr/>
          <p:nvPr/>
        </p:nvSpPr>
        <p:spPr>
          <a:xfrm>
            <a:off x="6812875" y="5184457"/>
            <a:ext cx="3101453" cy="1104900"/>
          </a:xfrm>
          <a:prstGeom prst="rect">
            <a:avLst/>
          </a:prstGeom>
          <a:noFill/>
          <a:ln/>
        </p:spPr>
        <p:txBody>
          <a:bodyPr wrap="square" lIns="25400" tIns="25400" rIns="25400" bIns="25400" rtlCol="0" anchor="ctr">
            <a:normAutofit/>
          </a:bodyPr>
          <a:lstStyle/>
          <a:p>
            <a:pPr algn="l" indent="0" marL="0">
              <a:buNone/>
            </a:pPr>
            <a:r>
              <a:rPr lang="en-US" sz="2250" dirty="0">
                <a:solidFill>
                  <a:srgbClr val="6B7C89"/>
                </a:solidFill>
                <a:latin typeface="Arial" pitchFamily="34" charset="0"/>
                <a:ea typeface="Arial" pitchFamily="34" charset="-122"/>
                <a:cs typeface="Arial" pitchFamily="34" charset="-120"/>
              </a:rPr>
              <a:t>Salt, steam, labour, capital</a:t>
            </a:r>
            <a:endParaRPr lang="en-US" sz="2250" dirty="0"/>
          </a:p>
        </p:txBody>
      </p:sp>
      <p:sp>
        <p:nvSpPr>
          <p:cNvPr id="13" name="Text 11"/>
          <p:cNvSpPr/>
          <p:nvPr/>
        </p:nvSpPr>
        <p:spPr>
          <a:xfrm>
            <a:off x="1379220" y="6498907"/>
            <a:ext cx="8690117" cy="123825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17324D"/>
                </a:solidFill>
                <a:latin typeface="Arial" pitchFamily="34" charset="0"/>
                <a:ea typeface="Arial" pitchFamily="34" charset="-122"/>
                <a:cs typeface="Arial" pitchFamily="34" charset="-120"/>
              </a:rPr>
              <a:t>A refinery would never take this meeting — power is a minor line for them, and they burn their own captive generation. Here it is the P&amp;L.</a:t>
            </a:r>
            <a:endParaRPr lang="en-US" sz="2250" dirty="0"/>
          </a:p>
        </p:txBody>
      </p:sp>
      <p:sp>
        <p:nvSpPr>
          <p:cNvPr id="14" name="Shape 12"/>
          <p:cNvSpPr/>
          <p:nvPr/>
        </p:nvSpPr>
        <p:spPr>
          <a:xfrm>
            <a:off x="10547747" y="3127058"/>
            <a:ext cx="6749653" cy="1893570"/>
          </a:xfrm>
          <a:prstGeom prst="roundRect">
            <a:avLst>
              <a:gd name="adj" fmla="val 7042"/>
            </a:avLst>
          </a:prstGeom>
          <a:solidFill>
            <a:srgbClr val="FFFFFF"/>
          </a:solidFill>
          <a:ln/>
          <a:effectLst>
            <a:outerShdw sx="100000" sy="100000" kx="0" ky="0" algn="bl" rotWithShape="0" blurRad="28575" dist="9525" dir="5400000">
              <a:srgbClr val="17324D">
                <a:alpha val="5000"/>
              </a:srgbClr>
            </a:outerShdw>
          </a:effectLst>
        </p:spPr>
      </p:sp>
      <p:sp>
        <p:nvSpPr>
          <p:cNvPr id="15" name="Shape 13"/>
          <p:cNvSpPr/>
          <p:nvPr/>
        </p:nvSpPr>
        <p:spPr>
          <a:xfrm>
            <a:off x="10547747" y="5013008"/>
            <a:ext cx="6749653" cy="9525"/>
          </a:xfrm>
          <a:prstGeom prst="rect">
            <a:avLst/>
          </a:prstGeom>
          <a:solidFill>
            <a:srgbClr val="DCE8ED"/>
          </a:solidFill>
          <a:ln/>
        </p:spPr>
      </p:sp>
      <p:sp>
        <p:nvSpPr>
          <p:cNvPr id="16" name="Shape 14"/>
          <p:cNvSpPr/>
          <p:nvPr/>
        </p:nvSpPr>
        <p:spPr>
          <a:xfrm>
            <a:off x="10547747" y="3127058"/>
            <a:ext cx="6749653" cy="9525"/>
          </a:xfrm>
          <a:prstGeom prst="rect">
            <a:avLst/>
          </a:prstGeom>
          <a:solidFill>
            <a:srgbClr val="DCE8ED"/>
          </a:solidFill>
          <a:ln/>
        </p:spPr>
      </p:sp>
      <p:sp>
        <p:nvSpPr>
          <p:cNvPr id="17" name="Shape 15"/>
          <p:cNvSpPr/>
          <p:nvPr/>
        </p:nvSpPr>
        <p:spPr>
          <a:xfrm>
            <a:off x="10547747" y="3127058"/>
            <a:ext cx="38100" cy="1893570"/>
          </a:xfrm>
          <a:prstGeom prst="rect">
            <a:avLst/>
          </a:prstGeom>
          <a:solidFill>
            <a:srgbClr val="1597D4"/>
          </a:solidFill>
          <a:ln/>
        </p:spPr>
      </p:sp>
      <p:sp>
        <p:nvSpPr>
          <p:cNvPr id="18" name="Shape 16"/>
          <p:cNvSpPr/>
          <p:nvPr/>
        </p:nvSpPr>
        <p:spPr>
          <a:xfrm>
            <a:off x="17289780" y="3127058"/>
            <a:ext cx="9525" cy="1893570"/>
          </a:xfrm>
          <a:prstGeom prst="rect">
            <a:avLst/>
          </a:prstGeom>
          <a:solidFill>
            <a:srgbClr val="DCE8ED"/>
          </a:solidFill>
          <a:ln/>
        </p:spPr>
      </p:sp>
      <p:sp>
        <p:nvSpPr>
          <p:cNvPr id="19" name="Text 17"/>
          <p:cNvSpPr/>
          <p:nvPr/>
        </p:nvSpPr>
        <p:spPr>
          <a:xfrm>
            <a:off x="10890647" y="3382328"/>
            <a:ext cx="6703767" cy="624840"/>
          </a:xfrm>
          <a:prstGeom prst="rect">
            <a:avLst/>
          </a:prstGeom>
          <a:noFill/>
          <a:ln/>
        </p:spPr>
        <p:txBody>
          <a:bodyPr wrap="square" lIns="25400" tIns="25400" rIns="25400" bIns="25400" rtlCol="0" anchor="t">
            <a:normAutofit/>
          </a:bodyPr>
          <a:lstStyle/>
          <a:p>
            <a:pPr algn="l" indent="0" marL="0">
              <a:buNone/>
            </a:pPr>
            <a:r>
              <a:rPr lang="en-US" sz="4050" b="1" spc="-122" kern="0" dirty="0">
                <a:solidFill>
                  <a:srgbClr val="124B68"/>
                </a:solidFill>
                <a:latin typeface="Arial" pitchFamily="34" charset="0"/>
                <a:ea typeface="Arial" pitchFamily="34" charset="-122"/>
                <a:cs typeface="Arial" pitchFamily="34" charset="-120"/>
              </a:rPr>
              <a:t>1.34 GW</a:t>
            </a:r>
            <a:endParaRPr lang="en-US" sz="4050" dirty="0"/>
          </a:p>
        </p:txBody>
      </p:sp>
      <p:sp>
        <p:nvSpPr>
          <p:cNvPr id="20" name="Text 18"/>
          <p:cNvSpPr/>
          <p:nvPr/>
        </p:nvSpPr>
        <p:spPr>
          <a:xfrm>
            <a:off x="10890647" y="4045268"/>
            <a:ext cx="6277163" cy="758190"/>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7324D"/>
                </a:solidFill>
                <a:latin typeface="Arial" pitchFamily="34" charset="0"/>
                <a:ea typeface="Arial" pitchFamily="34" charset="-122"/>
                <a:cs typeface="Arial" pitchFamily="34" charset="-120"/>
              </a:rPr>
              <a:t>of rectifier load nationally — 6.0 MTPA capacity, 11.7 TWh a year</a:t>
            </a:r>
            <a:endParaRPr lang="en-US" sz="2100" dirty="0"/>
          </a:p>
        </p:txBody>
      </p:sp>
      <p:sp>
        <p:nvSpPr>
          <p:cNvPr id="21" name="Shape 19"/>
          <p:cNvSpPr/>
          <p:nvPr/>
        </p:nvSpPr>
        <p:spPr>
          <a:xfrm>
            <a:off x="10547747" y="5230178"/>
            <a:ext cx="6749653" cy="1893570"/>
          </a:xfrm>
          <a:prstGeom prst="roundRect">
            <a:avLst>
              <a:gd name="adj" fmla="val 7042"/>
            </a:avLst>
          </a:prstGeom>
          <a:solidFill>
            <a:srgbClr val="FFFFFF"/>
          </a:solidFill>
          <a:ln/>
          <a:effectLst>
            <a:outerShdw sx="100000" sy="100000" kx="0" ky="0" algn="bl" rotWithShape="0" blurRad="28575" dist="9525" dir="5400000">
              <a:srgbClr val="17324D">
                <a:alpha val="5000"/>
              </a:srgbClr>
            </a:outerShdw>
          </a:effectLst>
        </p:spPr>
      </p:sp>
      <p:sp>
        <p:nvSpPr>
          <p:cNvPr id="22" name="Shape 20"/>
          <p:cNvSpPr/>
          <p:nvPr/>
        </p:nvSpPr>
        <p:spPr>
          <a:xfrm>
            <a:off x="10547747" y="7116128"/>
            <a:ext cx="6749653" cy="9525"/>
          </a:xfrm>
          <a:prstGeom prst="rect">
            <a:avLst/>
          </a:prstGeom>
          <a:solidFill>
            <a:srgbClr val="DCE8ED"/>
          </a:solidFill>
          <a:ln/>
        </p:spPr>
      </p:sp>
      <p:sp>
        <p:nvSpPr>
          <p:cNvPr id="23" name="Shape 21"/>
          <p:cNvSpPr/>
          <p:nvPr/>
        </p:nvSpPr>
        <p:spPr>
          <a:xfrm>
            <a:off x="10547747" y="5230178"/>
            <a:ext cx="6749653" cy="9525"/>
          </a:xfrm>
          <a:prstGeom prst="rect">
            <a:avLst/>
          </a:prstGeom>
          <a:solidFill>
            <a:srgbClr val="DCE8ED"/>
          </a:solidFill>
          <a:ln/>
        </p:spPr>
      </p:sp>
      <p:sp>
        <p:nvSpPr>
          <p:cNvPr id="24" name="Shape 22"/>
          <p:cNvSpPr/>
          <p:nvPr/>
        </p:nvSpPr>
        <p:spPr>
          <a:xfrm>
            <a:off x="10547747" y="5230178"/>
            <a:ext cx="38100" cy="1893570"/>
          </a:xfrm>
          <a:prstGeom prst="rect">
            <a:avLst/>
          </a:prstGeom>
          <a:solidFill>
            <a:srgbClr val="22A06B"/>
          </a:solidFill>
          <a:ln/>
        </p:spPr>
      </p:sp>
      <p:sp>
        <p:nvSpPr>
          <p:cNvPr id="25" name="Shape 23"/>
          <p:cNvSpPr/>
          <p:nvPr/>
        </p:nvSpPr>
        <p:spPr>
          <a:xfrm>
            <a:off x="17289780" y="5230178"/>
            <a:ext cx="9525" cy="1893570"/>
          </a:xfrm>
          <a:prstGeom prst="rect">
            <a:avLst/>
          </a:prstGeom>
          <a:solidFill>
            <a:srgbClr val="DCE8ED"/>
          </a:solidFill>
          <a:ln/>
        </p:spPr>
      </p:sp>
      <p:sp>
        <p:nvSpPr>
          <p:cNvPr id="26" name="Text 24"/>
          <p:cNvSpPr/>
          <p:nvPr/>
        </p:nvSpPr>
        <p:spPr>
          <a:xfrm>
            <a:off x="10890647" y="5485448"/>
            <a:ext cx="6703767" cy="624840"/>
          </a:xfrm>
          <a:prstGeom prst="rect">
            <a:avLst/>
          </a:prstGeom>
          <a:noFill/>
          <a:ln/>
        </p:spPr>
        <p:txBody>
          <a:bodyPr wrap="square" lIns="25400" tIns="25400" rIns="25400" bIns="25400" rtlCol="0" anchor="t">
            <a:normAutofit/>
          </a:bodyPr>
          <a:lstStyle/>
          <a:p>
            <a:pPr algn="l" indent="0" marL="0">
              <a:buNone/>
            </a:pPr>
            <a:r>
              <a:rPr lang="en-US" sz="4050" b="1" spc="-122" kern="0" dirty="0">
                <a:solidFill>
                  <a:srgbClr val="22A06B"/>
                </a:solidFill>
                <a:latin typeface="Arial" pitchFamily="34" charset="0"/>
                <a:ea typeface="Arial" pitchFamily="34" charset="-122"/>
                <a:cs typeface="Arial" pitchFamily="34" charset="-120"/>
              </a:rPr>
              <a:t>₹155 cr</a:t>
            </a:r>
            <a:endParaRPr lang="en-US" sz="4050" dirty="0"/>
          </a:p>
        </p:txBody>
      </p:sp>
      <p:sp>
        <p:nvSpPr>
          <p:cNvPr id="27" name="Text 25"/>
          <p:cNvSpPr/>
          <p:nvPr/>
        </p:nvSpPr>
        <p:spPr>
          <a:xfrm>
            <a:off x="10890647" y="6148388"/>
            <a:ext cx="6277163" cy="758190"/>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7324D"/>
                </a:solidFill>
                <a:latin typeface="Arial" pitchFamily="34" charset="0"/>
                <a:ea typeface="Arial" pitchFamily="34" charset="-122"/>
                <a:cs typeface="Arial" pitchFamily="34" charset="-120"/>
              </a:rPr>
              <a:t>a year of avoidable cost sector-wide, at our measured ₹0.133/kWh</a:t>
            </a:r>
            <a:endParaRPr lang="en-US" sz="2100" dirty="0"/>
          </a:p>
        </p:txBody>
      </p:sp>
      <p:sp>
        <p:nvSpPr>
          <p:cNvPr id="28" name="Shape 26"/>
          <p:cNvSpPr/>
          <p:nvPr/>
        </p:nvSpPr>
        <p:spPr>
          <a:xfrm>
            <a:off x="10547747" y="7333298"/>
            <a:ext cx="6749653" cy="1893570"/>
          </a:xfrm>
          <a:prstGeom prst="roundRect">
            <a:avLst>
              <a:gd name="adj" fmla="val 7042"/>
            </a:avLst>
          </a:prstGeom>
          <a:solidFill>
            <a:srgbClr val="FFFFFF"/>
          </a:solidFill>
          <a:ln/>
          <a:effectLst>
            <a:outerShdw sx="100000" sy="100000" kx="0" ky="0" algn="bl" rotWithShape="0" blurRad="28575" dist="9525" dir="5400000">
              <a:srgbClr val="17324D">
                <a:alpha val="5000"/>
              </a:srgbClr>
            </a:outerShdw>
          </a:effectLst>
        </p:spPr>
      </p:sp>
      <p:sp>
        <p:nvSpPr>
          <p:cNvPr id="29" name="Shape 27"/>
          <p:cNvSpPr/>
          <p:nvPr/>
        </p:nvSpPr>
        <p:spPr>
          <a:xfrm>
            <a:off x="10547747" y="9219248"/>
            <a:ext cx="6749653" cy="9525"/>
          </a:xfrm>
          <a:prstGeom prst="rect">
            <a:avLst/>
          </a:prstGeom>
          <a:solidFill>
            <a:srgbClr val="DCE8ED"/>
          </a:solidFill>
          <a:ln/>
        </p:spPr>
      </p:sp>
      <p:sp>
        <p:nvSpPr>
          <p:cNvPr id="30" name="Shape 28"/>
          <p:cNvSpPr/>
          <p:nvPr/>
        </p:nvSpPr>
        <p:spPr>
          <a:xfrm>
            <a:off x="10547747" y="7333298"/>
            <a:ext cx="6749653" cy="9525"/>
          </a:xfrm>
          <a:prstGeom prst="rect">
            <a:avLst/>
          </a:prstGeom>
          <a:solidFill>
            <a:srgbClr val="DCE8ED"/>
          </a:solidFill>
          <a:ln/>
        </p:spPr>
      </p:sp>
      <p:sp>
        <p:nvSpPr>
          <p:cNvPr id="31" name="Shape 29"/>
          <p:cNvSpPr/>
          <p:nvPr/>
        </p:nvSpPr>
        <p:spPr>
          <a:xfrm>
            <a:off x="10547747" y="7333298"/>
            <a:ext cx="38100" cy="1893570"/>
          </a:xfrm>
          <a:prstGeom prst="rect">
            <a:avLst/>
          </a:prstGeom>
          <a:solidFill>
            <a:srgbClr val="22A06B"/>
          </a:solidFill>
          <a:ln/>
        </p:spPr>
      </p:sp>
      <p:sp>
        <p:nvSpPr>
          <p:cNvPr id="32" name="Shape 30"/>
          <p:cNvSpPr/>
          <p:nvPr/>
        </p:nvSpPr>
        <p:spPr>
          <a:xfrm>
            <a:off x="17289780" y="7333298"/>
            <a:ext cx="9525" cy="1893570"/>
          </a:xfrm>
          <a:prstGeom prst="rect">
            <a:avLst/>
          </a:prstGeom>
          <a:solidFill>
            <a:srgbClr val="DCE8ED"/>
          </a:solidFill>
          <a:ln/>
        </p:spPr>
      </p:sp>
      <p:sp>
        <p:nvSpPr>
          <p:cNvPr id="33" name="Text 31"/>
          <p:cNvSpPr/>
          <p:nvPr/>
        </p:nvSpPr>
        <p:spPr>
          <a:xfrm>
            <a:off x="10890647" y="7588568"/>
            <a:ext cx="6703767" cy="624840"/>
          </a:xfrm>
          <a:prstGeom prst="rect">
            <a:avLst/>
          </a:prstGeom>
          <a:noFill/>
          <a:ln/>
        </p:spPr>
        <p:txBody>
          <a:bodyPr wrap="square" lIns="25400" tIns="25400" rIns="25400" bIns="25400" rtlCol="0" anchor="t">
            <a:normAutofit/>
          </a:bodyPr>
          <a:lstStyle/>
          <a:p>
            <a:pPr algn="l" indent="0" marL="0">
              <a:buNone/>
            </a:pPr>
            <a:r>
              <a:rPr lang="en-US" sz="4050" b="1" spc="-122" kern="0" dirty="0">
                <a:solidFill>
                  <a:srgbClr val="22A06B"/>
                </a:solidFill>
                <a:latin typeface="Arial" pitchFamily="34" charset="0"/>
                <a:ea typeface="Arial" pitchFamily="34" charset="-122"/>
                <a:cs typeface="Arial" pitchFamily="34" charset="-120"/>
              </a:rPr>
              <a:t>Zero</a:t>
            </a:r>
            <a:endParaRPr lang="en-US" sz="4050" dirty="0"/>
          </a:p>
        </p:txBody>
      </p:sp>
      <p:sp>
        <p:nvSpPr>
          <p:cNvPr id="34" name="Text 32"/>
          <p:cNvSpPr/>
          <p:nvPr/>
        </p:nvSpPr>
        <p:spPr>
          <a:xfrm>
            <a:off x="10890647" y="8251507"/>
            <a:ext cx="6277163" cy="758190"/>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7324D"/>
                </a:solidFill>
                <a:latin typeface="Arial" pitchFamily="34" charset="0"/>
                <a:ea typeface="Arial" pitchFamily="34" charset="-122"/>
                <a:cs typeface="Arial" pitchFamily="34" charset="-120"/>
              </a:rPr>
              <a:t>capex, and zero change in tonnes shipped — by construction</a:t>
            </a:r>
            <a:endParaRPr lang="en-US" sz="2100" dirty="0"/>
          </a:p>
        </p:txBody>
      </p:sp>
      <p:sp>
        <p:nvSpPr>
          <p:cNvPr id="35" name="Shape 33"/>
          <p:cNvSpPr/>
          <p:nvPr/>
        </p:nvSpPr>
        <p:spPr>
          <a:xfrm>
            <a:off x="990600" y="9128760"/>
            <a:ext cx="16306800" cy="9525"/>
          </a:xfrm>
          <a:prstGeom prst="rect">
            <a:avLst/>
          </a:prstGeom>
          <a:solidFill>
            <a:srgbClr val="DCE8ED"/>
          </a:solidFill>
          <a:ln/>
        </p:spPr>
      </p:sp>
      <p:sp>
        <p:nvSpPr>
          <p:cNvPr id="36" name="Text 34"/>
          <p:cNvSpPr/>
          <p:nvPr/>
        </p:nvSpPr>
        <p:spPr>
          <a:xfrm>
            <a:off x="990600" y="9326880"/>
            <a:ext cx="16796004"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Power share of production cost: National Productivity Council of India, Chlor-Alkali Sector Manual, p.22.</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214487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THE INSIGHT</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04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3984975" cy="64389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The cheapest storage in India is already built</a:t>
            </a:r>
            <a:endParaRPr lang="en-US" sz="4500" dirty="0"/>
          </a:p>
        </p:txBody>
      </p:sp>
      <p:sp>
        <p:nvSpPr>
          <p:cNvPr id="6" name="Shape 4"/>
          <p:cNvSpPr/>
          <p:nvPr/>
        </p:nvSpPr>
        <p:spPr>
          <a:xfrm>
            <a:off x="990600" y="2478405"/>
            <a:ext cx="7620000" cy="5130879"/>
          </a:xfrm>
          <a:prstGeom prst="roundRect">
            <a:avLst>
              <a:gd name="adj" fmla="val 2599"/>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7" name="Text 5"/>
          <p:cNvSpPr/>
          <p:nvPr/>
        </p:nvSpPr>
        <p:spPr>
          <a:xfrm>
            <a:off x="1436370" y="3558897"/>
            <a:ext cx="7401306" cy="32004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7C89"/>
                </a:solidFill>
                <a:latin typeface="Arial" pitchFamily="34" charset="0"/>
                <a:ea typeface="Arial" pitchFamily="34" charset="-122"/>
                <a:cs typeface="Arial" pitchFamily="34" charset="-120"/>
              </a:rPr>
              <a:t>THE CONSENSUS ANSWER</a:t>
            </a:r>
            <a:endParaRPr lang="en-US" sz="1950" dirty="0"/>
          </a:p>
        </p:txBody>
      </p:sp>
      <p:sp>
        <p:nvSpPr>
          <p:cNvPr id="8" name="Text 6"/>
          <p:cNvSpPr/>
          <p:nvPr/>
        </p:nvSpPr>
        <p:spPr>
          <a:xfrm>
            <a:off x="1436370" y="4031337"/>
            <a:ext cx="7401306" cy="1085850"/>
          </a:xfrm>
          <a:prstGeom prst="rect">
            <a:avLst/>
          </a:prstGeom>
          <a:noFill/>
          <a:ln/>
        </p:spPr>
        <p:txBody>
          <a:bodyPr wrap="square" lIns="25400" tIns="25400" rIns="25400" bIns="25400" rtlCol="0" anchor="t">
            <a:normAutofit/>
          </a:bodyPr>
          <a:lstStyle/>
          <a:p>
            <a:pPr algn="l" indent="0" marL="0">
              <a:lnSpc>
                <a:spcPct val="87580"/>
              </a:lnSpc>
              <a:buNone/>
            </a:pPr>
            <a:r>
              <a:rPr lang="en-US" sz="8250" b="1" spc="-330" kern="0" dirty="0">
                <a:solidFill>
                  <a:srgbClr val="6B7C89"/>
                </a:solidFill>
                <a:latin typeface="Arial" pitchFamily="34" charset="0"/>
                <a:ea typeface="Arial" pitchFamily="34" charset="-122"/>
                <a:cs typeface="Arial" pitchFamily="34" charset="-120"/>
              </a:rPr>
              <a:t>411 GWh</a:t>
            </a:r>
            <a:endParaRPr lang="en-US" sz="8250" dirty="0"/>
          </a:p>
        </p:txBody>
      </p:sp>
      <p:sp>
        <p:nvSpPr>
          <p:cNvPr id="9" name="Text 7"/>
          <p:cNvSpPr/>
          <p:nvPr/>
        </p:nvSpPr>
        <p:spPr>
          <a:xfrm>
            <a:off x="1436370" y="5288637"/>
            <a:ext cx="5372122" cy="1278255"/>
          </a:xfrm>
          <a:prstGeom prst="rect">
            <a:avLst/>
          </a:prstGeom>
          <a:noFill/>
          <a:ln/>
        </p:spPr>
        <p:txBody>
          <a:bodyPr wrap="square" lIns="25400" tIns="25400" rIns="25400" bIns="25400" rtlCol="0" anchor="t">
            <a:normAutofit/>
          </a:bodyPr>
          <a:lstStyle/>
          <a:p>
            <a:pPr algn="l" indent="0" marL="0">
              <a:lnSpc>
                <a:spcPct val="123295"/>
              </a:lnSpc>
              <a:buNone/>
            </a:pPr>
            <a:r>
              <a:rPr lang="en-US" sz="2325" dirty="0">
                <a:solidFill>
                  <a:srgbClr val="17324D"/>
                </a:solidFill>
                <a:latin typeface="Arial" pitchFamily="34" charset="0"/>
                <a:ea typeface="Arial" pitchFamily="34" charset="-122"/>
                <a:cs typeface="Arial" pitchFamily="34" charset="-120"/>
              </a:rPr>
              <a:t>of grid batteries to be constructed by 2031-32, at ₹0.6–1.1 crore per MWh installed.</a:t>
            </a:r>
            <a:endParaRPr lang="en-US" sz="2325" dirty="0"/>
          </a:p>
        </p:txBody>
      </p:sp>
      <p:sp>
        <p:nvSpPr>
          <p:cNvPr id="10" name="Text 8"/>
          <p:cNvSpPr/>
          <p:nvPr/>
        </p:nvSpPr>
        <p:spPr>
          <a:xfrm>
            <a:off x="8915400" y="4780955"/>
            <a:ext cx="533400" cy="563880"/>
          </a:xfrm>
          <a:prstGeom prst="rect">
            <a:avLst/>
          </a:prstGeom>
          <a:noFill/>
          <a:ln/>
        </p:spPr>
        <p:txBody>
          <a:bodyPr wrap="square" lIns="25400" tIns="25400" rIns="25400" bIns="25400" rtlCol="0" anchor="t">
            <a:normAutofit/>
          </a:bodyPr>
          <a:lstStyle/>
          <a:p>
            <a:pPr algn="l" indent="0" marL="0">
              <a:buNone/>
            </a:pPr>
            <a:r>
              <a:rPr lang="en-US" sz="3600" b="1" dirty="0">
                <a:solidFill>
                  <a:srgbClr val="38BDF2"/>
                </a:solidFill>
                <a:latin typeface="Arial" pitchFamily="34" charset="0"/>
                <a:ea typeface="Arial" pitchFamily="34" charset="-122"/>
                <a:cs typeface="Arial" pitchFamily="34" charset="-120"/>
              </a:rPr>
              <a:t>→</a:t>
            </a:r>
            <a:endParaRPr lang="en-US" sz="3600" dirty="0"/>
          </a:p>
        </p:txBody>
      </p:sp>
      <p:sp>
        <p:nvSpPr>
          <p:cNvPr id="11" name="Shape 9"/>
          <p:cNvSpPr/>
          <p:nvPr/>
        </p:nvSpPr>
        <p:spPr>
          <a:xfrm>
            <a:off x="9677400" y="2478405"/>
            <a:ext cx="7620000" cy="5130879"/>
          </a:xfrm>
          <a:prstGeom prst="roundRect">
            <a:avLst>
              <a:gd name="adj" fmla="val 2599"/>
            </a:avLst>
          </a:prstGeom>
          <a:solidFill>
            <a:srgbClr val="EAF7F1"/>
          </a:solidFill>
          <a:ln w="7620">
            <a:solidFill>
              <a:srgbClr val="BFE5D4"/>
            </a:solidFill>
            <a:prstDash val="solid"/>
          </a:ln>
        </p:spPr>
      </p:sp>
      <p:sp>
        <p:nvSpPr>
          <p:cNvPr id="12" name="Text 10"/>
          <p:cNvSpPr/>
          <p:nvPr/>
        </p:nvSpPr>
        <p:spPr>
          <a:xfrm>
            <a:off x="10123170" y="3558897"/>
            <a:ext cx="7401306" cy="32004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22A06B"/>
                </a:solidFill>
                <a:latin typeface="Arial" pitchFamily="34" charset="0"/>
                <a:ea typeface="Arial" pitchFamily="34" charset="-122"/>
                <a:cs typeface="Arial" pitchFamily="34" charset="-120"/>
              </a:rPr>
              <a:t>ALREADY IN THE TANK, ONE PLANT</a:t>
            </a:r>
            <a:endParaRPr lang="en-US" sz="1950" dirty="0"/>
          </a:p>
        </p:txBody>
      </p:sp>
      <p:sp>
        <p:nvSpPr>
          <p:cNvPr id="13" name="Text 11"/>
          <p:cNvSpPr/>
          <p:nvPr/>
        </p:nvSpPr>
        <p:spPr>
          <a:xfrm>
            <a:off x="10123170" y="4031337"/>
            <a:ext cx="7401306" cy="1085850"/>
          </a:xfrm>
          <a:prstGeom prst="rect">
            <a:avLst/>
          </a:prstGeom>
          <a:noFill/>
          <a:ln/>
        </p:spPr>
        <p:txBody>
          <a:bodyPr wrap="square" lIns="25400" tIns="25400" rIns="25400" bIns="25400" rtlCol="0" anchor="t">
            <a:normAutofit/>
          </a:bodyPr>
          <a:lstStyle/>
          <a:p>
            <a:pPr algn="l" indent="0" marL="0">
              <a:lnSpc>
                <a:spcPct val="87580"/>
              </a:lnSpc>
              <a:buNone/>
            </a:pPr>
            <a:r>
              <a:rPr lang="en-US" sz="8250" b="1" spc="-330" kern="0" dirty="0">
                <a:solidFill>
                  <a:srgbClr val="124B68"/>
                </a:solidFill>
                <a:latin typeface="Arial" pitchFamily="34" charset="0"/>
                <a:ea typeface="Arial" pitchFamily="34" charset="-122"/>
                <a:cs typeface="Arial" pitchFamily="34" charset="-120"/>
              </a:rPr>
              <a:t>748 MWh</a:t>
            </a:r>
            <a:endParaRPr lang="en-US" sz="8250" dirty="0"/>
          </a:p>
        </p:txBody>
      </p:sp>
      <p:sp>
        <p:nvSpPr>
          <p:cNvPr id="14" name="Text 12"/>
          <p:cNvSpPr/>
          <p:nvPr/>
        </p:nvSpPr>
        <p:spPr>
          <a:xfrm>
            <a:off x="10123170" y="5288637"/>
            <a:ext cx="5755844" cy="1278255"/>
          </a:xfrm>
          <a:prstGeom prst="rect">
            <a:avLst/>
          </a:prstGeom>
          <a:noFill/>
          <a:ln/>
        </p:spPr>
        <p:txBody>
          <a:bodyPr wrap="square" lIns="25400" tIns="25400" rIns="25400" bIns="25400" rtlCol="0" anchor="t">
            <a:normAutofit/>
          </a:bodyPr>
          <a:lstStyle/>
          <a:p>
            <a:pPr algn="l" indent="0" marL="0">
              <a:lnSpc>
                <a:spcPct val="123295"/>
              </a:lnSpc>
              <a:buNone/>
            </a:pPr>
            <a:r>
              <a:rPr lang="en-US" sz="2325" dirty="0">
                <a:solidFill>
                  <a:srgbClr val="17324D"/>
                </a:solidFill>
                <a:latin typeface="Arial" pitchFamily="34" charset="0"/>
                <a:ea typeface="Arial" pitchFamily="34" charset="-122"/>
                <a:cs typeface="Arial" pitchFamily="34" charset="-120"/>
              </a:rPr>
              <a:t>21.8 MW deliverable, stored as caustic soda, dispatched by nobody. Displaces ₹450–820 crore of battery.</a:t>
            </a:r>
            <a:endParaRPr lang="en-US" sz="2325" dirty="0"/>
          </a:p>
        </p:txBody>
      </p:sp>
      <p:sp>
        <p:nvSpPr>
          <p:cNvPr id="15" name="Shape 13"/>
          <p:cNvSpPr/>
          <p:nvPr/>
        </p:nvSpPr>
        <p:spPr>
          <a:xfrm>
            <a:off x="990600" y="7875984"/>
            <a:ext cx="16306800" cy="1725216"/>
          </a:xfrm>
          <a:prstGeom prst="roundRect">
            <a:avLst>
              <a:gd name="adj" fmla="val 7729"/>
            </a:avLst>
          </a:prstGeom>
          <a:solidFill>
            <a:srgbClr val="FFFFFF"/>
          </a:solidFill>
          <a:ln/>
        </p:spPr>
      </p:sp>
      <p:sp>
        <p:nvSpPr>
          <p:cNvPr id="16" name="Shape 14"/>
          <p:cNvSpPr/>
          <p:nvPr/>
        </p:nvSpPr>
        <p:spPr>
          <a:xfrm>
            <a:off x="990600" y="9593580"/>
            <a:ext cx="16306800" cy="9525"/>
          </a:xfrm>
          <a:prstGeom prst="rect">
            <a:avLst/>
          </a:prstGeom>
          <a:solidFill>
            <a:srgbClr val="DCE8ED"/>
          </a:solidFill>
          <a:ln/>
        </p:spPr>
      </p:sp>
      <p:sp>
        <p:nvSpPr>
          <p:cNvPr id="17" name="Shape 15"/>
          <p:cNvSpPr/>
          <p:nvPr/>
        </p:nvSpPr>
        <p:spPr>
          <a:xfrm>
            <a:off x="990600" y="7875984"/>
            <a:ext cx="16306800" cy="9525"/>
          </a:xfrm>
          <a:prstGeom prst="rect">
            <a:avLst/>
          </a:prstGeom>
          <a:solidFill>
            <a:srgbClr val="DCE8ED"/>
          </a:solidFill>
          <a:ln/>
        </p:spPr>
      </p:sp>
      <p:sp>
        <p:nvSpPr>
          <p:cNvPr id="18" name="Shape 16"/>
          <p:cNvSpPr/>
          <p:nvPr/>
        </p:nvSpPr>
        <p:spPr>
          <a:xfrm>
            <a:off x="990600" y="7875984"/>
            <a:ext cx="38100" cy="1725216"/>
          </a:xfrm>
          <a:prstGeom prst="rect">
            <a:avLst/>
          </a:prstGeom>
          <a:solidFill>
            <a:srgbClr val="E9A72C"/>
          </a:solidFill>
          <a:ln/>
        </p:spPr>
      </p:sp>
      <p:sp>
        <p:nvSpPr>
          <p:cNvPr id="19" name="Shape 17"/>
          <p:cNvSpPr/>
          <p:nvPr/>
        </p:nvSpPr>
        <p:spPr>
          <a:xfrm>
            <a:off x="17289780" y="7875984"/>
            <a:ext cx="9525" cy="1725216"/>
          </a:xfrm>
          <a:prstGeom prst="rect">
            <a:avLst/>
          </a:prstGeom>
          <a:solidFill>
            <a:srgbClr val="DCE8ED"/>
          </a:solidFill>
          <a:ln/>
        </p:spPr>
      </p:sp>
      <p:sp>
        <p:nvSpPr>
          <p:cNvPr id="20" name="Text 18"/>
          <p:cNvSpPr/>
          <p:nvPr/>
        </p:nvSpPr>
        <p:spPr>
          <a:xfrm>
            <a:off x="1352550" y="8150304"/>
            <a:ext cx="16081782" cy="1214676"/>
          </a:xfrm>
          <a:prstGeom prst="rect">
            <a:avLst/>
          </a:prstGeom>
          <a:noFill/>
          <a:ln/>
        </p:spPr>
        <p:txBody>
          <a:bodyPr wrap="square" lIns="25400" tIns="25400" rIns="25400" bIns="25400" rtlCol="0" anchor="t">
            <a:normAutofit/>
          </a:bodyPr>
          <a:lstStyle/>
          <a:p>
            <a:pPr algn="l" indent="0" marL="0">
              <a:lnSpc>
                <a:spcPct val="122560"/>
              </a:lnSpc>
              <a:buNone/>
            </a:pPr>
            <a:r>
              <a:rPr lang="en-US" sz="2175" b="1" dirty="0">
                <a:solidFill>
                  <a:srgbClr val="124B68"/>
                </a:solidFill>
                <a:latin typeface="Arial" pitchFamily="34" charset="0"/>
                <a:ea typeface="Arial" pitchFamily="34" charset="-122"/>
                <a:cs typeface="Arial" pitchFamily="34" charset="-120"/>
              </a:rPr>
              <a:t>Quoted at the deliverable floor, not the safety floor. </a:t>
            </a:r>
            <a:pPr algn="l" indent="0" marL="0">
              <a:lnSpc>
                <a:spcPct val="122560"/>
              </a:lnSpc>
              <a:buNone/>
            </a:pPr>
            <a:r>
              <a:rPr lang="en-US" sz="2175" dirty="0">
                <a:solidFill>
                  <a:srgbClr val="17324D"/>
                </a:solidFill>
                <a:latin typeface="Arial" pitchFamily="34" charset="0"/>
                <a:ea typeface="Arial" pitchFamily="34" charset="-122"/>
                <a:cs typeface="Arial" pitchFamily="34" charset="-120"/>
              </a:rPr>
              <a:t>Chlorine is made stoichiometrically and cannot be stored in bulk, so the chlorine consumer's turndown — 70% of design — is the real limit, not the cell's 40% H₂-in-Cl₂ interlock. Quoting the interlock would have claimed 1,410 MWh, and half of that battery does not exist.</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1616678"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THE TWIN</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05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3984975" cy="64389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The convexity is derived, not assumed</a:t>
            </a:r>
            <a:endParaRPr lang="en-US" sz="4500" dirty="0"/>
          </a:p>
        </p:txBody>
      </p:sp>
      <p:sp>
        <p:nvSpPr>
          <p:cNvPr id="6" name="Shape 4"/>
          <p:cNvSpPr/>
          <p:nvPr/>
        </p:nvSpPr>
        <p:spPr>
          <a:xfrm>
            <a:off x="990600" y="2478405"/>
            <a:ext cx="9269254" cy="6147435"/>
          </a:xfrm>
          <a:prstGeom prst="roundRect">
            <a:avLst>
              <a:gd name="adj" fmla="val 2169"/>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7" name="Text 5"/>
          <p:cNvSpPr/>
          <p:nvPr/>
        </p:nvSpPr>
        <p:spPr>
          <a:xfrm>
            <a:off x="1417320" y="3099435"/>
            <a:ext cx="2329017" cy="594360"/>
          </a:xfrm>
          <a:prstGeom prst="rect">
            <a:avLst/>
          </a:prstGeom>
          <a:noFill/>
          <a:ln/>
        </p:spPr>
        <p:txBody>
          <a:bodyPr wrap="square" lIns="25400" tIns="25400" rIns="25400" bIns="25400" rtlCol="0" anchor="t">
            <a:normAutofit/>
          </a:bodyPr>
          <a:lstStyle/>
          <a:p>
            <a:pPr algn="l" indent="0" marL="0">
              <a:buNone/>
            </a:pPr>
            <a:r>
              <a:rPr lang="en-US" sz="3300" b="1" dirty="0">
                <a:solidFill>
                  <a:srgbClr val="1597D4"/>
                </a:solidFill>
                <a:latin typeface="Arial" pitchFamily="34" charset="0"/>
                <a:ea typeface="Arial" pitchFamily="34" charset="-122"/>
                <a:cs typeface="Arial" pitchFamily="34" charset="-120"/>
              </a:rPr>
              <a:t>V = V₀ + k·i</a:t>
            </a:r>
            <a:endParaRPr lang="en-US" sz="3300" dirty="0"/>
          </a:p>
        </p:txBody>
      </p:sp>
      <p:sp>
        <p:nvSpPr>
          <p:cNvPr id="8" name="Text 6"/>
          <p:cNvSpPr/>
          <p:nvPr/>
        </p:nvSpPr>
        <p:spPr>
          <a:xfrm>
            <a:off x="3763208" y="3297555"/>
            <a:ext cx="2068520" cy="350520"/>
          </a:xfrm>
          <a:prstGeom prst="rect">
            <a:avLst/>
          </a:prstGeom>
          <a:noFill/>
          <a:ln/>
        </p:spPr>
        <p:txBody>
          <a:bodyPr wrap="square" lIns="25400" tIns="25400" rIns="25400" bIns="25400" rtlCol="0" anchor="t">
            <a:normAutofit/>
          </a:bodyPr>
          <a:lstStyle/>
          <a:p>
            <a:pPr algn="l" indent="0" marL="0">
              <a:buNone/>
            </a:pPr>
            <a:r>
              <a:rPr lang="en-US" sz="2025" dirty="0">
                <a:solidFill>
                  <a:srgbClr val="6B7C89"/>
                </a:solidFill>
                <a:latin typeface="Arial" pitchFamily="34" charset="0"/>
                <a:ea typeface="Arial" pitchFamily="34" charset="-122"/>
                <a:cs typeface="Arial" pitchFamily="34" charset="-120"/>
              </a:rPr>
              <a:t>cell voltage law</a:t>
            </a:r>
            <a:endParaRPr lang="en-US" sz="2025" dirty="0"/>
          </a:p>
        </p:txBody>
      </p:sp>
      <p:sp>
        <p:nvSpPr>
          <p:cNvPr id="9" name="Text 7"/>
          <p:cNvSpPr/>
          <p:nvPr/>
        </p:nvSpPr>
        <p:spPr>
          <a:xfrm>
            <a:off x="1417320" y="3903345"/>
            <a:ext cx="938213" cy="556260"/>
          </a:xfrm>
          <a:prstGeom prst="rect">
            <a:avLst/>
          </a:prstGeom>
          <a:noFill/>
          <a:ln/>
        </p:spPr>
        <p:txBody>
          <a:bodyPr wrap="square" lIns="25400" tIns="25400" rIns="25400" bIns="25400" rtlCol="0" anchor="t">
            <a:normAutofit/>
          </a:bodyPr>
          <a:lstStyle/>
          <a:p>
            <a:pPr algn="l" indent="0" marL="0">
              <a:buNone/>
            </a:pPr>
            <a:r>
              <a:rPr lang="en-US" sz="3300" b="1" dirty="0">
                <a:solidFill>
                  <a:srgbClr val="1597D4"/>
                </a:solidFill>
                <a:latin typeface="Arial" pitchFamily="34" charset="0"/>
                <a:ea typeface="Arial" pitchFamily="34" charset="-122"/>
                <a:cs typeface="Arial" pitchFamily="34" charset="-120"/>
              </a:rPr>
              <a:t>q ∝ i</a:t>
            </a:r>
            <a:endParaRPr lang="en-US" sz="3300" dirty="0"/>
          </a:p>
        </p:txBody>
      </p:sp>
      <p:sp>
        <p:nvSpPr>
          <p:cNvPr id="10" name="Text 8"/>
          <p:cNvSpPr/>
          <p:nvPr/>
        </p:nvSpPr>
        <p:spPr>
          <a:xfrm>
            <a:off x="2507933" y="4040505"/>
            <a:ext cx="1843778" cy="350520"/>
          </a:xfrm>
          <a:prstGeom prst="rect">
            <a:avLst/>
          </a:prstGeom>
          <a:noFill/>
          <a:ln/>
        </p:spPr>
        <p:txBody>
          <a:bodyPr wrap="square" lIns="25400" tIns="25400" rIns="25400" bIns="25400" rtlCol="0" anchor="t">
            <a:normAutofit/>
          </a:bodyPr>
          <a:lstStyle/>
          <a:p>
            <a:pPr algn="l" indent="0" marL="0">
              <a:buNone/>
            </a:pPr>
            <a:r>
              <a:rPr lang="en-US" sz="2025" dirty="0">
                <a:solidFill>
                  <a:srgbClr val="6B7C89"/>
                </a:solidFill>
                <a:latin typeface="Arial" pitchFamily="34" charset="0"/>
                <a:ea typeface="Arial" pitchFamily="34" charset="-122"/>
                <a:cs typeface="Arial" pitchFamily="34" charset="-120"/>
              </a:rPr>
              <a:t>Faraday's law</a:t>
            </a:r>
            <a:endParaRPr lang="en-US" sz="2025" dirty="0"/>
          </a:p>
        </p:txBody>
      </p:sp>
      <p:sp>
        <p:nvSpPr>
          <p:cNvPr id="11" name="Shape 9"/>
          <p:cNvSpPr/>
          <p:nvPr/>
        </p:nvSpPr>
        <p:spPr>
          <a:xfrm>
            <a:off x="1417320" y="4669155"/>
            <a:ext cx="8415814" cy="9525"/>
          </a:xfrm>
          <a:prstGeom prst="rect">
            <a:avLst/>
          </a:prstGeom>
          <a:solidFill>
            <a:srgbClr val="DCE8ED"/>
          </a:solidFill>
          <a:ln/>
        </p:spPr>
      </p:sp>
      <p:sp>
        <p:nvSpPr>
          <p:cNvPr id="12" name="Text 10"/>
          <p:cNvSpPr/>
          <p:nvPr/>
        </p:nvSpPr>
        <p:spPr>
          <a:xfrm>
            <a:off x="1417320" y="4926330"/>
            <a:ext cx="9257395" cy="868680"/>
          </a:xfrm>
          <a:prstGeom prst="rect">
            <a:avLst/>
          </a:prstGeom>
          <a:noFill/>
          <a:ln/>
        </p:spPr>
        <p:txBody>
          <a:bodyPr wrap="square" lIns="25400" tIns="25400" rIns="25400" bIns="25400" rtlCol="0" anchor="t">
            <a:normAutofit/>
          </a:bodyPr>
          <a:lstStyle/>
          <a:p>
            <a:pPr algn="l" indent="0" marL="0">
              <a:buNone/>
            </a:pPr>
            <a:r>
              <a:rPr lang="en-US" sz="5700" b="1" spc="-171" kern="0" dirty="0">
                <a:solidFill>
                  <a:srgbClr val="124B68"/>
                </a:solidFill>
                <a:latin typeface="Arial" pitchFamily="34" charset="0"/>
                <a:ea typeface="Arial" pitchFamily="34" charset="-122"/>
                <a:cs typeface="Arial" pitchFamily="34" charset="-120"/>
              </a:rPr>
              <a:t>P(q) = αq + βq²</a:t>
            </a:r>
            <a:endParaRPr lang="en-US" sz="5700" dirty="0"/>
          </a:p>
        </p:txBody>
      </p:sp>
      <p:sp>
        <p:nvSpPr>
          <p:cNvPr id="13" name="Text 11"/>
          <p:cNvSpPr/>
          <p:nvPr/>
        </p:nvSpPr>
        <p:spPr>
          <a:xfrm>
            <a:off x="1417320" y="6004560"/>
            <a:ext cx="8169657" cy="2038350"/>
          </a:xfrm>
          <a:prstGeom prst="rect">
            <a:avLst/>
          </a:prstGeom>
          <a:noFill/>
          <a:ln/>
        </p:spPr>
        <p:txBody>
          <a:bodyPr wrap="square" lIns="25400" tIns="25400" rIns="25400" bIns="25400" rtlCol="0" anchor="t">
            <a:normAutofit/>
          </a:bodyPr>
          <a:lstStyle/>
          <a:p>
            <a:pPr algn="l" indent="0" marL="0">
              <a:lnSpc>
                <a:spcPct val="122093"/>
              </a:lnSpc>
              <a:buNone/>
            </a:pPr>
            <a:r>
              <a:rPr lang="en-US" sz="2250" dirty="0">
                <a:solidFill>
                  <a:srgbClr val="17324D"/>
                </a:solidFill>
                <a:latin typeface="Arial" pitchFamily="34" charset="0"/>
                <a:ea typeface="Arial" pitchFamily="34" charset="-122"/>
                <a:cs typeface="Arial" pitchFamily="34" charset="-120"/>
              </a:rPr>
              <a:t>Convex, by electrochemistry rather than by parameter choice. Splitting production into a turn-down leg and a rebuild leg therefore always burns more kilowatt-hours than running steady — even though the tonnes are identical. That excess is the true physical cost of flexibility.</a:t>
            </a:r>
            <a:endParaRPr lang="en-US" sz="2250" dirty="0"/>
          </a:p>
        </p:txBody>
      </p:sp>
      <p:sp>
        <p:nvSpPr>
          <p:cNvPr id="14" name="Shape 12"/>
          <p:cNvSpPr/>
          <p:nvPr/>
        </p:nvSpPr>
        <p:spPr>
          <a:xfrm>
            <a:off x="10564654" y="2478405"/>
            <a:ext cx="6732747" cy="3143250"/>
          </a:xfrm>
          <a:prstGeom prst="roundRect">
            <a:avLst>
              <a:gd name="adj" fmla="val 4242"/>
            </a:avLst>
          </a:prstGeom>
          <a:solidFill>
            <a:srgbClr val="EAF7F1"/>
          </a:solidFill>
          <a:ln w="7620">
            <a:solidFill>
              <a:srgbClr val="BFE5D4"/>
            </a:solidFill>
            <a:prstDash val="solid"/>
          </a:ln>
        </p:spPr>
      </p:sp>
      <p:sp>
        <p:nvSpPr>
          <p:cNvPr id="15" name="Text 13"/>
          <p:cNvSpPr/>
          <p:nvPr/>
        </p:nvSpPr>
        <p:spPr>
          <a:xfrm>
            <a:off x="10915174" y="2790825"/>
            <a:ext cx="6634877" cy="320040"/>
          </a:xfrm>
          <a:prstGeom prst="rect">
            <a:avLst/>
          </a:prstGeom>
          <a:noFill/>
          <a:ln/>
        </p:spPr>
        <p:txBody>
          <a:bodyPr wrap="square" lIns="25400" tIns="25400" rIns="25400" bIns="25400" rtlCol="0" anchor="t">
            <a:normAutofit/>
          </a:bodyPr>
          <a:lstStyle/>
          <a:p>
            <a:pPr algn="l" indent="0" marL="0">
              <a:buNone/>
            </a:pPr>
            <a:r>
              <a:rPr lang="en-US" sz="1950" b="1" spc="156" kern="0" dirty="0">
                <a:solidFill>
                  <a:srgbClr val="22A06B"/>
                </a:solidFill>
                <a:latin typeface="Arial" pitchFamily="34" charset="0"/>
                <a:ea typeface="Arial" pitchFamily="34" charset="-122"/>
                <a:cs typeface="Arial" pitchFamily="34" charset="-120"/>
              </a:rPr>
              <a:t>SPECIFIC ENERGY FALLS ON TURN-DOWN</a:t>
            </a:r>
            <a:endParaRPr lang="en-US" sz="1950" dirty="0"/>
          </a:p>
        </p:txBody>
      </p:sp>
      <p:sp>
        <p:nvSpPr>
          <p:cNvPr id="16" name="Text 14"/>
          <p:cNvSpPr/>
          <p:nvPr/>
        </p:nvSpPr>
        <p:spPr>
          <a:xfrm>
            <a:off x="10915174" y="3225165"/>
            <a:ext cx="6634877" cy="434340"/>
          </a:xfrm>
          <a:prstGeom prst="rect">
            <a:avLst/>
          </a:prstGeom>
          <a:noFill/>
          <a:ln/>
        </p:spPr>
        <p:txBody>
          <a:bodyPr wrap="square" lIns="25400" tIns="25400" rIns="25400" bIns="25400" rtlCol="0" anchor="t">
            <a:normAutofit/>
          </a:bodyPr>
          <a:lstStyle/>
          <a:p>
            <a:pPr algn="l" indent="0" marL="0">
              <a:buNone/>
            </a:pPr>
            <a:r>
              <a:rPr lang="en-US" sz="2700" b="1" dirty="0">
                <a:solidFill>
                  <a:srgbClr val="124B68"/>
                </a:solidFill>
                <a:latin typeface="Arial" pitchFamily="34" charset="0"/>
                <a:ea typeface="Arial" pitchFamily="34" charset="-122"/>
                <a:cs typeface="Arial" pitchFamily="34" charset="-120"/>
              </a:rPr>
              <a:t>E = 2.41 + 0.329·i + 0.24·log i</a:t>
            </a:r>
            <a:endParaRPr lang="en-US" sz="2700" dirty="0"/>
          </a:p>
        </p:txBody>
      </p:sp>
      <p:sp>
        <p:nvSpPr>
          <p:cNvPr id="17" name="Text 15"/>
          <p:cNvSpPr/>
          <p:nvPr/>
        </p:nvSpPr>
        <p:spPr>
          <a:xfrm>
            <a:off x="10915174" y="3754755"/>
            <a:ext cx="6212657" cy="1592580"/>
          </a:xfrm>
          <a:prstGeom prst="rect">
            <a:avLst/>
          </a:prstGeom>
          <a:noFill/>
          <a:ln/>
        </p:spPr>
        <p:txBody>
          <a:bodyPr wrap="square" lIns="25400" tIns="25400" rIns="25400" bIns="25400" rtlCol="0" anchor="t">
            <a:normAutofit/>
          </a:bodyPr>
          <a:lstStyle/>
          <a:p>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The NPC's published empirical cell equation gives a plant that is </a:t>
            </a:r>
            <a:pPr algn="l" indent="0" marL="0">
              <a:lnSpc>
                <a:spcPct val="120833"/>
              </a:lnSpc>
              <a:buNone/>
            </a:pPr>
            <a:r>
              <a:rPr lang="en-US" sz="2175" b="1" dirty="0">
                <a:solidFill>
                  <a:srgbClr val="17324D"/>
                </a:solidFill>
                <a:latin typeface="Arial" pitchFamily="34" charset="0"/>
                <a:ea typeface="Arial" pitchFamily="34" charset="-122"/>
                <a:cs typeface="Arial" pitchFamily="34" charset="-120"/>
              </a:rPr>
              <a:t>more </a:t>
            </a:r>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efficient per tonne as it turns down. This is the one industrial process paid, in energy terms, to be flexible.</a:t>
            </a:r>
            <a:endParaRPr lang="en-US" sz="2175" dirty="0"/>
          </a:p>
        </p:txBody>
      </p:sp>
      <p:sp>
        <p:nvSpPr>
          <p:cNvPr id="18" name="Shape 16"/>
          <p:cNvSpPr/>
          <p:nvPr/>
        </p:nvSpPr>
        <p:spPr>
          <a:xfrm>
            <a:off x="10564654" y="5850255"/>
            <a:ext cx="6732747" cy="2876550"/>
          </a:xfrm>
          <a:prstGeom prst="roundRect">
            <a:avLst>
              <a:gd name="adj" fmla="val 4636"/>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19" name="Text 17"/>
          <p:cNvSpPr/>
          <p:nvPr/>
        </p:nvSpPr>
        <p:spPr>
          <a:xfrm>
            <a:off x="10915174" y="6162675"/>
            <a:ext cx="6212657" cy="601980"/>
          </a:xfrm>
          <a:prstGeom prst="rect">
            <a:avLst/>
          </a:prstGeom>
          <a:noFill/>
          <a:ln/>
        </p:spPr>
        <p:txBody>
          <a:bodyPr wrap="square" lIns="25400" tIns="25400" rIns="25400" bIns="25400" rtlCol="0" anchor="t">
            <a:normAutofit/>
          </a:bodyPr>
          <a:lstStyle/>
          <a:p>
            <a:pPr algn="l" indent="0" marL="0">
              <a:buNone/>
            </a:pPr>
            <a:r>
              <a:rPr lang="en-US" sz="1950" b="1" spc="156" kern="0" dirty="0">
                <a:solidFill>
                  <a:srgbClr val="6B7C89"/>
                </a:solidFill>
                <a:latin typeface="Arial" pitchFamily="34" charset="0"/>
                <a:ea typeface="Arial" pitchFamily="34" charset="-122"/>
                <a:cs typeface="Arial" pitchFamily="34" charset="-120"/>
              </a:rPr>
              <a:t>WE CHARGE OURSELVES THE LARGER LOSS</a:t>
            </a:r>
            <a:endParaRPr lang="en-US" sz="1950" dirty="0"/>
          </a:p>
        </p:txBody>
      </p:sp>
      <p:sp>
        <p:nvSpPr>
          <p:cNvPr id="20" name="Text 18"/>
          <p:cNvSpPr/>
          <p:nvPr/>
        </p:nvSpPr>
        <p:spPr>
          <a:xfrm>
            <a:off x="10915174" y="6859905"/>
            <a:ext cx="6212657" cy="1592580"/>
          </a:xfrm>
          <a:prstGeom prst="rect">
            <a:avLst/>
          </a:prstGeom>
          <a:noFill/>
          <a:ln/>
        </p:spPr>
        <p:txBody>
          <a:bodyPr wrap="square" lIns="25400" tIns="25400" rIns="25400" bIns="25400" rtlCol="0" anchor="t">
            <a:normAutofit/>
          </a:bodyPr>
          <a:lstStyle/>
          <a:p>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The published cell curve implies a β of 0.30–0.45 over the operating range. This model uses </a:t>
            </a:r>
            <a:pPr algn="l" indent="0" marL="0">
              <a:lnSpc>
                <a:spcPct val="120833"/>
              </a:lnSpc>
              <a:buNone/>
            </a:pPr>
            <a:r>
              <a:rPr lang="en-US" sz="2175" b="1" dirty="0">
                <a:solidFill>
                  <a:srgbClr val="124B68"/>
                </a:solidFill>
                <a:latin typeface="Arial" pitchFamily="34" charset="0"/>
                <a:ea typeface="Arial" pitchFamily="34" charset="-122"/>
                <a:cs typeface="Arial" pitchFamily="34" charset="-120"/>
              </a:rPr>
              <a:t>0.21 </a:t>
            </a:r>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 so every saving we report is understated rather than flattered.</a:t>
            </a:r>
            <a:endParaRPr lang="en-US" sz="2175" dirty="0"/>
          </a:p>
        </p:txBody>
      </p:sp>
      <p:sp>
        <p:nvSpPr>
          <p:cNvPr id="21" name="Shape 19"/>
          <p:cNvSpPr/>
          <p:nvPr/>
        </p:nvSpPr>
        <p:spPr>
          <a:xfrm>
            <a:off x="990600" y="8854440"/>
            <a:ext cx="16306800" cy="9525"/>
          </a:xfrm>
          <a:prstGeom prst="rect">
            <a:avLst/>
          </a:prstGeom>
          <a:solidFill>
            <a:srgbClr val="DCE8ED"/>
          </a:solidFill>
          <a:ln/>
        </p:spPr>
      </p:sp>
      <p:sp>
        <p:nvSpPr>
          <p:cNvPr id="22" name="Text 20"/>
          <p:cNvSpPr/>
          <p:nvPr/>
        </p:nvSpPr>
        <p:spPr>
          <a:xfrm>
            <a:off x="990600" y="9052560"/>
            <a:ext cx="16796004" cy="58674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NPC India, Chlor-Alkali Sector Manual, p.28 (voltage law) and p.29 (empirical cell curve). Linearised for the MILP by 16 tangent hyperplanes; measured error 0.025%.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2387036"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THE PRODUCT</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06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4684216" cy="64389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The flexibility cost curve no plant has for itself</a:t>
            </a:r>
            <a:endParaRPr lang="en-US" sz="4500" dirty="0"/>
          </a:p>
        </p:txBody>
      </p:sp>
      <p:sp>
        <p:nvSpPr>
          <p:cNvPr id="6" name="Shape 4"/>
          <p:cNvSpPr/>
          <p:nvPr/>
        </p:nvSpPr>
        <p:spPr>
          <a:xfrm>
            <a:off x="990600" y="2478405"/>
            <a:ext cx="7919681" cy="7122795"/>
          </a:xfrm>
          <a:prstGeom prst="roundRect">
            <a:avLst>
              <a:gd name="adj" fmla="val 1872"/>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7" name="Text 5"/>
          <p:cNvSpPr/>
          <p:nvPr/>
        </p:nvSpPr>
        <p:spPr>
          <a:xfrm>
            <a:off x="1436370" y="3950970"/>
            <a:ext cx="7730954" cy="822960"/>
          </a:xfrm>
          <a:prstGeom prst="rect">
            <a:avLst/>
          </a:prstGeom>
          <a:noFill/>
          <a:ln/>
        </p:spPr>
        <p:txBody>
          <a:bodyPr wrap="square" lIns="25400" tIns="25400" rIns="25400" bIns="25400" rtlCol="0" anchor="t">
            <a:normAutofit/>
          </a:bodyPr>
          <a:lstStyle/>
          <a:p>
            <a:pPr algn="l" indent="0" marL="0">
              <a:buNone/>
            </a:pPr>
            <a:r>
              <a:rPr lang="en-US" sz="5400" b="1" spc="-162" kern="0" dirty="0">
                <a:solidFill>
                  <a:srgbClr val="124B68"/>
                </a:solidFill>
                <a:latin typeface="Arial" pitchFamily="34" charset="0"/>
                <a:ea typeface="Arial" pitchFamily="34" charset="-122"/>
                <a:cs typeface="Arial" pitchFamily="34" charset="-120"/>
              </a:rPr>
              <a:t>φ(ΔMW, Δt)</a:t>
            </a:r>
            <a:endParaRPr lang="en-US" sz="5400" dirty="0"/>
          </a:p>
        </p:txBody>
      </p:sp>
      <p:sp>
        <p:nvSpPr>
          <p:cNvPr id="8" name="Text 6"/>
          <p:cNvSpPr/>
          <p:nvPr/>
        </p:nvSpPr>
        <p:spPr>
          <a:xfrm>
            <a:off x="1436370" y="4945380"/>
            <a:ext cx="6139690" cy="1278255"/>
          </a:xfrm>
          <a:prstGeom prst="rect">
            <a:avLst/>
          </a:prstGeom>
          <a:noFill/>
          <a:ln/>
        </p:spPr>
        <p:txBody>
          <a:bodyPr wrap="square" lIns="25400" tIns="25400" rIns="25400" bIns="25400" rtlCol="0" anchor="t">
            <a:normAutofit/>
          </a:bodyPr>
          <a:lstStyle/>
          <a:p>
            <a:pPr algn="l" indent="0" marL="0">
              <a:lnSpc>
                <a:spcPct val="123295"/>
              </a:lnSpc>
              <a:buNone/>
            </a:pPr>
            <a:r>
              <a:rPr lang="en-US" sz="2325" dirty="0">
                <a:solidFill>
                  <a:srgbClr val="17324D"/>
                </a:solidFill>
                <a:latin typeface="Arial" pitchFamily="34" charset="0"/>
                <a:ea typeface="Arial" pitchFamily="34" charset="-122"/>
                <a:cs typeface="Arial" pitchFamily="34" charset="-120"/>
              </a:rPr>
              <a:t>The rupees per MWh it costs this plant to shed ΔMW for Δt hours, with product output held constant.</a:t>
            </a:r>
            <a:endParaRPr lang="en-US" sz="2325" dirty="0"/>
          </a:p>
        </p:txBody>
      </p:sp>
      <p:sp>
        <p:nvSpPr>
          <p:cNvPr id="9" name="Shape 7"/>
          <p:cNvSpPr/>
          <p:nvPr/>
        </p:nvSpPr>
        <p:spPr>
          <a:xfrm>
            <a:off x="1436370" y="6528435"/>
            <a:ext cx="7028140" cy="9525"/>
          </a:xfrm>
          <a:prstGeom prst="rect">
            <a:avLst/>
          </a:prstGeom>
          <a:solidFill>
            <a:srgbClr val="DCE8ED"/>
          </a:solidFill>
          <a:ln/>
        </p:spPr>
      </p:sp>
      <p:sp>
        <p:nvSpPr>
          <p:cNvPr id="10" name="Text 8"/>
          <p:cNvSpPr/>
          <p:nvPr/>
        </p:nvSpPr>
        <p:spPr>
          <a:xfrm>
            <a:off x="1436370" y="6802755"/>
            <a:ext cx="7730954" cy="952500"/>
          </a:xfrm>
          <a:prstGeom prst="rect">
            <a:avLst/>
          </a:prstGeom>
          <a:noFill/>
          <a:ln/>
        </p:spPr>
        <p:txBody>
          <a:bodyPr wrap="square" lIns="25400" tIns="25400" rIns="25400" bIns="25400" rtlCol="0" anchor="t">
            <a:normAutofit/>
          </a:bodyPr>
          <a:lstStyle/>
          <a:p>
            <a:pPr algn="l" indent="0" marL="0">
              <a:lnSpc>
                <a:spcPct val="86957"/>
              </a:lnSpc>
              <a:buNone/>
            </a:pPr>
            <a:r>
              <a:rPr lang="en-US" sz="7200" b="1" spc="-252" kern="0" dirty="0">
                <a:solidFill>
                  <a:srgbClr val="1597D4"/>
                </a:solidFill>
                <a:latin typeface="Arial" pitchFamily="34" charset="0"/>
                <a:ea typeface="Arial" pitchFamily="34" charset="-122"/>
                <a:cs typeface="Arial" pitchFamily="34" charset="-120"/>
              </a:rPr>
              <a:t>₹27–117</a:t>
            </a:r>
            <a:endParaRPr lang="en-US" sz="7200" dirty="0"/>
          </a:p>
        </p:txBody>
      </p:sp>
      <p:sp>
        <p:nvSpPr>
          <p:cNvPr id="11" name="Text 9"/>
          <p:cNvSpPr/>
          <p:nvPr/>
        </p:nvSpPr>
        <p:spPr>
          <a:xfrm>
            <a:off x="1436370" y="7831455"/>
            <a:ext cx="7730954" cy="335280"/>
          </a:xfrm>
          <a:prstGeom prst="rect">
            <a:avLst/>
          </a:prstGeom>
          <a:noFill/>
          <a:ln/>
        </p:spPr>
        <p:txBody>
          <a:bodyPr wrap="square" lIns="25400" tIns="25400" rIns="25400" bIns="25400" rtlCol="0" anchor="t">
            <a:normAutofit/>
          </a:bodyPr>
          <a:lstStyle/>
          <a:p>
            <a:pPr algn="l" indent="0" marL="0">
              <a:buNone/>
            </a:pPr>
            <a:r>
              <a:rPr lang="en-US" sz="2025" b="1" spc="162" kern="0" dirty="0">
                <a:solidFill>
                  <a:srgbClr val="6B7C89"/>
                </a:solidFill>
                <a:latin typeface="Arial" pitchFamily="34" charset="0"/>
                <a:ea typeface="Arial" pitchFamily="34" charset="-122"/>
                <a:cs typeface="Arial" pitchFamily="34" charset="-120"/>
              </a:rPr>
              <a:t>PER MWH SHIFTED, THIS CELL HOUSE</a:t>
            </a:r>
            <a:endParaRPr lang="en-US" sz="2025" dirty="0"/>
          </a:p>
        </p:txBody>
      </p:sp>
      <p:sp>
        <p:nvSpPr>
          <p:cNvPr id="12" name="Shape 10"/>
          <p:cNvSpPr/>
          <p:nvPr/>
        </p:nvSpPr>
        <p:spPr>
          <a:xfrm>
            <a:off x="9215081" y="2478405"/>
            <a:ext cx="8082320" cy="2234565"/>
          </a:xfrm>
          <a:prstGeom prst="roundRect">
            <a:avLst>
              <a:gd name="adj" fmla="val 5968"/>
            </a:avLst>
          </a:prstGeom>
          <a:solidFill>
            <a:srgbClr val="FFFFFF"/>
          </a:solidFill>
          <a:ln/>
          <a:effectLst>
            <a:outerShdw sx="100000" sy="100000" kx="0" ky="0" algn="bl" rotWithShape="0" blurRad="28575" dist="9525" dir="5400000">
              <a:srgbClr val="17324D">
                <a:alpha val="5000"/>
              </a:srgbClr>
            </a:outerShdw>
          </a:effectLst>
        </p:spPr>
      </p:sp>
      <p:sp>
        <p:nvSpPr>
          <p:cNvPr id="13" name="Shape 11"/>
          <p:cNvSpPr/>
          <p:nvPr/>
        </p:nvSpPr>
        <p:spPr>
          <a:xfrm>
            <a:off x="9215081" y="4705350"/>
            <a:ext cx="8082320" cy="9525"/>
          </a:xfrm>
          <a:prstGeom prst="rect">
            <a:avLst/>
          </a:prstGeom>
          <a:solidFill>
            <a:srgbClr val="DCE8ED"/>
          </a:solidFill>
          <a:ln/>
        </p:spPr>
      </p:sp>
      <p:sp>
        <p:nvSpPr>
          <p:cNvPr id="14" name="Shape 12"/>
          <p:cNvSpPr/>
          <p:nvPr/>
        </p:nvSpPr>
        <p:spPr>
          <a:xfrm>
            <a:off x="9215081" y="2478405"/>
            <a:ext cx="8082320" cy="9525"/>
          </a:xfrm>
          <a:prstGeom prst="rect">
            <a:avLst/>
          </a:prstGeom>
          <a:solidFill>
            <a:srgbClr val="DCE8ED"/>
          </a:solidFill>
          <a:ln/>
        </p:spPr>
      </p:sp>
      <p:sp>
        <p:nvSpPr>
          <p:cNvPr id="15" name="Shape 13"/>
          <p:cNvSpPr/>
          <p:nvPr/>
        </p:nvSpPr>
        <p:spPr>
          <a:xfrm>
            <a:off x="9215081" y="2478405"/>
            <a:ext cx="38100" cy="2234565"/>
          </a:xfrm>
          <a:prstGeom prst="rect">
            <a:avLst/>
          </a:prstGeom>
          <a:solidFill>
            <a:srgbClr val="E9A72C"/>
          </a:solidFill>
          <a:ln/>
        </p:spPr>
      </p:sp>
      <p:sp>
        <p:nvSpPr>
          <p:cNvPr id="16" name="Shape 14"/>
          <p:cNvSpPr/>
          <p:nvPr/>
        </p:nvSpPr>
        <p:spPr>
          <a:xfrm>
            <a:off x="17289781" y="2478405"/>
            <a:ext cx="9525" cy="2234565"/>
          </a:xfrm>
          <a:prstGeom prst="rect">
            <a:avLst/>
          </a:prstGeom>
          <a:solidFill>
            <a:srgbClr val="DCE8ED"/>
          </a:solidFill>
          <a:ln/>
        </p:spPr>
      </p:sp>
      <p:sp>
        <p:nvSpPr>
          <p:cNvPr id="17" name="Text 15"/>
          <p:cNvSpPr/>
          <p:nvPr/>
        </p:nvSpPr>
        <p:spPr>
          <a:xfrm>
            <a:off x="9577031" y="2796540"/>
            <a:ext cx="812779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24B68"/>
                </a:solidFill>
                <a:latin typeface="Arial" pitchFamily="34" charset="0"/>
                <a:ea typeface="Arial" pitchFamily="34" charset="-122"/>
                <a:cs typeface="Arial" pitchFamily="34" charset="-120"/>
              </a:rPr>
              <a:t>It is allowed to end</a:t>
            </a:r>
            <a:endParaRPr lang="en-US" sz="2400" dirty="0"/>
          </a:p>
        </p:txBody>
      </p:sp>
      <p:sp>
        <p:nvSpPr>
          <p:cNvPr id="18" name="Text 16"/>
          <p:cNvSpPr/>
          <p:nvPr/>
        </p:nvSpPr>
        <p:spPr>
          <a:xfrm>
            <a:off x="9577031" y="3234690"/>
            <a:ext cx="7610567" cy="1198245"/>
          </a:xfrm>
          <a:prstGeom prst="rect">
            <a:avLst/>
          </a:prstGeom>
          <a:noFill/>
          <a:ln/>
        </p:spPr>
        <p:txBody>
          <a:bodyPr wrap="square" lIns="25400" tIns="25400" rIns="25400" bIns="25400" rtlCol="0" anchor="t">
            <a:normAutofit/>
          </a:bodyPr>
          <a:lstStyle/>
          <a:p>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φ returns infinity where the flexibility does not exist. A curve that were finite everywhere would be promising megawatts the plant cannot deliver.</a:t>
            </a:r>
            <a:endParaRPr lang="en-US" sz="2175" dirty="0"/>
          </a:p>
        </p:txBody>
      </p:sp>
      <p:sp>
        <p:nvSpPr>
          <p:cNvPr id="19" name="Shape 17"/>
          <p:cNvSpPr/>
          <p:nvPr/>
        </p:nvSpPr>
        <p:spPr>
          <a:xfrm>
            <a:off x="9215081" y="4922520"/>
            <a:ext cx="8082320" cy="2234565"/>
          </a:xfrm>
          <a:prstGeom prst="roundRect">
            <a:avLst>
              <a:gd name="adj" fmla="val 5968"/>
            </a:avLst>
          </a:prstGeom>
          <a:solidFill>
            <a:srgbClr val="FFFFFF"/>
          </a:solidFill>
          <a:ln/>
          <a:effectLst>
            <a:outerShdw sx="100000" sy="100000" kx="0" ky="0" algn="bl" rotWithShape="0" blurRad="28575" dist="9525" dir="5400000">
              <a:srgbClr val="17324D">
                <a:alpha val="5000"/>
              </a:srgbClr>
            </a:outerShdw>
          </a:effectLst>
        </p:spPr>
      </p:sp>
      <p:sp>
        <p:nvSpPr>
          <p:cNvPr id="20" name="Shape 18"/>
          <p:cNvSpPr/>
          <p:nvPr/>
        </p:nvSpPr>
        <p:spPr>
          <a:xfrm>
            <a:off x="9215081" y="7149465"/>
            <a:ext cx="8082320" cy="9525"/>
          </a:xfrm>
          <a:prstGeom prst="rect">
            <a:avLst/>
          </a:prstGeom>
          <a:solidFill>
            <a:srgbClr val="DCE8ED"/>
          </a:solidFill>
          <a:ln/>
        </p:spPr>
      </p:sp>
      <p:sp>
        <p:nvSpPr>
          <p:cNvPr id="21" name="Shape 19"/>
          <p:cNvSpPr/>
          <p:nvPr/>
        </p:nvSpPr>
        <p:spPr>
          <a:xfrm>
            <a:off x="9215081" y="4922520"/>
            <a:ext cx="8082320" cy="9525"/>
          </a:xfrm>
          <a:prstGeom prst="rect">
            <a:avLst/>
          </a:prstGeom>
          <a:solidFill>
            <a:srgbClr val="DCE8ED"/>
          </a:solidFill>
          <a:ln/>
        </p:spPr>
      </p:sp>
      <p:sp>
        <p:nvSpPr>
          <p:cNvPr id="22" name="Shape 20"/>
          <p:cNvSpPr/>
          <p:nvPr/>
        </p:nvSpPr>
        <p:spPr>
          <a:xfrm>
            <a:off x="9215081" y="4922520"/>
            <a:ext cx="38100" cy="2234565"/>
          </a:xfrm>
          <a:prstGeom prst="rect">
            <a:avLst/>
          </a:prstGeom>
          <a:solidFill>
            <a:srgbClr val="1597D4"/>
          </a:solidFill>
          <a:ln/>
        </p:spPr>
      </p:sp>
      <p:sp>
        <p:nvSpPr>
          <p:cNvPr id="23" name="Shape 21"/>
          <p:cNvSpPr/>
          <p:nvPr/>
        </p:nvSpPr>
        <p:spPr>
          <a:xfrm>
            <a:off x="17289781" y="4922520"/>
            <a:ext cx="9525" cy="2234565"/>
          </a:xfrm>
          <a:prstGeom prst="rect">
            <a:avLst/>
          </a:prstGeom>
          <a:solidFill>
            <a:srgbClr val="DCE8ED"/>
          </a:solidFill>
          <a:ln/>
        </p:spPr>
      </p:sp>
      <p:sp>
        <p:nvSpPr>
          <p:cNvPr id="24" name="Text 22"/>
          <p:cNvSpPr/>
          <p:nvPr/>
        </p:nvSpPr>
        <p:spPr>
          <a:xfrm>
            <a:off x="9577031" y="5240655"/>
            <a:ext cx="812779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24B68"/>
                </a:solidFill>
                <a:latin typeface="Arial" pitchFamily="34" charset="0"/>
                <a:ea typeface="Arial" pitchFamily="34" charset="-122"/>
                <a:cs typeface="Arial" pitchFamily="34" charset="-120"/>
              </a:rPr>
              <a:t>It carries the costs models omit</a:t>
            </a:r>
            <a:endParaRPr lang="en-US" sz="2400" dirty="0"/>
          </a:p>
        </p:txBody>
      </p:sp>
      <p:sp>
        <p:nvSpPr>
          <p:cNvPr id="25" name="Text 23"/>
          <p:cNvSpPr/>
          <p:nvPr/>
        </p:nvSpPr>
        <p:spPr>
          <a:xfrm>
            <a:off x="9577031" y="5678805"/>
            <a:ext cx="7610567" cy="1198245"/>
          </a:xfrm>
          <a:prstGeom prst="rect">
            <a:avLst/>
          </a:prstGeom>
          <a:noFill/>
          <a:ln/>
        </p:spPr>
        <p:txBody>
          <a:bodyPr wrap="square" lIns="25400" tIns="25400" rIns="25400" bIns="25400" rtlCol="0" anchor="t">
            <a:normAutofit/>
          </a:bodyPr>
          <a:lstStyle/>
          <a:p>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Membrane life consumed per unit of setpoint movement, chlorine diverted to the bleach plant, and the extra kVAh from power-factor droop on turn-down.</a:t>
            </a:r>
            <a:endParaRPr lang="en-US" sz="2175" dirty="0"/>
          </a:p>
        </p:txBody>
      </p:sp>
      <p:sp>
        <p:nvSpPr>
          <p:cNvPr id="26" name="Shape 24"/>
          <p:cNvSpPr/>
          <p:nvPr/>
        </p:nvSpPr>
        <p:spPr>
          <a:xfrm>
            <a:off x="9215081" y="7366635"/>
            <a:ext cx="8082320" cy="2234565"/>
          </a:xfrm>
          <a:prstGeom prst="roundRect">
            <a:avLst>
              <a:gd name="adj" fmla="val 5968"/>
            </a:avLst>
          </a:prstGeom>
          <a:solidFill>
            <a:srgbClr val="FFFFFF"/>
          </a:solidFill>
          <a:ln/>
          <a:effectLst>
            <a:outerShdw sx="100000" sy="100000" kx="0" ky="0" algn="bl" rotWithShape="0" blurRad="28575" dist="9525" dir="5400000">
              <a:srgbClr val="17324D">
                <a:alpha val="5000"/>
              </a:srgbClr>
            </a:outerShdw>
          </a:effectLst>
        </p:spPr>
      </p:sp>
      <p:sp>
        <p:nvSpPr>
          <p:cNvPr id="27" name="Shape 25"/>
          <p:cNvSpPr/>
          <p:nvPr/>
        </p:nvSpPr>
        <p:spPr>
          <a:xfrm>
            <a:off x="9215081" y="9593580"/>
            <a:ext cx="8082320" cy="9525"/>
          </a:xfrm>
          <a:prstGeom prst="rect">
            <a:avLst/>
          </a:prstGeom>
          <a:solidFill>
            <a:srgbClr val="DCE8ED"/>
          </a:solidFill>
          <a:ln/>
        </p:spPr>
      </p:sp>
      <p:sp>
        <p:nvSpPr>
          <p:cNvPr id="28" name="Shape 26"/>
          <p:cNvSpPr/>
          <p:nvPr/>
        </p:nvSpPr>
        <p:spPr>
          <a:xfrm>
            <a:off x="9215081" y="7366635"/>
            <a:ext cx="8082320" cy="9525"/>
          </a:xfrm>
          <a:prstGeom prst="rect">
            <a:avLst/>
          </a:prstGeom>
          <a:solidFill>
            <a:srgbClr val="DCE8ED"/>
          </a:solidFill>
          <a:ln/>
        </p:spPr>
      </p:sp>
      <p:sp>
        <p:nvSpPr>
          <p:cNvPr id="29" name="Shape 27"/>
          <p:cNvSpPr/>
          <p:nvPr/>
        </p:nvSpPr>
        <p:spPr>
          <a:xfrm>
            <a:off x="9215081" y="7366635"/>
            <a:ext cx="38100" cy="2234565"/>
          </a:xfrm>
          <a:prstGeom prst="rect">
            <a:avLst/>
          </a:prstGeom>
          <a:solidFill>
            <a:srgbClr val="22A06B"/>
          </a:solidFill>
          <a:ln/>
        </p:spPr>
      </p:sp>
      <p:sp>
        <p:nvSpPr>
          <p:cNvPr id="30" name="Shape 28"/>
          <p:cNvSpPr/>
          <p:nvPr/>
        </p:nvSpPr>
        <p:spPr>
          <a:xfrm>
            <a:off x="17289781" y="7366635"/>
            <a:ext cx="9525" cy="2234565"/>
          </a:xfrm>
          <a:prstGeom prst="rect">
            <a:avLst/>
          </a:prstGeom>
          <a:solidFill>
            <a:srgbClr val="DCE8ED"/>
          </a:solidFill>
          <a:ln/>
        </p:spPr>
      </p:sp>
      <p:sp>
        <p:nvSpPr>
          <p:cNvPr id="31" name="Text 29"/>
          <p:cNvSpPr/>
          <p:nvPr/>
        </p:nvSpPr>
        <p:spPr>
          <a:xfrm>
            <a:off x="9577031" y="7684770"/>
            <a:ext cx="812779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24B68"/>
                </a:solidFill>
                <a:latin typeface="Arial" pitchFamily="34" charset="0"/>
                <a:ea typeface="Arial" pitchFamily="34" charset="-122"/>
                <a:cs typeface="Arial" pitchFamily="34" charset="-120"/>
              </a:rPr>
              <a:t>It is what nobody can write down</a:t>
            </a:r>
            <a:endParaRPr lang="en-US" sz="2400" dirty="0"/>
          </a:p>
        </p:txBody>
      </p:sp>
      <p:sp>
        <p:nvSpPr>
          <p:cNvPr id="32" name="Text 30"/>
          <p:cNvSpPr/>
          <p:nvPr/>
        </p:nvSpPr>
        <p:spPr>
          <a:xfrm>
            <a:off x="9577031" y="8122920"/>
            <a:ext cx="7610567" cy="1198245"/>
          </a:xfrm>
          <a:prstGeom prst="rect">
            <a:avLst/>
          </a:prstGeom>
          <a:noFill/>
          <a:ln/>
        </p:spPr>
        <p:txBody>
          <a:bodyPr wrap="square" lIns="25400" tIns="25400" rIns="25400" bIns="25400" rtlCol="0" anchor="t">
            <a:normAutofit/>
          </a:bodyPr>
          <a:lstStyle/>
          <a:p>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The constraints live in the interlock list, the HAZOP minutes and the board operator's head. An LLM agent elicits them; a human signs them off.</a:t>
            </a:r>
            <a:endParaRPr lang="en-US" sz="21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1348978"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SYSTEM</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07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3984975" cy="64389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Data to setpoint, in five stages that already run</a:t>
            </a:r>
            <a:endParaRPr lang="en-US" sz="4500" dirty="0"/>
          </a:p>
        </p:txBody>
      </p:sp>
      <p:sp>
        <p:nvSpPr>
          <p:cNvPr id="6" name="Shape 4"/>
          <p:cNvSpPr/>
          <p:nvPr/>
        </p:nvSpPr>
        <p:spPr>
          <a:xfrm>
            <a:off x="990600" y="2516505"/>
            <a:ext cx="2824401" cy="5880735"/>
          </a:xfrm>
          <a:prstGeom prst="roundRect">
            <a:avLst>
              <a:gd name="adj" fmla="val 4721"/>
            </a:avLst>
          </a:prstGeom>
          <a:solidFill>
            <a:srgbClr val="FFFFFF"/>
          </a:solidFill>
          <a:ln/>
          <a:effectLst>
            <a:outerShdw sx="100000" sy="100000" kx="0" ky="0" algn="bl" rotWithShape="0" blurRad="28575" dist="9525" dir="5400000">
              <a:srgbClr val="17324D">
                <a:alpha val="5000"/>
              </a:srgbClr>
            </a:outerShdw>
          </a:effectLst>
        </p:spPr>
      </p:sp>
      <p:sp>
        <p:nvSpPr>
          <p:cNvPr id="7" name="Shape 5"/>
          <p:cNvSpPr/>
          <p:nvPr/>
        </p:nvSpPr>
        <p:spPr>
          <a:xfrm>
            <a:off x="990600" y="8389620"/>
            <a:ext cx="2824401" cy="9525"/>
          </a:xfrm>
          <a:prstGeom prst="rect">
            <a:avLst/>
          </a:prstGeom>
          <a:solidFill>
            <a:srgbClr val="DCE8ED"/>
          </a:solidFill>
          <a:ln/>
        </p:spPr>
      </p:sp>
      <p:sp>
        <p:nvSpPr>
          <p:cNvPr id="8" name="Shape 6"/>
          <p:cNvSpPr/>
          <p:nvPr/>
        </p:nvSpPr>
        <p:spPr>
          <a:xfrm>
            <a:off x="990600" y="2516505"/>
            <a:ext cx="2824401" cy="38100"/>
          </a:xfrm>
          <a:prstGeom prst="rect">
            <a:avLst/>
          </a:prstGeom>
          <a:solidFill>
            <a:srgbClr val="1597D4"/>
          </a:solidFill>
          <a:ln/>
        </p:spPr>
      </p:sp>
      <p:sp>
        <p:nvSpPr>
          <p:cNvPr id="9" name="Shape 7"/>
          <p:cNvSpPr/>
          <p:nvPr/>
        </p:nvSpPr>
        <p:spPr>
          <a:xfrm>
            <a:off x="990600" y="2516505"/>
            <a:ext cx="9525" cy="5880735"/>
          </a:xfrm>
          <a:prstGeom prst="rect">
            <a:avLst/>
          </a:prstGeom>
          <a:solidFill>
            <a:srgbClr val="DCE8ED"/>
          </a:solidFill>
          <a:ln/>
        </p:spPr>
      </p:sp>
      <p:sp>
        <p:nvSpPr>
          <p:cNvPr id="10" name="Shape 8"/>
          <p:cNvSpPr/>
          <p:nvPr/>
        </p:nvSpPr>
        <p:spPr>
          <a:xfrm>
            <a:off x="3807381" y="2516505"/>
            <a:ext cx="9525" cy="5880735"/>
          </a:xfrm>
          <a:prstGeom prst="rect">
            <a:avLst/>
          </a:prstGeom>
          <a:solidFill>
            <a:srgbClr val="DCE8ED"/>
          </a:solidFill>
          <a:ln/>
        </p:spPr>
      </p:sp>
      <p:sp>
        <p:nvSpPr>
          <p:cNvPr id="11" name="Text 9"/>
          <p:cNvSpPr/>
          <p:nvPr/>
        </p:nvSpPr>
        <p:spPr>
          <a:xfrm>
            <a:off x="1245870" y="2821305"/>
            <a:ext cx="2545247" cy="312420"/>
          </a:xfrm>
          <a:prstGeom prst="rect">
            <a:avLst/>
          </a:prstGeom>
          <a:noFill/>
          <a:ln/>
        </p:spPr>
        <p:txBody>
          <a:bodyPr wrap="square" lIns="25400" tIns="25400" rIns="25400" bIns="25400" rtlCol="0" anchor="t">
            <a:normAutofit/>
          </a:bodyPr>
          <a:lstStyle/>
          <a:p>
            <a:pPr algn="l" indent="0" marL="0">
              <a:buNone/>
            </a:pPr>
            <a:r>
              <a:rPr lang="en-US" sz="1875" b="1" spc="188" kern="0" dirty="0">
                <a:solidFill>
                  <a:srgbClr val="1597D4"/>
                </a:solidFill>
                <a:latin typeface="Arial" pitchFamily="34" charset="0"/>
                <a:ea typeface="Arial" pitchFamily="34" charset="-122"/>
                <a:cs typeface="Arial" pitchFamily="34" charset="-120"/>
              </a:rPr>
              <a:t>01 · DATA</a:t>
            </a:r>
            <a:endParaRPr lang="en-US" sz="1875" dirty="0"/>
          </a:p>
        </p:txBody>
      </p:sp>
      <p:sp>
        <p:nvSpPr>
          <p:cNvPr id="12" name="Text 10"/>
          <p:cNvSpPr/>
          <p:nvPr/>
        </p:nvSpPr>
        <p:spPr>
          <a:xfrm>
            <a:off x="1245870" y="3228975"/>
            <a:ext cx="2390061" cy="746760"/>
          </a:xfrm>
          <a:prstGeom prst="rect">
            <a:avLst/>
          </a:prstGeom>
          <a:noFill/>
          <a:ln/>
        </p:spPr>
        <p:txBody>
          <a:bodyPr wrap="square" lIns="25400" tIns="25400" rIns="25400" bIns="25400" rtlCol="0" anchor="t">
            <a:normAutofit/>
          </a:bodyPr>
          <a:lstStyle/>
          <a:p>
            <a:pPr algn="l" indent="0" marL="0">
              <a:lnSpc>
                <a:spcPct val="105682"/>
              </a:lnSpc>
              <a:buNone/>
            </a:pPr>
            <a:r>
              <a:rPr lang="en-US" sz="2325" b="1" dirty="0">
                <a:solidFill>
                  <a:srgbClr val="124B68"/>
                </a:solidFill>
                <a:latin typeface="Arial" pitchFamily="34" charset="0"/>
                <a:ea typeface="Arial" pitchFamily="34" charset="-122"/>
                <a:cs typeface="Arial" pitchFamily="34" charset="-120"/>
              </a:rPr>
              <a:t>Settled market panel</a:t>
            </a:r>
            <a:endParaRPr lang="en-US" sz="2325" dirty="0"/>
          </a:p>
        </p:txBody>
      </p:sp>
      <p:sp>
        <p:nvSpPr>
          <p:cNvPr id="13" name="Text 11"/>
          <p:cNvSpPr/>
          <p:nvPr/>
        </p:nvSpPr>
        <p:spPr>
          <a:xfrm>
            <a:off x="1245870" y="4070985"/>
            <a:ext cx="2390061" cy="2088356"/>
          </a:xfrm>
          <a:prstGeom prst="rect">
            <a:avLst/>
          </a:prstGeom>
          <a:noFill/>
          <a:ln/>
        </p:spPr>
        <p:txBody>
          <a:bodyPr wrap="square" lIns="25400" tIns="25400" rIns="25400" bIns="25400" rtlCol="0" anchor="t">
            <a:normAutofit/>
          </a:bodyPr>
          <a:lstStyle/>
          <a:p>
            <a:pPr algn="l" indent="0" marL="0">
              <a:lnSpc>
                <a:spcPct val="121216"/>
              </a:lnSpc>
              <a:buNone/>
            </a:pPr>
            <a:r>
              <a:rPr lang="en-US" sz="1950" dirty="0">
                <a:solidFill>
                  <a:srgbClr val="17324D"/>
                </a:solidFill>
                <a:latin typeface="Arial" pitchFamily="34" charset="0"/>
                <a:ea typeface="Arial" pitchFamily="34" charset="-122"/>
                <a:cs typeface="Arial" pitchFamily="34" charset="-120"/>
              </a:rPr>
              <a:t>152,542 IEX blocks, 1,588 complete days. MERC Case 75 of 2025, post-remand, read from the primary order.</a:t>
            </a:r>
            <a:endParaRPr lang="en-US" sz="1950" dirty="0"/>
          </a:p>
        </p:txBody>
      </p:sp>
      <p:sp>
        <p:nvSpPr>
          <p:cNvPr id="14" name="Text 12"/>
          <p:cNvSpPr/>
          <p:nvPr/>
        </p:nvSpPr>
        <p:spPr>
          <a:xfrm>
            <a:off x="3948351" y="5239703"/>
            <a:ext cx="355640" cy="472440"/>
          </a:xfrm>
          <a:prstGeom prst="rect">
            <a:avLst/>
          </a:prstGeom>
          <a:noFill/>
          <a:ln/>
        </p:spPr>
        <p:txBody>
          <a:bodyPr wrap="square" lIns="25400" tIns="25400" rIns="25400" bIns="25400" rtlCol="0" anchor="t">
            <a:normAutofit/>
          </a:bodyPr>
          <a:lstStyle/>
          <a:p>
            <a:pPr algn="l" indent="0" marL="0">
              <a:buNone/>
            </a:pPr>
            <a:r>
              <a:rPr lang="en-US" sz="2550" dirty="0">
                <a:solidFill>
                  <a:srgbClr val="38BDF2"/>
                </a:solidFill>
                <a:latin typeface="Arial" pitchFamily="34" charset="0"/>
                <a:ea typeface="Arial" pitchFamily="34" charset="-122"/>
                <a:cs typeface="Arial" pitchFamily="34" charset="-120"/>
              </a:rPr>
              <a:t>→</a:t>
            </a:r>
            <a:endParaRPr lang="en-US" sz="2550" dirty="0"/>
          </a:p>
        </p:txBody>
      </p:sp>
      <p:sp>
        <p:nvSpPr>
          <p:cNvPr id="15" name="Shape 13"/>
          <p:cNvSpPr/>
          <p:nvPr/>
        </p:nvSpPr>
        <p:spPr>
          <a:xfrm>
            <a:off x="4361140" y="2516505"/>
            <a:ext cx="2824520" cy="5880735"/>
          </a:xfrm>
          <a:prstGeom prst="roundRect">
            <a:avLst>
              <a:gd name="adj" fmla="val 4721"/>
            </a:avLst>
          </a:prstGeom>
          <a:solidFill>
            <a:srgbClr val="FFFFFF"/>
          </a:solidFill>
          <a:ln/>
          <a:effectLst>
            <a:outerShdw sx="100000" sy="100000" kx="0" ky="0" algn="bl" rotWithShape="0" blurRad="28575" dist="9525" dir="5400000">
              <a:srgbClr val="17324D">
                <a:alpha val="5000"/>
              </a:srgbClr>
            </a:outerShdw>
          </a:effectLst>
        </p:spPr>
      </p:sp>
      <p:sp>
        <p:nvSpPr>
          <p:cNvPr id="16" name="Shape 14"/>
          <p:cNvSpPr/>
          <p:nvPr/>
        </p:nvSpPr>
        <p:spPr>
          <a:xfrm>
            <a:off x="4361140" y="8389620"/>
            <a:ext cx="2824520" cy="9525"/>
          </a:xfrm>
          <a:prstGeom prst="rect">
            <a:avLst/>
          </a:prstGeom>
          <a:solidFill>
            <a:srgbClr val="DCE8ED"/>
          </a:solidFill>
          <a:ln/>
        </p:spPr>
      </p:sp>
      <p:sp>
        <p:nvSpPr>
          <p:cNvPr id="17" name="Shape 15"/>
          <p:cNvSpPr/>
          <p:nvPr/>
        </p:nvSpPr>
        <p:spPr>
          <a:xfrm>
            <a:off x="4361140" y="2516505"/>
            <a:ext cx="2824520" cy="38100"/>
          </a:xfrm>
          <a:prstGeom prst="rect">
            <a:avLst/>
          </a:prstGeom>
          <a:solidFill>
            <a:srgbClr val="1597D4"/>
          </a:solidFill>
          <a:ln/>
        </p:spPr>
      </p:sp>
      <p:sp>
        <p:nvSpPr>
          <p:cNvPr id="18" name="Shape 16"/>
          <p:cNvSpPr/>
          <p:nvPr/>
        </p:nvSpPr>
        <p:spPr>
          <a:xfrm>
            <a:off x="4361140" y="2516505"/>
            <a:ext cx="9525" cy="5880735"/>
          </a:xfrm>
          <a:prstGeom prst="rect">
            <a:avLst/>
          </a:prstGeom>
          <a:solidFill>
            <a:srgbClr val="DCE8ED"/>
          </a:solidFill>
          <a:ln/>
        </p:spPr>
      </p:sp>
      <p:sp>
        <p:nvSpPr>
          <p:cNvPr id="19" name="Shape 17"/>
          <p:cNvSpPr/>
          <p:nvPr/>
        </p:nvSpPr>
        <p:spPr>
          <a:xfrm>
            <a:off x="7178040" y="2516505"/>
            <a:ext cx="9525" cy="5880735"/>
          </a:xfrm>
          <a:prstGeom prst="rect">
            <a:avLst/>
          </a:prstGeom>
          <a:solidFill>
            <a:srgbClr val="DCE8ED"/>
          </a:solidFill>
          <a:ln/>
        </p:spPr>
      </p:sp>
      <p:sp>
        <p:nvSpPr>
          <p:cNvPr id="20" name="Text 18"/>
          <p:cNvSpPr/>
          <p:nvPr/>
        </p:nvSpPr>
        <p:spPr>
          <a:xfrm>
            <a:off x="4616410" y="2821305"/>
            <a:ext cx="2545378" cy="312420"/>
          </a:xfrm>
          <a:prstGeom prst="rect">
            <a:avLst/>
          </a:prstGeom>
          <a:noFill/>
          <a:ln/>
        </p:spPr>
        <p:txBody>
          <a:bodyPr wrap="square" lIns="25400" tIns="25400" rIns="25400" bIns="25400" rtlCol="0" anchor="t">
            <a:normAutofit/>
          </a:bodyPr>
          <a:lstStyle/>
          <a:p>
            <a:pPr algn="l" indent="0" marL="0">
              <a:buNone/>
            </a:pPr>
            <a:r>
              <a:rPr lang="en-US" sz="1875" b="1" spc="188" kern="0" dirty="0">
                <a:solidFill>
                  <a:srgbClr val="1597D4"/>
                </a:solidFill>
                <a:latin typeface="Arial" pitchFamily="34" charset="0"/>
                <a:ea typeface="Arial" pitchFamily="34" charset="-122"/>
                <a:cs typeface="Arial" pitchFamily="34" charset="-120"/>
              </a:rPr>
              <a:t>02 · TWIN</a:t>
            </a:r>
            <a:endParaRPr lang="en-US" sz="1875" dirty="0"/>
          </a:p>
        </p:txBody>
      </p:sp>
      <p:sp>
        <p:nvSpPr>
          <p:cNvPr id="21" name="Text 19"/>
          <p:cNvSpPr/>
          <p:nvPr/>
        </p:nvSpPr>
        <p:spPr>
          <a:xfrm>
            <a:off x="4616410" y="3228975"/>
            <a:ext cx="2390180" cy="746760"/>
          </a:xfrm>
          <a:prstGeom prst="rect">
            <a:avLst/>
          </a:prstGeom>
          <a:noFill/>
          <a:ln/>
        </p:spPr>
        <p:txBody>
          <a:bodyPr wrap="square" lIns="25400" tIns="25400" rIns="25400" bIns="25400" rtlCol="0" anchor="t">
            <a:normAutofit/>
          </a:bodyPr>
          <a:lstStyle/>
          <a:p>
            <a:pPr algn="l" indent="0" marL="0">
              <a:lnSpc>
                <a:spcPct val="105682"/>
              </a:lnSpc>
              <a:buNone/>
            </a:pPr>
            <a:r>
              <a:rPr lang="en-US" sz="2325" b="1" dirty="0">
                <a:solidFill>
                  <a:srgbClr val="124B68"/>
                </a:solidFill>
                <a:latin typeface="Arial" pitchFamily="34" charset="0"/>
                <a:ea typeface="Arial" pitchFamily="34" charset="-122"/>
                <a:cs typeface="Arial" pitchFamily="34" charset="-120"/>
              </a:rPr>
              <a:t>Cell-house physics</a:t>
            </a:r>
            <a:endParaRPr lang="en-US" sz="2325" dirty="0"/>
          </a:p>
        </p:txBody>
      </p:sp>
      <p:sp>
        <p:nvSpPr>
          <p:cNvPr id="22" name="Text 20"/>
          <p:cNvSpPr/>
          <p:nvPr/>
        </p:nvSpPr>
        <p:spPr>
          <a:xfrm>
            <a:off x="4616410" y="4070985"/>
            <a:ext cx="2390180" cy="2088356"/>
          </a:xfrm>
          <a:prstGeom prst="rect">
            <a:avLst/>
          </a:prstGeom>
          <a:noFill/>
          <a:ln/>
        </p:spPr>
        <p:txBody>
          <a:bodyPr wrap="square" lIns="25400" tIns="25400" rIns="25400" bIns="25400" rtlCol="0" anchor="t">
            <a:normAutofit/>
          </a:bodyPr>
          <a:lstStyle/>
          <a:p>
            <a:pPr algn="l" indent="0" marL="0">
              <a:lnSpc>
                <a:spcPct val="121216"/>
              </a:lnSpc>
              <a:buNone/>
            </a:pPr>
            <a:r>
              <a:rPr lang="en-US" sz="1950" dirty="0">
                <a:solidFill>
                  <a:srgbClr val="17324D"/>
                </a:solidFill>
                <a:latin typeface="Arial" pitchFamily="34" charset="0"/>
                <a:ea typeface="Arial" pitchFamily="34" charset="-122"/>
                <a:cs typeface="Arial" pitchFamily="34" charset="-120"/>
              </a:rPr>
              <a:t>Convex power curve, caustic tank as state of charge, chlorine balance, H₂-in-Cl₂ as a hard bound. Emits φ.</a:t>
            </a:r>
            <a:endParaRPr lang="en-US" sz="1950" dirty="0"/>
          </a:p>
        </p:txBody>
      </p:sp>
      <p:sp>
        <p:nvSpPr>
          <p:cNvPr id="23" name="Text 21"/>
          <p:cNvSpPr/>
          <p:nvPr/>
        </p:nvSpPr>
        <p:spPr>
          <a:xfrm>
            <a:off x="7319010" y="5239703"/>
            <a:ext cx="355640" cy="472440"/>
          </a:xfrm>
          <a:prstGeom prst="rect">
            <a:avLst/>
          </a:prstGeom>
          <a:noFill/>
          <a:ln/>
        </p:spPr>
        <p:txBody>
          <a:bodyPr wrap="square" lIns="25400" tIns="25400" rIns="25400" bIns="25400" rtlCol="0" anchor="t">
            <a:normAutofit/>
          </a:bodyPr>
          <a:lstStyle/>
          <a:p>
            <a:pPr algn="l" indent="0" marL="0">
              <a:buNone/>
            </a:pPr>
            <a:r>
              <a:rPr lang="en-US" sz="2550" dirty="0">
                <a:solidFill>
                  <a:srgbClr val="38BDF2"/>
                </a:solidFill>
                <a:latin typeface="Arial" pitchFamily="34" charset="0"/>
                <a:ea typeface="Arial" pitchFamily="34" charset="-122"/>
                <a:cs typeface="Arial" pitchFamily="34" charset="-120"/>
              </a:rPr>
              <a:t>→</a:t>
            </a:r>
            <a:endParaRPr lang="en-US" sz="2550" dirty="0"/>
          </a:p>
        </p:txBody>
      </p:sp>
      <p:sp>
        <p:nvSpPr>
          <p:cNvPr id="24" name="Shape 22"/>
          <p:cNvSpPr/>
          <p:nvPr/>
        </p:nvSpPr>
        <p:spPr>
          <a:xfrm>
            <a:off x="7731800" y="2516505"/>
            <a:ext cx="2824401" cy="5880735"/>
          </a:xfrm>
          <a:prstGeom prst="roundRect">
            <a:avLst>
              <a:gd name="adj" fmla="val 4721"/>
            </a:avLst>
          </a:prstGeom>
          <a:solidFill>
            <a:srgbClr val="FFFFFF"/>
          </a:solidFill>
          <a:ln/>
          <a:effectLst>
            <a:outerShdw sx="100000" sy="100000" kx="0" ky="0" algn="bl" rotWithShape="0" blurRad="28575" dist="9525" dir="5400000">
              <a:srgbClr val="17324D">
                <a:alpha val="5000"/>
              </a:srgbClr>
            </a:outerShdw>
          </a:effectLst>
        </p:spPr>
      </p:sp>
      <p:sp>
        <p:nvSpPr>
          <p:cNvPr id="25" name="Shape 23"/>
          <p:cNvSpPr/>
          <p:nvPr/>
        </p:nvSpPr>
        <p:spPr>
          <a:xfrm>
            <a:off x="7731800" y="8389620"/>
            <a:ext cx="2824401" cy="9525"/>
          </a:xfrm>
          <a:prstGeom prst="rect">
            <a:avLst/>
          </a:prstGeom>
          <a:solidFill>
            <a:srgbClr val="DCE8ED"/>
          </a:solidFill>
          <a:ln/>
        </p:spPr>
      </p:sp>
      <p:sp>
        <p:nvSpPr>
          <p:cNvPr id="26" name="Shape 24"/>
          <p:cNvSpPr/>
          <p:nvPr/>
        </p:nvSpPr>
        <p:spPr>
          <a:xfrm>
            <a:off x="7731800" y="2516505"/>
            <a:ext cx="2824401" cy="38100"/>
          </a:xfrm>
          <a:prstGeom prst="rect">
            <a:avLst/>
          </a:prstGeom>
          <a:solidFill>
            <a:srgbClr val="38BDF2"/>
          </a:solidFill>
          <a:ln/>
        </p:spPr>
      </p:sp>
      <p:sp>
        <p:nvSpPr>
          <p:cNvPr id="27" name="Shape 25"/>
          <p:cNvSpPr/>
          <p:nvPr/>
        </p:nvSpPr>
        <p:spPr>
          <a:xfrm>
            <a:off x="7731800" y="2516505"/>
            <a:ext cx="9525" cy="5880735"/>
          </a:xfrm>
          <a:prstGeom prst="rect">
            <a:avLst/>
          </a:prstGeom>
          <a:solidFill>
            <a:srgbClr val="DCE8ED"/>
          </a:solidFill>
          <a:ln/>
        </p:spPr>
      </p:sp>
      <p:sp>
        <p:nvSpPr>
          <p:cNvPr id="28" name="Shape 26"/>
          <p:cNvSpPr/>
          <p:nvPr/>
        </p:nvSpPr>
        <p:spPr>
          <a:xfrm>
            <a:off x="10548580" y="2516505"/>
            <a:ext cx="9525" cy="5880735"/>
          </a:xfrm>
          <a:prstGeom prst="rect">
            <a:avLst/>
          </a:prstGeom>
          <a:solidFill>
            <a:srgbClr val="DCE8ED"/>
          </a:solidFill>
          <a:ln/>
        </p:spPr>
      </p:sp>
      <p:sp>
        <p:nvSpPr>
          <p:cNvPr id="29" name="Text 27"/>
          <p:cNvSpPr/>
          <p:nvPr/>
        </p:nvSpPr>
        <p:spPr>
          <a:xfrm>
            <a:off x="7987070" y="2821305"/>
            <a:ext cx="2545247" cy="312420"/>
          </a:xfrm>
          <a:prstGeom prst="rect">
            <a:avLst/>
          </a:prstGeom>
          <a:noFill/>
          <a:ln/>
        </p:spPr>
        <p:txBody>
          <a:bodyPr wrap="square" lIns="25400" tIns="25400" rIns="25400" bIns="25400" rtlCol="0" anchor="t">
            <a:normAutofit/>
          </a:bodyPr>
          <a:lstStyle/>
          <a:p>
            <a:pPr algn="l" indent="0" marL="0">
              <a:buNone/>
            </a:pPr>
            <a:r>
              <a:rPr lang="en-US" sz="1875" b="1" spc="188" kern="0" dirty="0">
                <a:solidFill>
                  <a:srgbClr val="38BDF2"/>
                </a:solidFill>
                <a:latin typeface="Arial" pitchFamily="34" charset="0"/>
                <a:ea typeface="Arial" pitchFamily="34" charset="-122"/>
                <a:cs typeface="Arial" pitchFamily="34" charset="-120"/>
              </a:rPr>
              <a:t>03 · FORECAST</a:t>
            </a:r>
            <a:endParaRPr lang="en-US" sz="1875" dirty="0"/>
          </a:p>
        </p:txBody>
      </p:sp>
      <p:sp>
        <p:nvSpPr>
          <p:cNvPr id="30" name="Text 28"/>
          <p:cNvSpPr/>
          <p:nvPr/>
        </p:nvSpPr>
        <p:spPr>
          <a:xfrm>
            <a:off x="7987070" y="3228975"/>
            <a:ext cx="2390061" cy="746760"/>
          </a:xfrm>
          <a:prstGeom prst="rect">
            <a:avLst/>
          </a:prstGeom>
          <a:noFill/>
          <a:ln/>
        </p:spPr>
        <p:txBody>
          <a:bodyPr wrap="square" lIns="25400" tIns="25400" rIns="25400" bIns="25400" rtlCol="0" anchor="t">
            <a:normAutofit/>
          </a:bodyPr>
          <a:lstStyle/>
          <a:p>
            <a:pPr algn="l" indent="0" marL="0">
              <a:lnSpc>
                <a:spcPct val="105682"/>
              </a:lnSpc>
              <a:buNone/>
            </a:pPr>
            <a:r>
              <a:rPr lang="en-US" sz="2325" b="1" dirty="0">
                <a:solidFill>
                  <a:srgbClr val="124B68"/>
                </a:solidFill>
                <a:latin typeface="Arial" pitchFamily="34" charset="0"/>
                <a:ea typeface="Arial" pitchFamily="34" charset="-122"/>
                <a:cs typeface="Arial" pitchFamily="34" charset="-120"/>
              </a:rPr>
              <a:t>Quantile price fan</a:t>
            </a:r>
            <a:endParaRPr lang="en-US" sz="2325" dirty="0"/>
          </a:p>
        </p:txBody>
      </p:sp>
      <p:sp>
        <p:nvSpPr>
          <p:cNvPr id="31" name="Text 29"/>
          <p:cNvSpPr/>
          <p:nvPr/>
        </p:nvSpPr>
        <p:spPr>
          <a:xfrm>
            <a:off x="7987070" y="4070985"/>
            <a:ext cx="2390061" cy="2430066"/>
          </a:xfrm>
          <a:prstGeom prst="rect">
            <a:avLst/>
          </a:prstGeom>
          <a:noFill/>
          <a:ln/>
        </p:spPr>
        <p:txBody>
          <a:bodyPr wrap="square" lIns="25400" tIns="25400" rIns="25400" bIns="25400" rtlCol="0" anchor="t">
            <a:normAutofit/>
          </a:bodyPr>
          <a:lstStyle/>
          <a:p>
            <a:pPr algn="l" indent="0" marL="0">
              <a:lnSpc>
                <a:spcPct val="121216"/>
              </a:lnSpc>
              <a:buNone/>
            </a:pPr>
            <a:r>
              <a:rPr lang="en-US" sz="1950" dirty="0">
                <a:solidFill>
                  <a:srgbClr val="17324D"/>
                </a:solidFill>
                <a:latin typeface="Arial" pitchFamily="34" charset="0"/>
                <a:ea typeface="Arial" pitchFamily="34" charset="-122"/>
                <a:cs typeface="Arial" pitchFamily="34" charset="-120"/>
              </a:rPr>
              <a:t>LightGBM q10/q50/q90, conformally widened out of sample. MAE 1,072 against three baselines.</a:t>
            </a:r>
            <a:endParaRPr lang="en-US" sz="1950" dirty="0"/>
          </a:p>
        </p:txBody>
      </p:sp>
      <p:sp>
        <p:nvSpPr>
          <p:cNvPr id="32" name="Text 30"/>
          <p:cNvSpPr/>
          <p:nvPr/>
        </p:nvSpPr>
        <p:spPr>
          <a:xfrm>
            <a:off x="10689551" y="5239703"/>
            <a:ext cx="355640" cy="472440"/>
          </a:xfrm>
          <a:prstGeom prst="rect">
            <a:avLst/>
          </a:prstGeom>
          <a:noFill/>
          <a:ln/>
        </p:spPr>
        <p:txBody>
          <a:bodyPr wrap="square" lIns="25400" tIns="25400" rIns="25400" bIns="25400" rtlCol="0" anchor="t">
            <a:normAutofit/>
          </a:bodyPr>
          <a:lstStyle/>
          <a:p>
            <a:pPr algn="l" indent="0" marL="0">
              <a:buNone/>
            </a:pPr>
            <a:r>
              <a:rPr lang="en-US" sz="2550" dirty="0">
                <a:solidFill>
                  <a:srgbClr val="38BDF2"/>
                </a:solidFill>
                <a:latin typeface="Arial" pitchFamily="34" charset="0"/>
                <a:ea typeface="Arial" pitchFamily="34" charset="-122"/>
                <a:cs typeface="Arial" pitchFamily="34" charset="-120"/>
              </a:rPr>
              <a:t>→</a:t>
            </a:r>
            <a:endParaRPr lang="en-US" sz="2550" dirty="0"/>
          </a:p>
        </p:txBody>
      </p:sp>
      <p:sp>
        <p:nvSpPr>
          <p:cNvPr id="33" name="Shape 31"/>
          <p:cNvSpPr/>
          <p:nvPr/>
        </p:nvSpPr>
        <p:spPr>
          <a:xfrm>
            <a:off x="11102340" y="2516505"/>
            <a:ext cx="2824520" cy="5880735"/>
          </a:xfrm>
          <a:prstGeom prst="roundRect">
            <a:avLst>
              <a:gd name="adj" fmla="val 4721"/>
            </a:avLst>
          </a:prstGeom>
          <a:solidFill>
            <a:srgbClr val="FFFFFF"/>
          </a:solidFill>
          <a:ln/>
          <a:effectLst>
            <a:outerShdw sx="100000" sy="100000" kx="0" ky="0" algn="bl" rotWithShape="0" blurRad="28575" dist="9525" dir="5400000">
              <a:srgbClr val="17324D">
                <a:alpha val="5000"/>
              </a:srgbClr>
            </a:outerShdw>
          </a:effectLst>
        </p:spPr>
      </p:sp>
      <p:sp>
        <p:nvSpPr>
          <p:cNvPr id="34" name="Shape 32"/>
          <p:cNvSpPr/>
          <p:nvPr/>
        </p:nvSpPr>
        <p:spPr>
          <a:xfrm>
            <a:off x="11102340" y="8389620"/>
            <a:ext cx="2824520" cy="9525"/>
          </a:xfrm>
          <a:prstGeom prst="rect">
            <a:avLst/>
          </a:prstGeom>
          <a:solidFill>
            <a:srgbClr val="DCE8ED"/>
          </a:solidFill>
          <a:ln/>
        </p:spPr>
      </p:sp>
      <p:sp>
        <p:nvSpPr>
          <p:cNvPr id="35" name="Shape 33"/>
          <p:cNvSpPr/>
          <p:nvPr/>
        </p:nvSpPr>
        <p:spPr>
          <a:xfrm>
            <a:off x="11102340" y="2516505"/>
            <a:ext cx="2824520" cy="38100"/>
          </a:xfrm>
          <a:prstGeom prst="rect">
            <a:avLst/>
          </a:prstGeom>
          <a:solidFill>
            <a:srgbClr val="22A06B"/>
          </a:solidFill>
          <a:ln/>
        </p:spPr>
      </p:sp>
      <p:sp>
        <p:nvSpPr>
          <p:cNvPr id="36" name="Shape 34"/>
          <p:cNvSpPr/>
          <p:nvPr/>
        </p:nvSpPr>
        <p:spPr>
          <a:xfrm>
            <a:off x="11102340" y="2516505"/>
            <a:ext cx="9525" cy="5880735"/>
          </a:xfrm>
          <a:prstGeom prst="rect">
            <a:avLst/>
          </a:prstGeom>
          <a:solidFill>
            <a:srgbClr val="DCE8ED"/>
          </a:solidFill>
          <a:ln/>
        </p:spPr>
      </p:sp>
      <p:sp>
        <p:nvSpPr>
          <p:cNvPr id="37" name="Shape 35"/>
          <p:cNvSpPr/>
          <p:nvPr/>
        </p:nvSpPr>
        <p:spPr>
          <a:xfrm>
            <a:off x="13919240" y="2516505"/>
            <a:ext cx="9525" cy="5880735"/>
          </a:xfrm>
          <a:prstGeom prst="rect">
            <a:avLst/>
          </a:prstGeom>
          <a:solidFill>
            <a:srgbClr val="DCE8ED"/>
          </a:solidFill>
          <a:ln/>
        </p:spPr>
      </p:sp>
      <p:sp>
        <p:nvSpPr>
          <p:cNvPr id="38" name="Text 36"/>
          <p:cNvSpPr/>
          <p:nvPr/>
        </p:nvSpPr>
        <p:spPr>
          <a:xfrm>
            <a:off x="11357610" y="2821305"/>
            <a:ext cx="2545378" cy="312420"/>
          </a:xfrm>
          <a:prstGeom prst="rect">
            <a:avLst/>
          </a:prstGeom>
          <a:noFill/>
          <a:ln/>
        </p:spPr>
        <p:txBody>
          <a:bodyPr wrap="square" lIns="25400" tIns="25400" rIns="25400" bIns="25400" rtlCol="0" anchor="t">
            <a:normAutofit/>
          </a:bodyPr>
          <a:lstStyle/>
          <a:p>
            <a:pPr algn="l" indent="0" marL="0">
              <a:buNone/>
            </a:pPr>
            <a:r>
              <a:rPr lang="en-US" sz="1875" b="1" spc="188" kern="0" dirty="0">
                <a:solidFill>
                  <a:srgbClr val="22A06B"/>
                </a:solidFill>
                <a:latin typeface="Arial" pitchFamily="34" charset="0"/>
                <a:ea typeface="Arial" pitchFamily="34" charset="-122"/>
                <a:cs typeface="Arial" pitchFamily="34" charset="-120"/>
              </a:rPr>
              <a:t>04 · DECISION</a:t>
            </a:r>
            <a:endParaRPr lang="en-US" sz="1875" dirty="0"/>
          </a:p>
        </p:txBody>
      </p:sp>
      <p:sp>
        <p:nvSpPr>
          <p:cNvPr id="39" name="Text 37"/>
          <p:cNvSpPr/>
          <p:nvPr/>
        </p:nvSpPr>
        <p:spPr>
          <a:xfrm>
            <a:off x="11357610" y="3228975"/>
            <a:ext cx="2545378" cy="392430"/>
          </a:xfrm>
          <a:prstGeom prst="rect">
            <a:avLst/>
          </a:prstGeom>
          <a:noFill/>
          <a:ln/>
        </p:spPr>
        <p:txBody>
          <a:bodyPr wrap="square" lIns="25400" tIns="25400" rIns="25400" bIns="25400" rtlCol="0" anchor="t">
            <a:normAutofit/>
          </a:bodyPr>
          <a:lstStyle/>
          <a:p>
            <a:pPr algn="l" indent="0" marL="0">
              <a:lnSpc>
                <a:spcPct val="105682"/>
              </a:lnSpc>
              <a:buNone/>
            </a:pPr>
            <a:r>
              <a:rPr lang="en-US" sz="2325" b="1" dirty="0">
                <a:solidFill>
                  <a:srgbClr val="124B68"/>
                </a:solidFill>
                <a:latin typeface="Arial" pitchFamily="34" charset="0"/>
                <a:ea typeface="Arial" pitchFamily="34" charset="-122"/>
                <a:cs typeface="Arial" pitchFamily="34" charset="-120"/>
              </a:rPr>
              <a:t>Stochastic MILP</a:t>
            </a:r>
            <a:endParaRPr lang="en-US" sz="2325" dirty="0"/>
          </a:p>
        </p:txBody>
      </p:sp>
      <p:sp>
        <p:nvSpPr>
          <p:cNvPr id="40" name="Text 38"/>
          <p:cNvSpPr/>
          <p:nvPr/>
        </p:nvSpPr>
        <p:spPr>
          <a:xfrm>
            <a:off x="11357610" y="3716655"/>
            <a:ext cx="2390180" cy="2430066"/>
          </a:xfrm>
          <a:prstGeom prst="rect">
            <a:avLst/>
          </a:prstGeom>
          <a:noFill/>
          <a:ln/>
        </p:spPr>
        <p:txBody>
          <a:bodyPr wrap="square" lIns="25400" tIns="25400" rIns="25400" bIns="25400" rtlCol="0" anchor="t">
            <a:normAutofit/>
          </a:bodyPr>
          <a:lstStyle/>
          <a:p>
            <a:pPr algn="l" indent="0" marL="0">
              <a:lnSpc>
                <a:spcPct val="121216"/>
              </a:lnSpc>
              <a:buNone/>
            </a:pPr>
            <a:r>
              <a:rPr lang="en-US" sz="1950" dirty="0">
                <a:solidFill>
                  <a:srgbClr val="17324D"/>
                </a:solidFill>
                <a:latin typeface="Arial" pitchFamily="34" charset="0"/>
                <a:ea typeface="Arial" pitchFamily="34" charset="-122"/>
                <a:cs typeface="Arial" pitchFamily="34" charset="-120"/>
              </a:rPr>
              <a:t>96 blocks against landed cost, CVaR₉₅ risk term, demand charge inside the objective. CBC, 0.3 s.</a:t>
            </a:r>
            <a:endParaRPr lang="en-US" sz="1950" dirty="0"/>
          </a:p>
        </p:txBody>
      </p:sp>
      <p:sp>
        <p:nvSpPr>
          <p:cNvPr id="41" name="Text 39"/>
          <p:cNvSpPr/>
          <p:nvPr/>
        </p:nvSpPr>
        <p:spPr>
          <a:xfrm>
            <a:off x="14060210" y="5239703"/>
            <a:ext cx="355640" cy="472440"/>
          </a:xfrm>
          <a:prstGeom prst="rect">
            <a:avLst/>
          </a:prstGeom>
          <a:noFill/>
          <a:ln/>
        </p:spPr>
        <p:txBody>
          <a:bodyPr wrap="square" lIns="25400" tIns="25400" rIns="25400" bIns="25400" rtlCol="0" anchor="t">
            <a:normAutofit/>
          </a:bodyPr>
          <a:lstStyle/>
          <a:p>
            <a:pPr algn="l" indent="0" marL="0">
              <a:buNone/>
            </a:pPr>
            <a:r>
              <a:rPr lang="en-US" sz="2550" dirty="0">
                <a:solidFill>
                  <a:srgbClr val="22A06B"/>
                </a:solidFill>
                <a:latin typeface="Arial" pitchFamily="34" charset="0"/>
                <a:ea typeface="Arial" pitchFamily="34" charset="-122"/>
                <a:cs typeface="Arial" pitchFamily="34" charset="-120"/>
              </a:rPr>
              <a:t>→</a:t>
            </a:r>
            <a:endParaRPr lang="en-US" sz="2550" dirty="0"/>
          </a:p>
        </p:txBody>
      </p:sp>
      <p:sp>
        <p:nvSpPr>
          <p:cNvPr id="42" name="Shape 40"/>
          <p:cNvSpPr/>
          <p:nvPr/>
        </p:nvSpPr>
        <p:spPr>
          <a:xfrm>
            <a:off x="14472999" y="2516505"/>
            <a:ext cx="2824401" cy="5880735"/>
          </a:xfrm>
          <a:prstGeom prst="roundRect">
            <a:avLst>
              <a:gd name="adj" fmla="val 4721"/>
            </a:avLst>
          </a:prstGeom>
          <a:solidFill>
            <a:srgbClr val="FFFFFF"/>
          </a:solidFill>
          <a:ln/>
          <a:effectLst>
            <a:outerShdw sx="100000" sy="100000" kx="0" ky="0" algn="bl" rotWithShape="0" blurRad="28575" dist="9525" dir="5400000">
              <a:srgbClr val="17324D">
                <a:alpha val="5000"/>
              </a:srgbClr>
            </a:outerShdw>
          </a:effectLst>
        </p:spPr>
      </p:sp>
      <p:sp>
        <p:nvSpPr>
          <p:cNvPr id="43" name="Shape 41"/>
          <p:cNvSpPr/>
          <p:nvPr/>
        </p:nvSpPr>
        <p:spPr>
          <a:xfrm>
            <a:off x="14472999" y="8389620"/>
            <a:ext cx="2824401" cy="9525"/>
          </a:xfrm>
          <a:prstGeom prst="rect">
            <a:avLst/>
          </a:prstGeom>
          <a:solidFill>
            <a:srgbClr val="DCE8ED"/>
          </a:solidFill>
          <a:ln/>
        </p:spPr>
      </p:sp>
      <p:sp>
        <p:nvSpPr>
          <p:cNvPr id="44" name="Shape 42"/>
          <p:cNvSpPr/>
          <p:nvPr/>
        </p:nvSpPr>
        <p:spPr>
          <a:xfrm>
            <a:off x="14472999" y="2516505"/>
            <a:ext cx="2824401" cy="38100"/>
          </a:xfrm>
          <a:prstGeom prst="rect">
            <a:avLst/>
          </a:prstGeom>
          <a:solidFill>
            <a:srgbClr val="22A06B"/>
          </a:solidFill>
          <a:ln/>
        </p:spPr>
      </p:sp>
      <p:sp>
        <p:nvSpPr>
          <p:cNvPr id="45" name="Shape 43"/>
          <p:cNvSpPr/>
          <p:nvPr/>
        </p:nvSpPr>
        <p:spPr>
          <a:xfrm>
            <a:off x="14472999" y="2516505"/>
            <a:ext cx="9525" cy="5880735"/>
          </a:xfrm>
          <a:prstGeom prst="rect">
            <a:avLst/>
          </a:prstGeom>
          <a:solidFill>
            <a:srgbClr val="DCE8ED"/>
          </a:solidFill>
          <a:ln/>
        </p:spPr>
      </p:sp>
      <p:sp>
        <p:nvSpPr>
          <p:cNvPr id="46" name="Shape 44"/>
          <p:cNvSpPr/>
          <p:nvPr/>
        </p:nvSpPr>
        <p:spPr>
          <a:xfrm>
            <a:off x="17289780" y="2516505"/>
            <a:ext cx="9525" cy="5880735"/>
          </a:xfrm>
          <a:prstGeom prst="rect">
            <a:avLst/>
          </a:prstGeom>
          <a:solidFill>
            <a:srgbClr val="DCE8ED"/>
          </a:solidFill>
          <a:ln/>
        </p:spPr>
      </p:sp>
      <p:sp>
        <p:nvSpPr>
          <p:cNvPr id="47" name="Text 45"/>
          <p:cNvSpPr/>
          <p:nvPr/>
        </p:nvSpPr>
        <p:spPr>
          <a:xfrm>
            <a:off x="14728270" y="2821305"/>
            <a:ext cx="2545247" cy="312420"/>
          </a:xfrm>
          <a:prstGeom prst="rect">
            <a:avLst/>
          </a:prstGeom>
          <a:noFill/>
          <a:ln/>
        </p:spPr>
        <p:txBody>
          <a:bodyPr wrap="square" lIns="25400" tIns="25400" rIns="25400" bIns="25400" rtlCol="0" anchor="t">
            <a:normAutofit/>
          </a:bodyPr>
          <a:lstStyle/>
          <a:p>
            <a:pPr algn="l" indent="0" marL="0">
              <a:buNone/>
            </a:pPr>
            <a:r>
              <a:rPr lang="en-US" sz="1875" b="1" spc="188" kern="0" dirty="0">
                <a:solidFill>
                  <a:srgbClr val="22A06B"/>
                </a:solidFill>
                <a:latin typeface="Arial" pitchFamily="34" charset="0"/>
                <a:ea typeface="Arial" pitchFamily="34" charset="-122"/>
                <a:cs typeface="Arial" pitchFamily="34" charset="-120"/>
              </a:rPr>
              <a:t>05 · AGENT</a:t>
            </a:r>
            <a:endParaRPr lang="en-US" sz="1875" dirty="0"/>
          </a:p>
        </p:txBody>
      </p:sp>
      <p:sp>
        <p:nvSpPr>
          <p:cNvPr id="48" name="Text 46"/>
          <p:cNvSpPr/>
          <p:nvPr/>
        </p:nvSpPr>
        <p:spPr>
          <a:xfrm>
            <a:off x="14728270" y="3228975"/>
            <a:ext cx="2390061" cy="746760"/>
          </a:xfrm>
          <a:prstGeom prst="rect">
            <a:avLst/>
          </a:prstGeom>
          <a:noFill/>
          <a:ln/>
        </p:spPr>
        <p:txBody>
          <a:bodyPr wrap="square" lIns="25400" tIns="25400" rIns="25400" bIns="25400" rtlCol="0" anchor="t">
            <a:normAutofit/>
          </a:bodyPr>
          <a:lstStyle/>
          <a:p>
            <a:pPr algn="l" indent="0" marL="0">
              <a:lnSpc>
                <a:spcPct val="105682"/>
              </a:lnSpc>
              <a:buNone/>
            </a:pPr>
            <a:r>
              <a:rPr lang="en-US" sz="2325" b="1" dirty="0">
                <a:solidFill>
                  <a:srgbClr val="124B68"/>
                </a:solidFill>
                <a:latin typeface="Arial" pitchFamily="34" charset="0"/>
                <a:ea typeface="Arial" pitchFamily="34" charset="-122"/>
                <a:cs typeface="Arial" pitchFamily="34" charset="-120"/>
              </a:rPr>
              <a:t>Constraints and reasons</a:t>
            </a:r>
            <a:endParaRPr lang="en-US" sz="2325" dirty="0"/>
          </a:p>
        </p:txBody>
      </p:sp>
      <p:sp>
        <p:nvSpPr>
          <p:cNvPr id="49" name="Text 47"/>
          <p:cNvSpPr/>
          <p:nvPr/>
        </p:nvSpPr>
        <p:spPr>
          <a:xfrm>
            <a:off x="14728270" y="4070985"/>
            <a:ext cx="2390061" cy="2430066"/>
          </a:xfrm>
          <a:prstGeom prst="rect">
            <a:avLst/>
          </a:prstGeom>
          <a:noFill/>
          <a:ln/>
        </p:spPr>
        <p:txBody>
          <a:bodyPr wrap="square" lIns="25400" tIns="25400" rIns="25400" bIns="25400" rtlCol="0" anchor="t">
            <a:normAutofit/>
          </a:bodyPr>
          <a:lstStyle/>
          <a:p>
            <a:pPr algn="l" indent="0" marL="0">
              <a:lnSpc>
                <a:spcPct val="121216"/>
              </a:lnSpc>
              <a:buNone/>
            </a:pPr>
            <a:r>
              <a:rPr lang="en-US" sz="1950" dirty="0">
                <a:solidFill>
                  <a:srgbClr val="17324D"/>
                </a:solidFill>
                <a:latin typeface="Arial" pitchFamily="34" charset="0"/>
                <a:ea typeface="Arial" pitchFamily="34" charset="-122"/>
                <a:cs typeface="Arial" pitchFamily="34" charset="-120"/>
              </a:rPr>
              <a:t>Elicits constraints from SOPs and operator speech, gated on human sign-off. Explains from the solver, not from itself.</a:t>
            </a:r>
            <a:endParaRPr lang="en-US" sz="1950" dirty="0"/>
          </a:p>
        </p:txBody>
      </p:sp>
      <p:sp>
        <p:nvSpPr>
          <p:cNvPr id="50" name="Shape 48"/>
          <p:cNvSpPr/>
          <p:nvPr/>
        </p:nvSpPr>
        <p:spPr>
          <a:xfrm>
            <a:off x="990600" y="8682990"/>
            <a:ext cx="16306800" cy="9525"/>
          </a:xfrm>
          <a:prstGeom prst="rect">
            <a:avLst/>
          </a:prstGeom>
          <a:solidFill>
            <a:srgbClr val="DCE8ED"/>
          </a:solidFill>
          <a:ln/>
        </p:spPr>
      </p:sp>
      <p:sp>
        <p:nvSpPr>
          <p:cNvPr id="51" name="Text 49"/>
          <p:cNvSpPr/>
          <p:nvPr/>
        </p:nvSpPr>
        <p:spPr>
          <a:xfrm>
            <a:off x="990600" y="8881110"/>
            <a:ext cx="16796004" cy="758190"/>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7324D"/>
                </a:solidFill>
                <a:latin typeface="Arial" pitchFamily="34" charset="0"/>
                <a:ea typeface="Arial" pitchFamily="34" charset="-122"/>
                <a:cs typeface="Arial" pitchFamily="34" charset="-120"/>
              </a:rPr>
              <a:t>~3,000 lines of Python, 45 regression tests passing, and every schedule re-simulated against the true nonlinear physics before anyone sees it.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1243013"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RESULT</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08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4404512" cy="124968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Optimising on the exchange price leaves money on the table</a:t>
            </a:r>
            <a:endParaRPr lang="en-US" sz="4500" dirty="0"/>
          </a:p>
        </p:txBody>
      </p:sp>
      <p:sp>
        <p:nvSpPr>
          <p:cNvPr id="6" name="Text 4"/>
          <p:cNvSpPr/>
          <p:nvPr/>
        </p:nvSpPr>
        <p:spPr>
          <a:xfrm>
            <a:off x="990600" y="2950845"/>
            <a:ext cx="14656034" cy="127254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17324D"/>
                </a:solidFill>
                <a:latin typeface="Arial" pitchFamily="34" charset="0"/>
                <a:ea typeface="Arial" pitchFamily="34" charset="-122"/>
                <a:cs typeface="Arial" pitchFamily="34" charset="-120"/>
              </a:rPr>
              <a:t>The market clearing price is about 60% of what an industrial consumer pays. Wheeling, surcharges, duty and the demand charge on peak kVA are the other 46% of the bill — so we put them inside the optimisation rather than after it.</a:t>
            </a:r>
            <a:endParaRPr lang="en-US" sz="2400" dirty="0"/>
          </a:p>
        </p:txBody>
      </p:sp>
      <p:sp>
        <p:nvSpPr>
          <p:cNvPr id="7" name="Shape 5"/>
          <p:cNvSpPr/>
          <p:nvPr/>
        </p:nvSpPr>
        <p:spPr>
          <a:xfrm>
            <a:off x="990600" y="4333280"/>
            <a:ext cx="16306800" cy="3470910"/>
          </a:xfrm>
          <a:prstGeom prst="roundRect">
            <a:avLst>
              <a:gd name="adj" fmla="val 3842"/>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8" name="Text 6"/>
          <p:cNvSpPr/>
          <p:nvPr/>
        </p:nvSpPr>
        <p:spPr>
          <a:xfrm>
            <a:off x="1379220" y="4645700"/>
            <a:ext cx="3998494" cy="590550"/>
          </a:xfrm>
          <a:prstGeom prst="rect">
            <a:avLst/>
          </a:prstGeom>
          <a:noFill/>
          <a:ln/>
        </p:spPr>
        <p:txBody>
          <a:bodyPr wrap="square" lIns="25400" tIns="25400" rIns="25400" bIns="25400" rtlCol="0" anchor="ctr">
            <a:normAutofit/>
          </a:bodyPr>
          <a:lstStyle/>
          <a:p>
            <a:pPr algn="l" indent="0" marL="0">
              <a:buNone/>
            </a:pPr>
            <a:r>
              <a:rPr lang="en-US" sz="1875" b="1" spc="113" kern="0" dirty="0">
                <a:solidFill>
                  <a:srgbClr val="6B7C89"/>
                </a:solidFill>
                <a:latin typeface="Arial" pitchFamily="34" charset="0"/>
                <a:ea typeface="Arial" pitchFamily="34" charset="-122"/>
                <a:cs typeface="Arial" pitchFamily="34" charset="-120"/>
              </a:rPr>
              <a:t>SAME FIVE HIGH-SPREAD DAYS</a:t>
            </a:r>
            <a:endParaRPr lang="en-US" sz="1875" dirty="0"/>
          </a:p>
        </p:txBody>
      </p:sp>
      <p:sp>
        <p:nvSpPr>
          <p:cNvPr id="9" name="Text 7"/>
          <p:cNvSpPr/>
          <p:nvPr/>
        </p:nvSpPr>
        <p:spPr>
          <a:xfrm>
            <a:off x="5556113" y="4645700"/>
            <a:ext cx="2576451" cy="590550"/>
          </a:xfrm>
          <a:prstGeom prst="rect">
            <a:avLst/>
          </a:prstGeom>
          <a:noFill/>
          <a:ln/>
        </p:spPr>
        <p:txBody>
          <a:bodyPr wrap="square" lIns="25400" tIns="25400" rIns="25400" bIns="25400" rtlCol="0" anchor="ctr">
            <a:normAutofit/>
          </a:bodyPr>
          <a:lstStyle/>
          <a:p>
            <a:pPr algn="r" indent="0" marL="0">
              <a:buNone/>
            </a:pPr>
            <a:r>
              <a:rPr lang="en-US" sz="1875" b="1" spc="113" kern="0" dirty="0">
                <a:solidFill>
                  <a:srgbClr val="6B7C89"/>
                </a:solidFill>
                <a:latin typeface="Arial" pitchFamily="34" charset="0"/>
                <a:ea typeface="Arial" pitchFamily="34" charset="-122"/>
                <a:cs typeface="Arial" pitchFamily="34" charset="-120"/>
              </a:rPr>
              <a:t>OPTIMISED ON MCP</a:t>
            </a:r>
            <a:endParaRPr lang="en-US" sz="1875" dirty="0"/>
          </a:p>
        </p:txBody>
      </p:sp>
      <p:sp>
        <p:nvSpPr>
          <p:cNvPr id="10" name="Text 8"/>
          <p:cNvSpPr/>
          <p:nvPr/>
        </p:nvSpPr>
        <p:spPr>
          <a:xfrm>
            <a:off x="8391356" y="4645700"/>
            <a:ext cx="3814813" cy="590550"/>
          </a:xfrm>
          <a:prstGeom prst="rect">
            <a:avLst/>
          </a:prstGeom>
          <a:noFill/>
          <a:ln/>
        </p:spPr>
        <p:txBody>
          <a:bodyPr wrap="square" lIns="25400" tIns="25400" rIns="25400" bIns="25400" rtlCol="0" anchor="ctr">
            <a:normAutofit/>
          </a:bodyPr>
          <a:lstStyle/>
          <a:p>
            <a:pPr algn="r" indent="0" marL="0">
              <a:buNone/>
            </a:pPr>
            <a:r>
              <a:rPr lang="en-US" sz="1875" b="1" spc="113" kern="0" dirty="0">
                <a:solidFill>
                  <a:srgbClr val="6B7C89"/>
                </a:solidFill>
                <a:latin typeface="Arial" pitchFamily="34" charset="0"/>
                <a:ea typeface="Arial" pitchFamily="34" charset="-122"/>
                <a:cs typeface="Arial" pitchFamily="34" charset="-120"/>
              </a:rPr>
              <a:t>OPTIMISED ON LANDED COST</a:t>
            </a:r>
            <a:endParaRPr lang="en-US" sz="1875" dirty="0"/>
          </a:p>
        </p:txBody>
      </p:sp>
      <p:sp>
        <p:nvSpPr>
          <p:cNvPr id="11" name="Text 9"/>
          <p:cNvSpPr/>
          <p:nvPr/>
        </p:nvSpPr>
        <p:spPr>
          <a:xfrm>
            <a:off x="12510969" y="4645700"/>
            <a:ext cx="1243727" cy="590550"/>
          </a:xfrm>
          <a:prstGeom prst="rect">
            <a:avLst/>
          </a:prstGeom>
          <a:noFill/>
          <a:ln/>
        </p:spPr>
        <p:txBody>
          <a:bodyPr wrap="square" lIns="25400" tIns="25400" rIns="25400" bIns="25400" rtlCol="0" anchor="ctr">
            <a:normAutofit/>
          </a:bodyPr>
          <a:lstStyle/>
          <a:p>
            <a:pPr algn="r" indent="0" marL="0">
              <a:buNone/>
            </a:pPr>
            <a:r>
              <a:rPr lang="en-US" sz="1875" b="1" spc="113" kern="0" dirty="0">
                <a:solidFill>
                  <a:srgbClr val="6B7C89"/>
                </a:solidFill>
                <a:latin typeface="Arial" pitchFamily="34" charset="0"/>
                <a:ea typeface="Arial" pitchFamily="34" charset="-122"/>
                <a:cs typeface="Arial" pitchFamily="34" charset="-120"/>
              </a:rPr>
              <a:t>PENALTY</a:t>
            </a:r>
            <a:endParaRPr lang="en-US" sz="1875" dirty="0"/>
          </a:p>
        </p:txBody>
      </p:sp>
      <p:sp>
        <p:nvSpPr>
          <p:cNvPr id="12" name="Text 10"/>
          <p:cNvSpPr/>
          <p:nvPr/>
        </p:nvSpPr>
        <p:spPr>
          <a:xfrm>
            <a:off x="14041073" y="4645700"/>
            <a:ext cx="2867707" cy="590550"/>
          </a:xfrm>
          <a:prstGeom prst="rect">
            <a:avLst/>
          </a:prstGeom>
          <a:noFill/>
          <a:ln/>
        </p:spPr>
        <p:txBody>
          <a:bodyPr wrap="square" lIns="25400" tIns="25400" rIns="25400" bIns="25400" rtlCol="0" anchor="ctr">
            <a:normAutofit/>
          </a:bodyPr>
          <a:lstStyle/>
          <a:p>
            <a:pPr algn="r" indent="0" marL="0">
              <a:buNone/>
            </a:pPr>
            <a:r>
              <a:rPr lang="en-US" sz="1875" b="1" spc="113" kern="0" dirty="0">
                <a:solidFill>
                  <a:srgbClr val="6B7C89"/>
                </a:solidFill>
                <a:latin typeface="Arial" pitchFamily="34" charset="0"/>
                <a:ea typeface="Arial" pitchFamily="34" charset="-122"/>
                <a:cs typeface="Arial" pitchFamily="34" charset="-120"/>
              </a:rPr>
              <a:t>INDICATIVE PER YEAR</a:t>
            </a:r>
            <a:endParaRPr lang="en-US" sz="1875" dirty="0"/>
          </a:p>
        </p:txBody>
      </p:sp>
      <p:sp>
        <p:nvSpPr>
          <p:cNvPr id="13" name="Shape 11"/>
          <p:cNvSpPr/>
          <p:nvPr/>
        </p:nvSpPr>
        <p:spPr>
          <a:xfrm>
            <a:off x="1379220" y="5350550"/>
            <a:ext cx="3882033" cy="9525"/>
          </a:xfrm>
          <a:prstGeom prst="rect">
            <a:avLst/>
          </a:prstGeom>
          <a:solidFill>
            <a:srgbClr val="DCE8ED"/>
          </a:solidFill>
          <a:ln/>
        </p:spPr>
      </p:sp>
      <p:sp>
        <p:nvSpPr>
          <p:cNvPr id="14" name="Text 12"/>
          <p:cNvSpPr/>
          <p:nvPr/>
        </p:nvSpPr>
        <p:spPr>
          <a:xfrm>
            <a:off x="1379220" y="5624870"/>
            <a:ext cx="3998494" cy="396240"/>
          </a:xfrm>
          <a:prstGeom prst="rect">
            <a:avLst/>
          </a:prstGeom>
          <a:noFill/>
          <a:ln/>
        </p:spPr>
        <p:txBody>
          <a:bodyPr wrap="square" lIns="25400" tIns="25400" rIns="25400" bIns="25400" rtlCol="0" anchor="ctr">
            <a:normAutofit/>
          </a:bodyPr>
          <a:lstStyle/>
          <a:p>
            <a:pPr algn="l" indent="0" marL="0">
              <a:buNone/>
            </a:pPr>
            <a:r>
              <a:rPr lang="en-US" sz="2325" b="1" dirty="0">
                <a:solidFill>
                  <a:srgbClr val="124B68"/>
                </a:solidFill>
                <a:latin typeface="Arial" pitchFamily="34" charset="0"/>
                <a:ea typeface="Arial" pitchFamily="34" charset="-122"/>
                <a:cs typeface="Arial" pitchFamily="34" charset="-120"/>
              </a:rPr>
              <a:t>Chlor-alkali, 700 TPD</a:t>
            </a:r>
            <a:endParaRPr lang="en-US" sz="2325" dirty="0"/>
          </a:p>
        </p:txBody>
      </p:sp>
      <p:sp>
        <p:nvSpPr>
          <p:cNvPr id="15" name="Shape 13"/>
          <p:cNvSpPr/>
          <p:nvPr/>
        </p:nvSpPr>
        <p:spPr>
          <a:xfrm>
            <a:off x="5261253" y="5350550"/>
            <a:ext cx="2871311" cy="9525"/>
          </a:xfrm>
          <a:prstGeom prst="rect">
            <a:avLst/>
          </a:prstGeom>
          <a:solidFill>
            <a:srgbClr val="DCE8ED"/>
          </a:solidFill>
          <a:ln/>
        </p:spPr>
      </p:sp>
      <p:sp>
        <p:nvSpPr>
          <p:cNvPr id="16" name="Text 14"/>
          <p:cNvSpPr/>
          <p:nvPr/>
        </p:nvSpPr>
        <p:spPr>
          <a:xfrm>
            <a:off x="5556113" y="5624870"/>
            <a:ext cx="2576451" cy="396240"/>
          </a:xfrm>
          <a:prstGeom prst="rect">
            <a:avLst/>
          </a:prstGeom>
          <a:noFill/>
          <a:ln/>
        </p:spPr>
        <p:txBody>
          <a:bodyPr wrap="none" lIns="25400" tIns="25400" rIns="25400" bIns="25400" rtlCol="0" anchor="ctr">
            <a:normAutofit/>
          </a:bodyPr>
          <a:lstStyle/>
          <a:p>
            <a:pPr algn="r" indent="0" marL="0">
              <a:buNone/>
            </a:pPr>
            <a:r>
              <a:rPr lang="en-US" sz="2325" dirty="0">
                <a:solidFill>
                  <a:srgbClr val="6B7C89"/>
                </a:solidFill>
                <a:latin typeface="Arial" pitchFamily="34" charset="0"/>
                <a:ea typeface="Arial" pitchFamily="34" charset="-122"/>
                <a:cs typeface="Arial" pitchFamily="34" charset="-120"/>
              </a:rPr>
              <a:t>₹7.196 cr</a:t>
            </a:r>
            <a:endParaRPr lang="en-US" sz="2325" dirty="0"/>
          </a:p>
        </p:txBody>
      </p:sp>
      <p:sp>
        <p:nvSpPr>
          <p:cNvPr id="17" name="Shape 15"/>
          <p:cNvSpPr/>
          <p:nvPr/>
        </p:nvSpPr>
        <p:spPr>
          <a:xfrm>
            <a:off x="8132564" y="5350550"/>
            <a:ext cx="4073605" cy="9525"/>
          </a:xfrm>
          <a:prstGeom prst="rect">
            <a:avLst/>
          </a:prstGeom>
          <a:solidFill>
            <a:srgbClr val="DCE8ED"/>
          </a:solidFill>
          <a:ln/>
        </p:spPr>
      </p:sp>
      <p:sp>
        <p:nvSpPr>
          <p:cNvPr id="18" name="Text 16"/>
          <p:cNvSpPr/>
          <p:nvPr/>
        </p:nvSpPr>
        <p:spPr>
          <a:xfrm>
            <a:off x="8391356" y="5624870"/>
            <a:ext cx="3814813" cy="396240"/>
          </a:xfrm>
          <a:prstGeom prst="rect">
            <a:avLst/>
          </a:prstGeom>
          <a:noFill/>
          <a:ln/>
        </p:spPr>
        <p:txBody>
          <a:bodyPr wrap="none" lIns="25400" tIns="25400" rIns="25400" bIns="25400" rtlCol="0" anchor="ctr">
            <a:normAutofit/>
          </a:bodyPr>
          <a:lstStyle/>
          <a:p>
            <a:pPr algn="r" indent="0" marL="0">
              <a:buNone/>
            </a:pPr>
            <a:r>
              <a:rPr lang="en-US" sz="2325" b="1" dirty="0">
                <a:solidFill>
                  <a:srgbClr val="22A06B"/>
                </a:solidFill>
                <a:latin typeface="Arial" pitchFamily="34" charset="0"/>
                <a:ea typeface="Arial" pitchFamily="34" charset="-122"/>
                <a:cs typeface="Arial" pitchFamily="34" charset="-120"/>
              </a:rPr>
              <a:t>₹7.128 cr</a:t>
            </a:r>
            <a:endParaRPr lang="en-US" sz="2325" dirty="0"/>
          </a:p>
        </p:txBody>
      </p:sp>
      <p:sp>
        <p:nvSpPr>
          <p:cNvPr id="19" name="Shape 17"/>
          <p:cNvSpPr/>
          <p:nvPr/>
        </p:nvSpPr>
        <p:spPr>
          <a:xfrm>
            <a:off x="12206169" y="5350550"/>
            <a:ext cx="1548527" cy="9525"/>
          </a:xfrm>
          <a:prstGeom prst="rect">
            <a:avLst/>
          </a:prstGeom>
          <a:solidFill>
            <a:srgbClr val="DCE8ED"/>
          </a:solidFill>
          <a:ln/>
        </p:spPr>
      </p:sp>
      <p:sp>
        <p:nvSpPr>
          <p:cNvPr id="20" name="Text 18"/>
          <p:cNvSpPr/>
          <p:nvPr/>
        </p:nvSpPr>
        <p:spPr>
          <a:xfrm>
            <a:off x="12510969" y="5624870"/>
            <a:ext cx="1243727" cy="396240"/>
          </a:xfrm>
          <a:prstGeom prst="rect">
            <a:avLst/>
          </a:prstGeom>
          <a:noFill/>
          <a:ln/>
        </p:spPr>
        <p:txBody>
          <a:bodyPr wrap="none" lIns="25400" tIns="25400" rIns="25400" bIns="25400" rtlCol="0" anchor="ctr">
            <a:normAutofit/>
          </a:bodyPr>
          <a:lstStyle/>
          <a:p>
            <a:pPr algn="r" indent="0" marL="0">
              <a:buNone/>
            </a:pPr>
            <a:r>
              <a:rPr lang="en-US" sz="2325" b="1" dirty="0">
                <a:solidFill>
                  <a:srgbClr val="124B68"/>
                </a:solidFill>
                <a:latin typeface="Arial" pitchFamily="34" charset="0"/>
                <a:ea typeface="Arial" pitchFamily="34" charset="-122"/>
                <a:cs typeface="Arial" pitchFamily="34" charset="-120"/>
              </a:rPr>
              <a:t>0.95%</a:t>
            </a:r>
            <a:endParaRPr lang="en-US" sz="2325" dirty="0"/>
          </a:p>
        </p:txBody>
      </p:sp>
      <p:sp>
        <p:nvSpPr>
          <p:cNvPr id="21" name="Shape 19"/>
          <p:cNvSpPr/>
          <p:nvPr/>
        </p:nvSpPr>
        <p:spPr>
          <a:xfrm>
            <a:off x="13754695" y="5350550"/>
            <a:ext cx="3154085" cy="9525"/>
          </a:xfrm>
          <a:prstGeom prst="rect">
            <a:avLst/>
          </a:prstGeom>
          <a:solidFill>
            <a:srgbClr val="DCE8ED"/>
          </a:solidFill>
          <a:ln/>
        </p:spPr>
      </p:sp>
      <p:sp>
        <p:nvSpPr>
          <p:cNvPr id="22" name="Text 20"/>
          <p:cNvSpPr/>
          <p:nvPr/>
        </p:nvSpPr>
        <p:spPr>
          <a:xfrm>
            <a:off x="14041073" y="5624870"/>
            <a:ext cx="2867707" cy="396240"/>
          </a:xfrm>
          <a:prstGeom prst="rect">
            <a:avLst/>
          </a:prstGeom>
          <a:noFill/>
          <a:ln/>
        </p:spPr>
        <p:txBody>
          <a:bodyPr wrap="none" lIns="25400" tIns="25400" rIns="25400" bIns="25400" rtlCol="0" anchor="ctr">
            <a:normAutofit/>
          </a:bodyPr>
          <a:lstStyle/>
          <a:p>
            <a:pPr algn="r" indent="0" marL="0">
              <a:buNone/>
            </a:pPr>
            <a:r>
              <a:rPr lang="en-US" sz="2325" b="1" dirty="0">
                <a:solidFill>
                  <a:srgbClr val="124B68"/>
                </a:solidFill>
                <a:latin typeface="Arial" pitchFamily="34" charset="0"/>
                <a:ea typeface="Arial" pitchFamily="34" charset="-122"/>
                <a:cs typeface="Arial" pitchFamily="34" charset="-120"/>
              </a:rPr>
              <a:t>₹5.0 cr</a:t>
            </a:r>
            <a:endParaRPr lang="en-US" sz="2325" dirty="0"/>
          </a:p>
        </p:txBody>
      </p:sp>
      <p:sp>
        <p:nvSpPr>
          <p:cNvPr id="23" name="Shape 21"/>
          <p:cNvSpPr/>
          <p:nvPr/>
        </p:nvSpPr>
        <p:spPr>
          <a:xfrm>
            <a:off x="1379220" y="6249710"/>
            <a:ext cx="3882033" cy="9525"/>
          </a:xfrm>
          <a:prstGeom prst="rect">
            <a:avLst/>
          </a:prstGeom>
          <a:solidFill>
            <a:srgbClr val="DCE8ED"/>
          </a:solidFill>
          <a:ln/>
        </p:spPr>
      </p:sp>
      <p:sp>
        <p:nvSpPr>
          <p:cNvPr id="24" name="Text 22"/>
          <p:cNvSpPr/>
          <p:nvPr/>
        </p:nvSpPr>
        <p:spPr>
          <a:xfrm>
            <a:off x="1379220" y="6524030"/>
            <a:ext cx="3998494" cy="392430"/>
          </a:xfrm>
          <a:prstGeom prst="rect">
            <a:avLst/>
          </a:prstGeom>
          <a:noFill/>
          <a:ln/>
        </p:spPr>
        <p:txBody>
          <a:bodyPr wrap="square" lIns="25400" tIns="25400" rIns="25400" bIns="25400" rtlCol="0" anchor="ctr">
            <a:normAutofit/>
          </a:bodyPr>
          <a:lstStyle/>
          <a:p>
            <a:pPr algn="l" indent="0" marL="0">
              <a:buNone/>
            </a:pPr>
            <a:r>
              <a:rPr lang="en-US" sz="2325" b="1" dirty="0">
                <a:solidFill>
                  <a:srgbClr val="124B68"/>
                </a:solidFill>
                <a:latin typeface="Arial" pitchFamily="34" charset="0"/>
                <a:ea typeface="Arial" pitchFamily="34" charset="-122"/>
                <a:cs typeface="Arial" pitchFamily="34" charset="-120"/>
              </a:rPr>
              <a:t>Refinery utilities block</a:t>
            </a:r>
            <a:endParaRPr lang="en-US" sz="2325" dirty="0"/>
          </a:p>
        </p:txBody>
      </p:sp>
      <p:sp>
        <p:nvSpPr>
          <p:cNvPr id="25" name="Shape 23"/>
          <p:cNvSpPr/>
          <p:nvPr/>
        </p:nvSpPr>
        <p:spPr>
          <a:xfrm>
            <a:off x="5261253" y="6249710"/>
            <a:ext cx="2871311" cy="9525"/>
          </a:xfrm>
          <a:prstGeom prst="rect">
            <a:avLst/>
          </a:prstGeom>
          <a:solidFill>
            <a:srgbClr val="DCE8ED"/>
          </a:solidFill>
          <a:ln/>
        </p:spPr>
      </p:sp>
      <p:sp>
        <p:nvSpPr>
          <p:cNvPr id="26" name="Text 24"/>
          <p:cNvSpPr/>
          <p:nvPr/>
        </p:nvSpPr>
        <p:spPr>
          <a:xfrm>
            <a:off x="5556113" y="6524030"/>
            <a:ext cx="2576451" cy="392430"/>
          </a:xfrm>
          <a:prstGeom prst="rect">
            <a:avLst/>
          </a:prstGeom>
          <a:noFill/>
          <a:ln/>
        </p:spPr>
        <p:txBody>
          <a:bodyPr wrap="none" lIns="25400" tIns="25400" rIns="25400" bIns="25400" rtlCol="0" anchor="ctr">
            <a:normAutofit/>
          </a:bodyPr>
          <a:lstStyle/>
          <a:p>
            <a:pPr algn="r" indent="0" marL="0">
              <a:buNone/>
            </a:pPr>
            <a:r>
              <a:rPr lang="en-US" sz="2325" dirty="0">
                <a:solidFill>
                  <a:srgbClr val="6B7C89"/>
                </a:solidFill>
                <a:latin typeface="Arial" pitchFamily="34" charset="0"/>
                <a:ea typeface="Arial" pitchFamily="34" charset="-122"/>
                <a:cs typeface="Arial" pitchFamily="34" charset="-120"/>
              </a:rPr>
              <a:t>₹9.167 cr</a:t>
            </a:r>
            <a:endParaRPr lang="en-US" sz="2325" dirty="0"/>
          </a:p>
        </p:txBody>
      </p:sp>
      <p:sp>
        <p:nvSpPr>
          <p:cNvPr id="27" name="Shape 25"/>
          <p:cNvSpPr/>
          <p:nvPr/>
        </p:nvSpPr>
        <p:spPr>
          <a:xfrm>
            <a:off x="8132564" y="6249710"/>
            <a:ext cx="4073605" cy="9525"/>
          </a:xfrm>
          <a:prstGeom prst="rect">
            <a:avLst/>
          </a:prstGeom>
          <a:solidFill>
            <a:srgbClr val="DCE8ED"/>
          </a:solidFill>
          <a:ln/>
        </p:spPr>
      </p:sp>
      <p:sp>
        <p:nvSpPr>
          <p:cNvPr id="28" name="Text 26"/>
          <p:cNvSpPr/>
          <p:nvPr/>
        </p:nvSpPr>
        <p:spPr>
          <a:xfrm>
            <a:off x="8391356" y="6524030"/>
            <a:ext cx="3814813" cy="392430"/>
          </a:xfrm>
          <a:prstGeom prst="rect">
            <a:avLst/>
          </a:prstGeom>
          <a:noFill/>
          <a:ln/>
        </p:spPr>
        <p:txBody>
          <a:bodyPr wrap="none" lIns="25400" tIns="25400" rIns="25400" bIns="25400" rtlCol="0" anchor="ctr">
            <a:normAutofit/>
          </a:bodyPr>
          <a:lstStyle/>
          <a:p>
            <a:pPr algn="r" indent="0" marL="0">
              <a:buNone/>
            </a:pPr>
            <a:r>
              <a:rPr lang="en-US" sz="2325" b="1" dirty="0">
                <a:solidFill>
                  <a:srgbClr val="22A06B"/>
                </a:solidFill>
                <a:latin typeface="Arial" pitchFamily="34" charset="0"/>
                <a:ea typeface="Arial" pitchFamily="34" charset="-122"/>
                <a:cs typeface="Arial" pitchFamily="34" charset="-120"/>
              </a:rPr>
              <a:t>₹8.862 cr</a:t>
            </a:r>
            <a:endParaRPr lang="en-US" sz="2325" dirty="0"/>
          </a:p>
        </p:txBody>
      </p:sp>
      <p:sp>
        <p:nvSpPr>
          <p:cNvPr id="29" name="Shape 27"/>
          <p:cNvSpPr/>
          <p:nvPr/>
        </p:nvSpPr>
        <p:spPr>
          <a:xfrm>
            <a:off x="12206169" y="6249710"/>
            <a:ext cx="1548527" cy="9525"/>
          </a:xfrm>
          <a:prstGeom prst="rect">
            <a:avLst/>
          </a:prstGeom>
          <a:solidFill>
            <a:srgbClr val="DCE8ED"/>
          </a:solidFill>
          <a:ln/>
        </p:spPr>
      </p:sp>
      <p:sp>
        <p:nvSpPr>
          <p:cNvPr id="30" name="Text 28"/>
          <p:cNvSpPr/>
          <p:nvPr/>
        </p:nvSpPr>
        <p:spPr>
          <a:xfrm>
            <a:off x="12510969" y="6524030"/>
            <a:ext cx="1243727" cy="392430"/>
          </a:xfrm>
          <a:prstGeom prst="rect">
            <a:avLst/>
          </a:prstGeom>
          <a:noFill/>
          <a:ln/>
        </p:spPr>
        <p:txBody>
          <a:bodyPr wrap="none" lIns="25400" tIns="25400" rIns="25400" bIns="25400" rtlCol="0" anchor="ctr">
            <a:normAutofit/>
          </a:bodyPr>
          <a:lstStyle/>
          <a:p>
            <a:pPr algn="r" indent="0" marL="0">
              <a:buNone/>
            </a:pPr>
            <a:r>
              <a:rPr lang="en-US" sz="2325" b="1" dirty="0">
                <a:solidFill>
                  <a:srgbClr val="124B68"/>
                </a:solidFill>
                <a:latin typeface="Arial" pitchFamily="34" charset="0"/>
                <a:ea typeface="Arial" pitchFamily="34" charset="-122"/>
                <a:cs typeface="Arial" pitchFamily="34" charset="-120"/>
              </a:rPr>
              <a:t>3.33%</a:t>
            </a:r>
            <a:endParaRPr lang="en-US" sz="2325" dirty="0"/>
          </a:p>
        </p:txBody>
      </p:sp>
      <p:sp>
        <p:nvSpPr>
          <p:cNvPr id="31" name="Shape 29"/>
          <p:cNvSpPr/>
          <p:nvPr/>
        </p:nvSpPr>
        <p:spPr>
          <a:xfrm>
            <a:off x="13754695" y="6249710"/>
            <a:ext cx="3154085" cy="9525"/>
          </a:xfrm>
          <a:prstGeom prst="rect">
            <a:avLst/>
          </a:prstGeom>
          <a:solidFill>
            <a:srgbClr val="DCE8ED"/>
          </a:solidFill>
          <a:ln/>
        </p:spPr>
      </p:sp>
      <p:sp>
        <p:nvSpPr>
          <p:cNvPr id="32" name="Text 30"/>
          <p:cNvSpPr/>
          <p:nvPr/>
        </p:nvSpPr>
        <p:spPr>
          <a:xfrm>
            <a:off x="14041073" y="6524030"/>
            <a:ext cx="2867707" cy="392430"/>
          </a:xfrm>
          <a:prstGeom prst="rect">
            <a:avLst/>
          </a:prstGeom>
          <a:noFill/>
          <a:ln/>
        </p:spPr>
        <p:txBody>
          <a:bodyPr wrap="none" lIns="25400" tIns="25400" rIns="25400" bIns="25400" rtlCol="0" anchor="ctr">
            <a:normAutofit/>
          </a:bodyPr>
          <a:lstStyle/>
          <a:p>
            <a:pPr algn="r" indent="0" marL="0">
              <a:buNone/>
            </a:pPr>
            <a:r>
              <a:rPr lang="en-US" sz="2325" b="1" dirty="0">
                <a:solidFill>
                  <a:srgbClr val="124B68"/>
                </a:solidFill>
                <a:latin typeface="Arial" pitchFamily="34" charset="0"/>
                <a:ea typeface="Arial" pitchFamily="34" charset="-122"/>
                <a:cs typeface="Arial" pitchFamily="34" charset="-120"/>
              </a:rPr>
              <a:t>₹22.3 cr</a:t>
            </a:r>
            <a:endParaRPr lang="en-US" sz="2325" dirty="0"/>
          </a:p>
        </p:txBody>
      </p:sp>
      <p:sp>
        <p:nvSpPr>
          <p:cNvPr id="33" name="Text 31"/>
          <p:cNvSpPr/>
          <p:nvPr/>
        </p:nvSpPr>
        <p:spPr>
          <a:xfrm>
            <a:off x="1379220" y="7278410"/>
            <a:ext cx="17082516" cy="327660"/>
          </a:xfrm>
          <a:prstGeom prst="rect">
            <a:avLst/>
          </a:prstGeom>
          <a:noFill/>
          <a:ln/>
        </p:spPr>
        <p:txBody>
          <a:bodyPr wrap="square" lIns="25400" tIns="25400" rIns="25400" bIns="25400" rtlCol="0" anchor="t">
            <a:normAutofit/>
          </a:bodyPr>
          <a:lstStyle/>
          <a:p>
            <a:pPr algn="l" indent="0" marL="0">
              <a:buNone/>
            </a:pPr>
            <a:r>
              <a:rPr lang="en-US" sz="1875" dirty="0">
                <a:solidFill>
                  <a:srgbClr val="6B7C89"/>
                </a:solidFill>
                <a:latin typeface="Arial" pitchFamily="34" charset="0"/>
                <a:ea typeface="Arial" pitchFamily="34" charset="-122"/>
                <a:cs typeface="Arial" pitchFamily="34" charset="-120"/>
              </a:rPr>
              <a:t>Both schedules settled at the same real bill. The percentage is the robust figure; the annualisation is indicative.</a:t>
            </a:r>
            <a:endParaRPr lang="en-US" sz="1875" dirty="0"/>
          </a:p>
        </p:txBody>
      </p:sp>
      <p:sp>
        <p:nvSpPr>
          <p:cNvPr id="34" name="Shape 32"/>
          <p:cNvSpPr/>
          <p:nvPr/>
        </p:nvSpPr>
        <p:spPr>
          <a:xfrm>
            <a:off x="990600" y="7914084"/>
            <a:ext cx="16306800" cy="1687116"/>
          </a:xfrm>
          <a:prstGeom prst="roundRect">
            <a:avLst>
              <a:gd name="adj" fmla="val 7904"/>
            </a:avLst>
          </a:prstGeom>
          <a:solidFill>
            <a:srgbClr val="EAF7F1"/>
          </a:solidFill>
          <a:ln w="7620">
            <a:solidFill>
              <a:srgbClr val="BFE5D4"/>
            </a:solidFill>
            <a:prstDash val="solid"/>
          </a:ln>
        </p:spPr>
      </p:sp>
      <p:sp>
        <p:nvSpPr>
          <p:cNvPr id="35" name="Text 33"/>
          <p:cNvSpPr/>
          <p:nvPr/>
        </p:nvSpPr>
        <p:spPr>
          <a:xfrm>
            <a:off x="1322070" y="8169354"/>
            <a:ext cx="16113176" cy="1214676"/>
          </a:xfrm>
          <a:prstGeom prst="rect">
            <a:avLst/>
          </a:prstGeom>
          <a:noFill/>
          <a:ln/>
        </p:spPr>
        <p:txBody>
          <a:bodyPr wrap="square" lIns="25400" tIns="25400" rIns="25400" bIns="25400" rtlCol="0" anchor="t">
            <a:normAutofit/>
          </a:bodyPr>
          <a:lstStyle/>
          <a:p>
            <a:pPr algn="l" indent="0" marL="0">
              <a:lnSpc>
                <a:spcPct val="122560"/>
              </a:lnSpc>
              <a:buNone/>
            </a:pPr>
            <a:r>
              <a:rPr lang="en-US" sz="2175" b="1" dirty="0">
                <a:solidFill>
                  <a:srgbClr val="124B68"/>
                </a:solidFill>
                <a:latin typeface="Arial" pitchFamily="34" charset="0"/>
                <a:ea typeface="Arial" pitchFamily="34" charset="-122"/>
                <a:cs typeface="Arial" pitchFamily="34" charset="-120"/>
              </a:rPr>
              <a:t>The regulator is pushing the same way. </a:t>
            </a:r>
            <a:pPr algn="l" indent="0" marL="0">
              <a:lnSpc>
                <a:spcPct val="122560"/>
              </a:lnSpc>
              <a:buNone/>
            </a:pPr>
            <a:r>
              <a:rPr lang="en-US" sz="2175" dirty="0">
                <a:solidFill>
                  <a:srgbClr val="17324D"/>
                </a:solidFill>
                <a:latin typeface="Arial" pitchFamily="34" charset="0"/>
                <a:ea typeface="Arial" pitchFamily="34" charset="-122"/>
                <a:cs typeface="Arial" pitchFamily="34" charset="-120"/>
              </a:rPr>
              <a:t>MERC's post-remand order removes the night rebate because it competes with shifting load into solar hours, and the demand charge rises 15% over four years while the energy charge falls 12%. Flexibility gets more valuable on the published trajectory, not less.</a:t>
            </a:r>
            <a:endParaRPr lang="en-US" sz="21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1130141"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PROOF</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09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5383459" cy="64389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120 consecutive days, replayed at settled prices</a:t>
            </a:r>
            <a:endParaRPr lang="en-US" sz="4500" dirty="0"/>
          </a:p>
        </p:txBody>
      </p:sp>
      <p:sp>
        <p:nvSpPr>
          <p:cNvPr id="6" name="Shape 4"/>
          <p:cNvSpPr/>
          <p:nvPr/>
        </p:nvSpPr>
        <p:spPr>
          <a:xfrm>
            <a:off x="990600" y="2459355"/>
            <a:ext cx="7631430" cy="2415540"/>
          </a:xfrm>
          <a:prstGeom prst="roundRect">
            <a:avLst>
              <a:gd name="adj" fmla="val 5521"/>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7" name="Text 5"/>
          <p:cNvSpPr/>
          <p:nvPr/>
        </p:nvSpPr>
        <p:spPr>
          <a:xfrm>
            <a:off x="1360170" y="2771775"/>
            <a:ext cx="7581519" cy="1028700"/>
          </a:xfrm>
          <a:prstGeom prst="rect">
            <a:avLst/>
          </a:prstGeom>
          <a:noFill/>
          <a:ln/>
        </p:spPr>
        <p:txBody>
          <a:bodyPr wrap="square" lIns="25400" tIns="25400" rIns="25400" bIns="25400" rtlCol="0" anchor="t">
            <a:normAutofit/>
          </a:bodyPr>
          <a:lstStyle/>
          <a:p>
            <a:pPr algn="l" indent="0" marL="0">
              <a:lnSpc>
                <a:spcPct val="86667"/>
              </a:lnSpc>
              <a:buNone/>
            </a:pPr>
            <a:r>
              <a:rPr lang="en-US" sz="7800" b="1" spc="-312" kern="0" dirty="0">
                <a:solidFill>
                  <a:srgbClr val="22A06B"/>
                </a:solidFill>
                <a:latin typeface="Arial" pitchFamily="34" charset="0"/>
                <a:ea typeface="Arial" pitchFamily="34" charset="-122"/>
                <a:cs typeface="Arial" pitchFamily="34" charset="-120"/>
              </a:rPr>
              <a:t>₹0.133</a:t>
            </a:r>
            <a:endParaRPr lang="en-US" sz="7800" dirty="0"/>
          </a:p>
        </p:txBody>
      </p:sp>
      <p:sp>
        <p:nvSpPr>
          <p:cNvPr id="8" name="Text 6"/>
          <p:cNvSpPr/>
          <p:nvPr/>
        </p:nvSpPr>
        <p:spPr>
          <a:xfrm>
            <a:off x="1360170" y="3876675"/>
            <a:ext cx="7099059" cy="723900"/>
          </a:xfrm>
          <a:prstGeom prst="rect">
            <a:avLst/>
          </a:prstGeom>
          <a:noFill/>
          <a:ln/>
        </p:spPr>
        <p:txBody>
          <a:bodyPr wrap="square" lIns="25400" tIns="25400" rIns="25400" bIns="25400" rtlCol="0" anchor="t">
            <a:normAutofit/>
          </a:bodyPr>
          <a:lstStyle/>
          <a:p>
            <a:pPr algn="l" indent="0" marL="0">
              <a:buNone/>
            </a:pPr>
            <a:r>
              <a:rPr lang="en-US" sz="2250" dirty="0">
                <a:solidFill>
                  <a:srgbClr val="17324D"/>
                </a:solidFill>
                <a:latin typeface="Arial" pitchFamily="34" charset="0"/>
                <a:ea typeface="Arial" pitchFamily="34" charset="-122"/>
                <a:cs typeface="Arial" pitchFamily="34" charset="-120"/>
              </a:rPr>
              <a:t>saved per kWh of total plant load, with real forecast error</a:t>
            </a:r>
            <a:endParaRPr lang="en-US" sz="2250" dirty="0"/>
          </a:p>
        </p:txBody>
      </p:sp>
      <p:sp>
        <p:nvSpPr>
          <p:cNvPr id="9" name="Shape 7"/>
          <p:cNvSpPr/>
          <p:nvPr/>
        </p:nvSpPr>
        <p:spPr>
          <a:xfrm>
            <a:off x="990600" y="5084445"/>
            <a:ext cx="2404110" cy="3541395"/>
          </a:xfrm>
          <a:prstGeom prst="roundRect">
            <a:avLst>
              <a:gd name="adj" fmla="val 5547"/>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10" name="Text 8"/>
          <p:cNvSpPr/>
          <p:nvPr/>
        </p:nvSpPr>
        <p:spPr>
          <a:xfrm>
            <a:off x="1264920" y="6065997"/>
            <a:ext cx="2041017" cy="518160"/>
          </a:xfrm>
          <a:prstGeom prst="rect">
            <a:avLst/>
          </a:prstGeom>
          <a:noFill/>
          <a:ln/>
        </p:spPr>
        <p:txBody>
          <a:bodyPr wrap="none" lIns="25400" tIns="25400" rIns="25400" bIns="25400" rtlCol="0" anchor="t">
            <a:normAutofit/>
          </a:bodyPr>
          <a:lstStyle/>
          <a:p>
            <a:pPr algn="l" indent="0" marL="0">
              <a:lnSpc>
                <a:spcPct val="91304"/>
              </a:lnSpc>
              <a:buNone/>
            </a:pPr>
            <a:r>
              <a:rPr lang="en-US" sz="3600" b="1" dirty="0">
                <a:solidFill>
                  <a:srgbClr val="124B68"/>
                </a:solidFill>
                <a:latin typeface="Arial" pitchFamily="34" charset="0"/>
                <a:ea typeface="Arial" pitchFamily="34" charset="-122"/>
                <a:cs typeface="Arial" pitchFamily="34" charset="-120"/>
              </a:rPr>
              <a:t>₹9.17 cr</a:t>
            </a:r>
            <a:endParaRPr lang="en-US" sz="3600" dirty="0"/>
          </a:p>
        </p:txBody>
      </p:sp>
      <p:sp>
        <p:nvSpPr>
          <p:cNvPr id="11" name="Text 9"/>
          <p:cNvSpPr/>
          <p:nvPr/>
        </p:nvSpPr>
        <p:spPr>
          <a:xfrm>
            <a:off x="1264920" y="6641306"/>
            <a:ext cx="1931670" cy="1041083"/>
          </a:xfrm>
          <a:prstGeom prst="rect">
            <a:avLst/>
          </a:prstGeom>
          <a:noFill/>
          <a:ln/>
        </p:spPr>
        <p:txBody>
          <a:bodyPr wrap="square" lIns="25400" tIns="25400" rIns="25400" bIns="25400" rtlCol="0" anchor="t">
            <a:normAutofit/>
          </a:bodyPr>
          <a:lstStyle/>
          <a:p>
            <a:pPr algn="l" indent="0" marL="0">
              <a:lnSpc>
                <a:spcPct val="118581"/>
              </a:lnSpc>
              <a:buNone/>
            </a:pPr>
            <a:r>
              <a:rPr lang="en-US" sz="1950" dirty="0">
                <a:solidFill>
                  <a:srgbClr val="6B7C89"/>
                </a:solidFill>
                <a:latin typeface="Arial" pitchFamily="34" charset="0"/>
                <a:ea typeface="Arial" pitchFamily="34" charset="-122"/>
                <a:cs typeface="Arial" pitchFamily="34" charset="-120"/>
              </a:rPr>
              <a:t>annualised · 1.53% of the bill</a:t>
            </a:r>
            <a:endParaRPr lang="en-US" sz="1950" dirty="0"/>
          </a:p>
        </p:txBody>
      </p:sp>
      <p:sp>
        <p:nvSpPr>
          <p:cNvPr id="12" name="Shape 10"/>
          <p:cNvSpPr/>
          <p:nvPr/>
        </p:nvSpPr>
        <p:spPr>
          <a:xfrm>
            <a:off x="3604260" y="5084445"/>
            <a:ext cx="2404110" cy="3541395"/>
          </a:xfrm>
          <a:prstGeom prst="roundRect">
            <a:avLst>
              <a:gd name="adj" fmla="val 5547"/>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13" name="Text 11"/>
          <p:cNvSpPr/>
          <p:nvPr/>
        </p:nvSpPr>
        <p:spPr>
          <a:xfrm>
            <a:off x="3878580" y="6065997"/>
            <a:ext cx="2041017" cy="518160"/>
          </a:xfrm>
          <a:prstGeom prst="rect">
            <a:avLst/>
          </a:prstGeom>
          <a:noFill/>
          <a:ln/>
        </p:spPr>
        <p:txBody>
          <a:bodyPr wrap="square" lIns="25400" tIns="25400" rIns="25400" bIns="25400" rtlCol="0" anchor="t">
            <a:normAutofit/>
          </a:bodyPr>
          <a:lstStyle/>
          <a:p>
            <a:pPr algn="l" indent="0" marL="0">
              <a:lnSpc>
                <a:spcPct val="91304"/>
              </a:lnSpc>
              <a:buNone/>
            </a:pPr>
            <a:r>
              <a:rPr lang="en-US" sz="3600" b="1" dirty="0">
                <a:solidFill>
                  <a:srgbClr val="22A06B"/>
                </a:solidFill>
                <a:latin typeface="Arial" pitchFamily="34" charset="0"/>
                <a:ea typeface="Arial" pitchFamily="34" charset="-122"/>
                <a:cs typeface="Arial" pitchFamily="34" charset="-120"/>
              </a:rPr>
              <a:t>0</a:t>
            </a:r>
            <a:endParaRPr lang="en-US" sz="3600" dirty="0"/>
          </a:p>
        </p:txBody>
      </p:sp>
      <p:sp>
        <p:nvSpPr>
          <p:cNvPr id="14" name="Text 12"/>
          <p:cNvSpPr/>
          <p:nvPr/>
        </p:nvSpPr>
        <p:spPr>
          <a:xfrm>
            <a:off x="3878580" y="6641306"/>
            <a:ext cx="1931670" cy="1041083"/>
          </a:xfrm>
          <a:prstGeom prst="rect">
            <a:avLst/>
          </a:prstGeom>
          <a:noFill/>
          <a:ln/>
        </p:spPr>
        <p:txBody>
          <a:bodyPr wrap="square" lIns="25400" tIns="25400" rIns="25400" bIns="25400" rtlCol="0" anchor="t">
            <a:normAutofit/>
          </a:bodyPr>
          <a:lstStyle/>
          <a:p>
            <a:pPr algn="l" indent="0" marL="0">
              <a:lnSpc>
                <a:spcPct val="118581"/>
              </a:lnSpc>
              <a:buNone/>
            </a:pPr>
            <a:r>
              <a:rPr lang="en-US" sz="1950" dirty="0">
                <a:solidFill>
                  <a:srgbClr val="6B7C89"/>
                </a:solidFill>
                <a:latin typeface="Arial" pitchFamily="34" charset="0"/>
                <a:ea typeface="Arial" pitchFamily="34" charset="-122"/>
                <a:cs typeface="Arial" pitchFamily="34" charset="-120"/>
              </a:rPr>
              <a:t>violations · 0 MW deviation used</a:t>
            </a:r>
            <a:endParaRPr lang="en-US" sz="1950" dirty="0"/>
          </a:p>
        </p:txBody>
      </p:sp>
      <p:sp>
        <p:nvSpPr>
          <p:cNvPr id="15" name="Shape 13"/>
          <p:cNvSpPr/>
          <p:nvPr/>
        </p:nvSpPr>
        <p:spPr>
          <a:xfrm>
            <a:off x="6217920" y="5084445"/>
            <a:ext cx="2404110" cy="3541395"/>
          </a:xfrm>
          <a:prstGeom prst="roundRect">
            <a:avLst>
              <a:gd name="adj" fmla="val 5547"/>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16" name="Text 14"/>
          <p:cNvSpPr/>
          <p:nvPr/>
        </p:nvSpPr>
        <p:spPr>
          <a:xfrm>
            <a:off x="6492240" y="6065997"/>
            <a:ext cx="2041017" cy="518160"/>
          </a:xfrm>
          <a:prstGeom prst="rect">
            <a:avLst/>
          </a:prstGeom>
          <a:noFill/>
          <a:ln/>
        </p:spPr>
        <p:txBody>
          <a:bodyPr wrap="none" lIns="25400" tIns="25400" rIns="25400" bIns="25400" rtlCol="0" anchor="t">
            <a:normAutofit/>
          </a:bodyPr>
          <a:lstStyle/>
          <a:p>
            <a:pPr algn="l" indent="0" marL="0">
              <a:lnSpc>
                <a:spcPct val="91304"/>
              </a:lnSpc>
              <a:buNone/>
            </a:pPr>
            <a:r>
              <a:rPr lang="en-US" sz="3600" b="1" dirty="0">
                <a:solidFill>
                  <a:srgbClr val="D95C5C"/>
                </a:solidFill>
                <a:latin typeface="Arial" pitchFamily="34" charset="0"/>
                <a:ea typeface="Arial" pitchFamily="34" charset="-122"/>
                <a:cs typeface="Arial" pitchFamily="34" charset="-120"/>
              </a:rPr>
              <a:t>13 / 120</a:t>
            </a:r>
            <a:endParaRPr lang="en-US" sz="3600" dirty="0"/>
          </a:p>
        </p:txBody>
      </p:sp>
      <p:sp>
        <p:nvSpPr>
          <p:cNvPr id="17" name="Text 15"/>
          <p:cNvSpPr/>
          <p:nvPr/>
        </p:nvSpPr>
        <p:spPr>
          <a:xfrm>
            <a:off x="6492240" y="6641306"/>
            <a:ext cx="1931670" cy="1041083"/>
          </a:xfrm>
          <a:prstGeom prst="rect">
            <a:avLst/>
          </a:prstGeom>
          <a:noFill/>
          <a:ln/>
        </p:spPr>
        <p:txBody>
          <a:bodyPr wrap="square" lIns="25400" tIns="25400" rIns="25400" bIns="25400" rtlCol="0" anchor="t">
            <a:normAutofit/>
          </a:bodyPr>
          <a:lstStyle/>
          <a:p>
            <a:pPr algn="l" indent="0" marL="0">
              <a:lnSpc>
                <a:spcPct val="118581"/>
              </a:lnSpc>
              <a:buNone/>
            </a:pPr>
            <a:r>
              <a:rPr lang="en-US" sz="1950" dirty="0">
                <a:solidFill>
                  <a:srgbClr val="6B7C89"/>
                </a:solidFill>
                <a:latin typeface="Arial" pitchFamily="34" charset="0"/>
                <a:ea typeface="Arial" pitchFamily="34" charset="-122"/>
                <a:cs typeface="Arial" pitchFamily="34" charset="-120"/>
              </a:rPr>
              <a:t>days worse than doing nothing</a:t>
            </a:r>
            <a:endParaRPr lang="en-US" sz="1950" dirty="0"/>
          </a:p>
        </p:txBody>
      </p:sp>
      <p:sp>
        <p:nvSpPr>
          <p:cNvPr id="18" name="Shape 16"/>
          <p:cNvSpPr/>
          <p:nvPr/>
        </p:nvSpPr>
        <p:spPr>
          <a:xfrm>
            <a:off x="8926830" y="2459355"/>
            <a:ext cx="8370570" cy="6166485"/>
          </a:xfrm>
          <a:prstGeom prst="roundRect">
            <a:avLst>
              <a:gd name="adj" fmla="val 2162"/>
            </a:avLst>
          </a:prstGeom>
          <a:solidFill>
            <a:srgbClr val="FFFFFF"/>
          </a:solidFill>
          <a:ln w="7620">
            <a:solidFill>
              <a:srgbClr val="DCE8ED"/>
            </a:solidFill>
            <a:prstDash val="solid"/>
          </a:ln>
          <a:effectLst>
            <a:outerShdw sx="100000" sy="100000" kx="0" ky="0" algn="bl" rotWithShape="0" blurRad="28575" dist="9525" dir="5400000">
              <a:srgbClr val="17324D">
                <a:alpha val="5000"/>
              </a:srgbClr>
            </a:outerShdw>
          </a:effectLst>
        </p:spPr>
      </p:sp>
      <p:sp>
        <p:nvSpPr>
          <p:cNvPr id="19" name="Text 17"/>
          <p:cNvSpPr/>
          <p:nvPr/>
        </p:nvSpPr>
        <p:spPr>
          <a:xfrm>
            <a:off x="9296400" y="2771775"/>
            <a:ext cx="8394573" cy="320040"/>
          </a:xfrm>
          <a:prstGeom prst="rect">
            <a:avLst/>
          </a:prstGeom>
          <a:noFill/>
          <a:ln/>
        </p:spPr>
        <p:txBody>
          <a:bodyPr wrap="square" lIns="25400" tIns="25400" rIns="25400" bIns="25400" rtlCol="0" anchor="t">
            <a:normAutofit/>
          </a:bodyPr>
          <a:lstStyle/>
          <a:p>
            <a:pPr algn="l" indent="0" marL="0">
              <a:buNone/>
            </a:pPr>
            <a:r>
              <a:rPr lang="en-US" sz="1950" b="1" spc="156" kern="0" dirty="0">
                <a:solidFill>
                  <a:srgbClr val="6B7C89"/>
                </a:solidFill>
                <a:latin typeface="Arial" pitchFamily="34" charset="0"/>
                <a:ea typeface="Arial" pitchFamily="34" charset="-122"/>
                <a:cs typeface="Arial" pitchFamily="34" charset="-120"/>
              </a:rPr>
              <a:t>FROM GROSS TO NET, ₹ LAKH OVER 120 DAYS</a:t>
            </a:r>
            <a:endParaRPr lang="en-US" sz="1950" dirty="0"/>
          </a:p>
        </p:txBody>
      </p:sp>
      <p:sp>
        <p:nvSpPr>
          <p:cNvPr id="20" name="Text 18"/>
          <p:cNvSpPr/>
          <p:nvPr/>
        </p:nvSpPr>
        <p:spPr>
          <a:xfrm>
            <a:off x="10067806" y="3351371"/>
            <a:ext cx="886658"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1597D4"/>
                </a:solidFill>
                <a:latin typeface="Arial" pitchFamily="34" charset="0"/>
                <a:ea typeface="Arial" pitchFamily="34" charset="-122"/>
                <a:cs typeface="Arial" pitchFamily="34" charset="-120"/>
              </a:rPr>
              <a:t>378.3</a:t>
            </a:r>
            <a:endParaRPr lang="en-US" sz="2550" dirty="0"/>
          </a:p>
        </p:txBody>
      </p:sp>
      <p:sp>
        <p:nvSpPr>
          <p:cNvPr id="21" name="Shape 19"/>
          <p:cNvSpPr/>
          <p:nvPr/>
        </p:nvSpPr>
        <p:spPr>
          <a:xfrm>
            <a:off x="9296400" y="3831431"/>
            <a:ext cx="2353270" cy="2247900"/>
          </a:xfrm>
          <a:custGeom>
            <a:avLst/>
            <a:gdLst/>
            <a:ahLst/>
            <a:cxnLst/>
            <a:rect l="l" t="t" r="r" b="b"/>
            <a:pathLst>
              <a:path w="2353270" h="2247900">
                <a:moveTo>
                  <a:pt x="57150" y="0"/>
                </a:moveTo>
                <a:lnTo>
                  <a:pt x="2296120" y="0"/>
                </a:lnTo>
                <a:arcTo hR="57150" wR="57150" stAng="16200000" swAng="5400000"/>
                <a:lnTo>
                  <a:pt x="2353270" y="2247900"/>
                </a:lnTo>
                <a:lnTo>
                  <a:pt x="0" y="2247900"/>
                </a:lnTo>
                <a:lnTo>
                  <a:pt x="0" y="57150"/>
                </a:lnTo>
                <a:arcTo hR="57150" wR="57150" stAng="10800000" swAng="5400000"/>
                <a:close/>
              </a:path>
            </a:pathLst>
          </a:custGeom>
          <a:solidFill>
            <a:srgbClr val="1597D4"/>
          </a:solidFill>
          <a:ln/>
        </p:spPr>
      </p:sp>
      <p:sp>
        <p:nvSpPr>
          <p:cNvPr id="22" name="Text 20"/>
          <p:cNvSpPr/>
          <p:nvPr/>
        </p:nvSpPr>
        <p:spPr>
          <a:xfrm>
            <a:off x="9258300" y="6193631"/>
            <a:ext cx="2429470" cy="704850"/>
          </a:xfrm>
          <a:prstGeom prst="rect">
            <a:avLst/>
          </a:prstGeom>
          <a:noFill/>
          <a:ln/>
        </p:spPr>
        <p:txBody>
          <a:bodyPr wrap="square" lIns="25400" tIns="25400" rIns="25400" bIns="25400" rtlCol="0" anchor="t">
            <a:normAutofit/>
          </a:bodyPr>
          <a:lstStyle/>
          <a:p>
            <a:pPr algn="ctr" indent="0" marL="0">
              <a:lnSpc>
                <a:spcPct val="112847"/>
              </a:lnSpc>
              <a:buNone/>
            </a:pPr>
            <a:r>
              <a:rPr lang="en-US" sz="1875" dirty="0">
                <a:solidFill>
                  <a:srgbClr val="6B7C89"/>
                </a:solidFill>
                <a:latin typeface="Arial" pitchFamily="34" charset="0"/>
                <a:ea typeface="Arial" pitchFamily="34" charset="-122"/>
                <a:cs typeface="Arial" pitchFamily="34" charset="-120"/>
              </a:rPr>
              <a:t>Electricity avoided, gross</a:t>
            </a:r>
            <a:endParaRPr lang="en-US" sz="1875" dirty="0"/>
          </a:p>
        </p:txBody>
      </p:sp>
      <p:sp>
        <p:nvSpPr>
          <p:cNvPr id="23" name="Text 21"/>
          <p:cNvSpPr/>
          <p:nvPr/>
        </p:nvSpPr>
        <p:spPr>
          <a:xfrm>
            <a:off x="12702303" y="5142072"/>
            <a:ext cx="895707"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D95C5C"/>
                </a:solidFill>
                <a:latin typeface="Arial" pitchFamily="34" charset="0"/>
                <a:ea typeface="Arial" pitchFamily="34" charset="-122"/>
                <a:cs typeface="Arial" pitchFamily="34" charset="-120"/>
              </a:rPr>
              <a:t>−76.8</a:t>
            </a:r>
            <a:endParaRPr lang="en-US" sz="2550" dirty="0"/>
          </a:p>
        </p:txBody>
      </p:sp>
      <p:sp>
        <p:nvSpPr>
          <p:cNvPr id="24" name="Shape 22"/>
          <p:cNvSpPr/>
          <p:nvPr/>
        </p:nvSpPr>
        <p:spPr>
          <a:xfrm>
            <a:off x="11935420" y="5622131"/>
            <a:ext cx="2353389" cy="457200"/>
          </a:xfrm>
          <a:custGeom>
            <a:avLst/>
            <a:gdLst/>
            <a:ahLst/>
            <a:cxnLst/>
            <a:rect l="l" t="t" r="r" b="b"/>
            <a:pathLst>
              <a:path w="2353389" h="457200">
                <a:moveTo>
                  <a:pt x="57150" y="0"/>
                </a:moveTo>
                <a:lnTo>
                  <a:pt x="2296239" y="0"/>
                </a:lnTo>
                <a:arcTo hR="57150" wR="57150" stAng="16200000" swAng="5400000"/>
                <a:lnTo>
                  <a:pt x="2353389" y="457200"/>
                </a:lnTo>
                <a:lnTo>
                  <a:pt x="0" y="457200"/>
                </a:lnTo>
                <a:lnTo>
                  <a:pt x="0" y="57150"/>
                </a:lnTo>
                <a:arcTo hR="57150" wR="57150" stAng="10800000" swAng="5400000"/>
                <a:close/>
              </a:path>
            </a:pathLst>
          </a:custGeom>
          <a:solidFill>
            <a:srgbClr val="D95C5C"/>
          </a:solidFill>
          <a:ln/>
        </p:spPr>
      </p:sp>
      <p:sp>
        <p:nvSpPr>
          <p:cNvPr id="25" name="Text 23"/>
          <p:cNvSpPr/>
          <p:nvPr/>
        </p:nvSpPr>
        <p:spPr>
          <a:xfrm>
            <a:off x="11897320" y="6193631"/>
            <a:ext cx="2429589" cy="704850"/>
          </a:xfrm>
          <a:prstGeom prst="rect">
            <a:avLst/>
          </a:prstGeom>
          <a:noFill/>
          <a:ln/>
        </p:spPr>
        <p:txBody>
          <a:bodyPr wrap="square" lIns="25400" tIns="25400" rIns="25400" bIns="25400" rtlCol="0" anchor="t">
            <a:normAutofit/>
          </a:bodyPr>
          <a:lstStyle/>
          <a:p>
            <a:pPr algn="ctr" indent="0" marL="0">
              <a:lnSpc>
                <a:spcPct val="112847"/>
              </a:lnSpc>
              <a:buNone/>
            </a:pPr>
            <a:r>
              <a:rPr lang="en-US" sz="1875" dirty="0">
                <a:solidFill>
                  <a:srgbClr val="6B7C89"/>
                </a:solidFill>
                <a:latin typeface="Arial" pitchFamily="34" charset="0"/>
                <a:ea typeface="Arial" pitchFamily="34" charset="-122"/>
                <a:cs typeface="Arial" pitchFamily="34" charset="-120"/>
              </a:rPr>
              <a:t>Membrane wear, chlorine dumped, kVAh droop</a:t>
            </a:r>
            <a:endParaRPr lang="en-US" sz="1875" dirty="0"/>
          </a:p>
        </p:txBody>
      </p:sp>
      <p:sp>
        <p:nvSpPr>
          <p:cNvPr id="26" name="Text 24"/>
          <p:cNvSpPr/>
          <p:nvPr/>
        </p:nvSpPr>
        <p:spPr>
          <a:xfrm>
            <a:off x="15345966" y="3808571"/>
            <a:ext cx="886658"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22A06B"/>
                </a:solidFill>
                <a:latin typeface="Arial" pitchFamily="34" charset="0"/>
                <a:ea typeface="Arial" pitchFamily="34" charset="-122"/>
                <a:cs typeface="Arial" pitchFamily="34" charset="-120"/>
              </a:rPr>
              <a:t>301.5</a:t>
            </a:r>
            <a:endParaRPr lang="en-US" sz="2550" dirty="0"/>
          </a:p>
        </p:txBody>
      </p:sp>
      <p:sp>
        <p:nvSpPr>
          <p:cNvPr id="27" name="Shape 25"/>
          <p:cNvSpPr/>
          <p:nvPr/>
        </p:nvSpPr>
        <p:spPr>
          <a:xfrm>
            <a:off x="14574560" y="4288631"/>
            <a:ext cx="2353270" cy="1790700"/>
          </a:xfrm>
          <a:custGeom>
            <a:avLst/>
            <a:gdLst/>
            <a:ahLst/>
            <a:cxnLst/>
            <a:rect l="l" t="t" r="r" b="b"/>
            <a:pathLst>
              <a:path w="2353270" h="1790700">
                <a:moveTo>
                  <a:pt x="57150" y="0"/>
                </a:moveTo>
                <a:lnTo>
                  <a:pt x="2296120" y="0"/>
                </a:lnTo>
                <a:arcTo hR="57150" wR="57150" stAng="16200000" swAng="5400000"/>
                <a:lnTo>
                  <a:pt x="2353270" y="1790700"/>
                </a:lnTo>
                <a:lnTo>
                  <a:pt x="0" y="1790700"/>
                </a:lnTo>
                <a:lnTo>
                  <a:pt x="0" y="57150"/>
                </a:lnTo>
                <a:arcTo hR="57150" wR="57150" stAng="10800000" swAng="5400000"/>
                <a:close/>
              </a:path>
            </a:pathLst>
          </a:custGeom>
          <a:solidFill>
            <a:srgbClr val="22A06B"/>
          </a:solidFill>
          <a:ln/>
        </p:spPr>
      </p:sp>
      <p:sp>
        <p:nvSpPr>
          <p:cNvPr id="28" name="Text 26"/>
          <p:cNvSpPr/>
          <p:nvPr/>
        </p:nvSpPr>
        <p:spPr>
          <a:xfrm>
            <a:off x="15114389" y="6193631"/>
            <a:ext cx="1273493" cy="704850"/>
          </a:xfrm>
          <a:prstGeom prst="rect">
            <a:avLst/>
          </a:prstGeom>
          <a:noFill/>
          <a:ln/>
        </p:spPr>
        <p:txBody>
          <a:bodyPr wrap="square" lIns="25400" tIns="25400" rIns="25400" bIns="25400" rtlCol="0" anchor="t">
            <a:normAutofit/>
          </a:bodyPr>
          <a:lstStyle/>
          <a:p>
            <a:pPr algn="ctr" indent="0" marL="0">
              <a:lnSpc>
                <a:spcPct val="112847"/>
              </a:lnSpc>
              <a:buNone/>
            </a:pPr>
            <a:r>
              <a:rPr lang="en-US" sz="1875" dirty="0">
                <a:solidFill>
                  <a:srgbClr val="6B7C89"/>
                </a:solidFill>
                <a:latin typeface="Arial" pitchFamily="34" charset="0"/>
                <a:ea typeface="Arial" pitchFamily="34" charset="-122"/>
                <a:cs typeface="Arial" pitchFamily="34" charset="-120"/>
              </a:rPr>
              <a:t>Net saving</a:t>
            </a:r>
            <a:endParaRPr lang="en-US" sz="1875" dirty="0"/>
          </a:p>
        </p:txBody>
      </p:sp>
      <p:sp>
        <p:nvSpPr>
          <p:cNvPr id="29" name="Shape 27"/>
          <p:cNvSpPr/>
          <p:nvPr/>
        </p:nvSpPr>
        <p:spPr>
          <a:xfrm>
            <a:off x="9296400" y="7069931"/>
            <a:ext cx="7631430" cy="9525"/>
          </a:xfrm>
          <a:prstGeom prst="rect">
            <a:avLst/>
          </a:prstGeom>
          <a:solidFill>
            <a:srgbClr val="DCE8ED"/>
          </a:solidFill>
          <a:ln/>
        </p:spPr>
      </p:sp>
      <p:sp>
        <p:nvSpPr>
          <p:cNvPr id="30" name="Text 28"/>
          <p:cNvSpPr/>
          <p:nvPr/>
        </p:nvSpPr>
        <p:spPr>
          <a:xfrm>
            <a:off x="9296400" y="7249001"/>
            <a:ext cx="7860373" cy="1102519"/>
          </a:xfrm>
          <a:prstGeom prst="rect">
            <a:avLst/>
          </a:prstGeom>
          <a:noFill/>
          <a:ln/>
        </p:spPr>
        <p:txBody>
          <a:bodyPr wrap="square" lIns="25400" tIns="25400" rIns="25400" bIns="25400" rtlCol="0" anchor="t">
            <a:normAutofit/>
          </a:bodyPr>
          <a:lstStyle/>
          <a:p>
            <a:pPr algn="l" indent="0" marL="0">
              <a:lnSpc>
                <a:spcPct val="119423"/>
              </a:lnSpc>
              <a:buNone/>
            </a:pPr>
            <a:r>
              <a:rPr lang="en-US" sz="2025" dirty="0">
                <a:solidFill>
                  <a:srgbClr val="17324D"/>
                </a:solidFill>
                <a:latin typeface="Arial" pitchFamily="34" charset="0"/>
                <a:ea typeface="Arial" pitchFamily="34" charset="-122"/>
                <a:cs typeface="Arial" pitchFamily="34" charset="-120"/>
              </a:rPr>
              <a:t>One fifth of the gross is paid straight back to the plant. A model that does not charge these is not conservative — it is wrong.</a:t>
            </a:r>
            <a:endParaRPr lang="en-US" sz="2025" dirty="0"/>
          </a:p>
        </p:txBody>
      </p:sp>
      <p:sp>
        <p:nvSpPr>
          <p:cNvPr id="31" name="Shape 29"/>
          <p:cNvSpPr/>
          <p:nvPr/>
        </p:nvSpPr>
        <p:spPr>
          <a:xfrm>
            <a:off x="990600" y="8854440"/>
            <a:ext cx="16306800" cy="9525"/>
          </a:xfrm>
          <a:prstGeom prst="rect">
            <a:avLst/>
          </a:prstGeom>
          <a:solidFill>
            <a:srgbClr val="DCE8ED"/>
          </a:solidFill>
          <a:ln/>
        </p:spPr>
      </p:sp>
      <p:sp>
        <p:nvSpPr>
          <p:cNvPr id="32" name="Text 30"/>
          <p:cNvSpPr/>
          <p:nvPr/>
        </p:nvSpPr>
        <p:spPr>
          <a:xfrm>
            <a:off x="990600" y="9052560"/>
            <a:ext cx="16796004" cy="586740"/>
          </a:xfrm>
          <a:prstGeom prst="rect">
            <a:avLst/>
          </a:prstGeom>
          <a:noFill/>
          <a:ln/>
        </p:spPr>
        <p:txBody>
          <a:bodyPr wrap="square" lIns="25400" tIns="25400" rIns="25400" bIns="25400" rtlCol="0" anchor="t">
            <a:normAutofit/>
          </a:bodyPr>
          <a:lstStyle/>
          <a:p>
            <a:pPr algn="l" indent="0" marL="0">
              <a:buNone/>
            </a:pPr>
            <a:r>
              <a:rPr lang="en-US" sz="1800" dirty="0">
                <a:solidFill>
                  <a:srgbClr val="6B7C89"/>
                </a:solidFill>
                <a:latin typeface="Arial" pitchFamily="34" charset="0"/>
                <a:ea typeface="Arial" pitchFamily="34" charset="-122"/>
                <a:cs typeface="Arial" pitchFamily="34" charset="-120"/>
              </a:rPr>
              <a:t>120 delivery days to 2026-08-06, settled at realised prices. Counterfactual is one steady setpoint per asset held all day — how the plant is actually run. Perfect foresight would be ₹0.174/kWh; the forecast-error haircut is 22%.</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AFC"/>
        </a:solidFill>
      </p:bgPr>
    </p:bg>
    <p:spTree>
      <p:nvGrpSpPr>
        <p:cNvPr id="1" name=""/>
        <p:cNvGrpSpPr/>
        <p:nvPr/>
      </p:nvGrpSpPr>
      <p:grpSpPr>
        <a:xfrm>
          <a:off x="0" y="0"/>
          <a:ext cx="0" cy="0"/>
          <a:chOff x="0" y="0"/>
          <a:chExt cx="0" cy="0"/>
        </a:xfrm>
      </p:grpSpPr>
      <p:sp>
        <p:nvSpPr>
          <p:cNvPr id="2" name="Text 0"/>
          <p:cNvSpPr/>
          <p:nvPr/>
        </p:nvSpPr>
        <p:spPr>
          <a:xfrm>
            <a:off x="990600" y="762000"/>
            <a:ext cx="4003191"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OIL INDIA, AND THE ASK</a:t>
            </a:r>
            <a:endParaRPr lang="en-US" sz="1950" dirty="0"/>
          </a:p>
        </p:txBody>
      </p:sp>
      <p:sp>
        <p:nvSpPr>
          <p:cNvPr id="3" name="Text 1"/>
          <p:cNvSpPr/>
          <p:nvPr/>
        </p:nvSpPr>
        <p:spPr>
          <a:xfrm>
            <a:off x="16297275" y="762000"/>
            <a:ext cx="1076325" cy="32004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B7C89"/>
                </a:solidFill>
                <a:latin typeface="Arial" pitchFamily="34" charset="0"/>
                <a:ea typeface="Arial" pitchFamily="34" charset="-122"/>
                <a:cs typeface="Arial" pitchFamily="34" charset="-120"/>
              </a:rPr>
              <a:t>10 / 10</a:t>
            </a:r>
            <a:endParaRPr lang="en-US" sz="1950" dirty="0"/>
          </a:p>
        </p:txBody>
      </p:sp>
      <p:sp>
        <p:nvSpPr>
          <p:cNvPr id="4" name="Shape 2"/>
          <p:cNvSpPr/>
          <p:nvPr/>
        </p:nvSpPr>
        <p:spPr>
          <a:xfrm>
            <a:off x="990600" y="1196340"/>
            <a:ext cx="16306800" cy="28575"/>
          </a:xfrm>
          <a:prstGeom prst="rect">
            <a:avLst/>
          </a:prstGeom>
          <a:gradFill rotWithShape="1">
            <a:gsLst>
              <a:gs pos="0">
                <a:srgbClr val="1597D4">
                  <a:alpha val="100000"/>
                </a:srgbClr>
              </a:gs>
              <a:gs pos="26000">
                <a:srgbClr val="38BDF2">
                  <a:alpha val="100000"/>
                </a:srgbClr>
              </a:gs>
              <a:gs pos="44000">
                <a:srgbClr val="22A06B">
                  <a:alpha val="100000"/>
                </a:srgbClr>
              </a:gs>
              <a:gs pos="44000">
                <a:srgbClr val="DCE8ED">
                  <a:alpha val="100000"/>
                </a:srgbClr>
              </a:gs>
              <a:gs pos="100000">
                <a:srgbClr val="DCE8ED">
                  <a:alpha val="100000"/>
                </a:srgbClr>
              </a:gs>
            </a:gsLst>
            <a:lin ang="0" scaled="0"/>
          </a:gradFill>
          <a:ln/>
        </p:spPr>
      </p:sp>
      <p:sp>
        <p:nvSpPr>
          <p:cNvPr id="5" name="Text 3"/>
          <p:cNvSpPr/>
          <p:nvPr/>
        </p:nvSpPr>
        <p:spPr>
          <a:xfrm>
            <a:off x="990600" y="1567815"/>
            <a:ext cx="13984975" cy="643890"/>
          </a:xfrm>
          <a:prstGeom prst="rect">
            <a:avLst/>
          </a:prstGeom>
          <a:noFill/>
          <a:ln/>
        </p:spPr>
        <p:txBody>
          <a:bodyPr wrap="square" lIns="25400" tIns="25400" rIns="25400" bIns="25400" rtlCol="0" anchor="t">
            <a:normAutofit/>
          </a:bodyPr>
          <a:lstStyle/>
          <a:p>
            <a:pPr algn="l" indent="0" marL="0">
              <a:lnSpc>
                <a:spcPct val="92442"/>
              </a:lnSpc>
              <a:buNone/>
            </a:pPr>
            <a:r>
              <a:rPr lang="en-US" sz="4500" b="1" spc="-112" kern="0" dirty="0">
                <a:solidFill>
                  <a:srgbClr val="124B68"/>
                </a:solidFill>
                <a:latin typeface="Arial" pitchFamily="34" charset="0"/>
                <a:ea typeface="Arial" pitchFamily="34" charset="-122"/>
                <a:cs typeface="Arial" pitchFamily="34" charset="-120"/>
              </a:rPr>
              <a:t>The same machine Oil India is already building</a:t>
            </a:r>
            <a:endParaRPr lang="en-US" sz="4500" dirty="0"/>
          </a:p>
        </p:txBody>
      </p:sp>
      <p:sp>
        <p:nvSpPr>
          <p:cNvPr id="6" name="Shape 4"/>
          <p:cNvSpPr/>
          <p:nvPr/>
        </p:nvSpPr>
        <p:spPr>
          <a:xfrm>
            <a:off x="990600" y="2478405"/>
            <a:ext cx="7536180" cy="2247186"/>
          </a:xfrm>
          <a:prstGeom prst="roundRect">
            <a:avLst>
              <a:gd name="adj" fmla="val 5934"/>
            </a:avLst>
          </a:prstGeom>
          <a:solidFill>
            <a:srgbClr val="FFFFFF"/>
          </a:solidFill>
          <a:ln/>
          <a:effectLst>
            <a:outerShdw sx="100000" sy="100000" kx="0" ky="0" algn="bl" rotWithShape="0" blurRad="28575" dist="9525" dir="5400000">
              <a:srgbClr val="17324D">
                <a:alpha val="5000"/>
              </a:srgbClr>
            </a:outerShdw>
          </a:effectLst>
        </p:spPr>
      </p:sp>
      <p:sp>
        <p:nvSpPr>
          <p:cNvPr id="7" name="Shape 5"/>
          <p:cNvSpPr/>
          <p:nvPr/>
        </p:nvSpPr>
        <p:spPr>
          <a:xfrm>
            <a:off x="990600" y="4717971"/>
            <a:ext cx="7536180" cy="9525"/>
          </a:xfrm>
          <a:prstGeom prst="rect">
            <a:avLst/>
          </a:prstGeom>
          <a:solidFill>
            <a:srgbClr val="DCE8ED"/>
          </a:solidFill>
          <a:ln/>
        </p:spPr>
      </p:sp>
      <p:sp>
        <p:nvSpPr>
          <p:cNvPr id="8" name="Shape 6"/>
          <p:cNvSpPr/>
          <p:nvPr/>
        </p:nvSpPr>
        <p:spPr>
          <a:xfrm>
            <a:off x="990600" y="2478405"/>
            <a:ext cx="7536180" cy="9525"/>
          </a:xfrm>
          <a:prstGeom prst="rect">
            <a:avLst/>
          </a:prstGeom>
          <a:solidFill>
            <a:srgbClr val="DCE8ED"/>
          </a:solidFill>
          <a:ln/>
        </p:spPr>
      </p:sp>
      <p:sp>
        <p:nvSpPr>
          <p:cNvPr id="9" name="Shape 7"/>
          <p:cNvSpPr/>
          <p:nvPr/>
        </p:nvSpPr>
        <p:spPr>
          <a:xfrm>
            <a:off x="990600" y="2478405"/>
            <a:ext cx="38100" cy="2247186"/>
          </a:xfrm>
          <a:prstGeom prst="rect">
            <a:avLst/>
          </a:prstGeom>
          <a:solidFill>
            <a:srgbClr val="1597D4"/>
          </a:solidFill>
          <a:ln/>
        </p:spPr>
      </p:sp>
      <p:sp>
        <p:nvSpPr>
          <p:cNvPr id="10" name="Shape 8"/>
          <p:cNvSpPr/>
          <p:nvPr/>
        </p:nvSpPr>
        <p:spPr>
          <a:xfrm>
            <a:off x="8519160" y="2478405"/>
            <a:ext cx="9525" cy="2247186"/>
          </a:xfrm>
          <a:prstGeom prst="rect">
            <a:avLst/>
          </a:prstGeom>
          <a:solidFill>
            <a:srgbClr val="DCE8ED"/>
          </a:solidFill>
          <a:ln/>
        </p:spPr>
      </p:sp>
      <p:sp>
        <p:nvSpPr>
          <p:cNvPr id="11" name="Text 9"/>
          <p:cNvSpPr/>
          <p:nvPr/>
        </p:nvSpPr>
        <p:spPr>
          <a:xfrm>
            <a:off x="1333500" y="2812375"/>
            <a:ext cx="7568946"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24B68"/>
                </a:solidFill>
                <a:latin typeface="Arial" pitchFamily="34" charset="0"/>
                <a:ea typeface="Arial" pitchFamily="34" charset="-122"/>
                <a:cs typeface="Arial" pitchFamily="34" charset="-120"/>
              </a:rPr>
              <a:t>Jorhat</a:t>
            </a:r>
            <a:endParaRPr lang="en-US" sz="2400" dirty="0"/>
          </a:p>
        </p:txBody>
      </p:sp>
      <p:sp>
        <p:nvSpPr>
          <p:cNvPr id="12" name="Text 10"/>
          <p:cNvSpPr/>
          <p:nvPr/>
        </p:nvSpPr>
        <p:spPr>
          <a:xfrm>
            <a:off x="1333500" y="3231475"/>
            <a:ext cx="7087286" cy="1198245"/>
          </a:xfrm>
          <a:prstGeom prst="rect">
            <a:avLst/>
          </a:prstGeom>
          <a:noFill/>
          <a:ln/>
        </p:spPr>
        <p:txBody>
          <a:bodyPr wrap="square" lIns="25400" tIns="25400" rIns="25400" bIns="25400" rtlCol="0" anchor="t">
            <a:normAutofit/>
          </a:bodyPr>
          <a:lstStyle/>
          <a:p>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The green hydrogen plant is electrochemically the same cell house. The twin already models it as a second archetype.</a:t>
            </a:r>
            <a:endParaRPr lang="en-US" sz="2175" dirty="0"/>
          </a:p>
        </p:txBody>
      </p:sp>
      <p:sp>
        <p:nvSpPr>
          <p:cNvPr id="13" name="Shape 11"/>
          <p:cNvSpPr/>
          <p:nvPr/>
        </p:nvSpPr>
        <p:spPr>
          <a:xfrm>
            <a:off x="990600" y="4916091"/>
            <a:ext cx="7536180" cy="2247305"/>
          </a:xfrm>
          <a:prstGeom prst="roundRect">
            <a:avLst>
              <a:gd name="adj" fmla="val 5934"/>
            </a:avLst>
          </a:prstGeom>
          <a:solidFill>
            <a:srgbClr val="FFFFFF"/>
          </a:solidFill>
          <a:ln/>
          <a:effectLst>
            <a:outerShdw sx="100000" sy="100000" kx="0" ky="0" algn="bl" rotWithShape="0" blurRad="28575" dist="9525" dir="5400000">
              <a:srgbClr val="17324D">
                <a:alpha val="5000"/>
              </a:srgbClr>
            </a:outerShdw>
          </a:effectLst>
        </p:spPr>
      </p:sp>
      <p:sp>
        <p:nvSpPr>
          <p:cNvPr id="14" name="Shape 12"/>
          <p:cNvSpPr/>
          <p:nvPr/>
        </p:nvSpPr>
        <p:spPr>
          <a:xfrm>
            <a:off x="990600" y="7155775"/>
            <a:ext cx="7536180" cy="9525"/>
          </a:xfrm>
          <a:prstGeom prst="rect">
            <a:avLst/>
          </a:prstGeom>
          <a:solidFill>
            <a:srgbClr val="DCE8ED"/>
          </a:solidFill>
          <a:ln/>
        </p:spPr>
      </p:sp>
      <p:sp>
        <p:nvSpPr>
          <p:cNvPr id="15" name="Shape 13"/>
          <p:cNvSpPr/>
          <p:nvPr/>
        </p:nvSpPr>
        <p:spPr>
          <a:xfrm>
            <a:off x="990600" y="4916091"/>
            <a:ext cx="7536180" cy="9525"/>
          </a:xfrm>
          <a:prstGeom prst="rect">
            <a:avLst/>
          </a:prstGeom>
          <a:solidFill>
            <a:srgbClr val="DCE8ED"/>
          </a:solidFill>
          <a:ln/>
        </p:spPr>
      </p:sp>
      <p:sp>
        <p:nvSpPr>
          <p:cNvPr id="16" name="Shape 14"/>
          <p:cNvSpPr/>
          <p:nvPr/>
        </p:nvSpPr>
        <p:spPr>
          <a:xfrm>
            <a:off x="990600" y="4916091"/>
            <a:ext cx="38100" cy="2247305"/>
          </a:xfrm>
          <a:prstGeom prst="rect">
            <a:avLst/>
          </a:prstGeom>
          <a:solidFill>
            <a:srgbClr val="38BDF2"/>
          </a:solidFill>
          <a:ln/>
        </p:spPr>
      </p:sp>
      <p:sp>
        <p:nvSpPr>
          <p:cNvPr id="17" name="Shape 15"/>
          <p:cNvSpPr/>
          <p:nvPr/>
        </p:nvSpPr>
        <p:spPr>
          <a:xfrm>
            <a:off x="8519160" y="4916091"/>
            <a:ext cx="9525" cy="2247305"/>
          </a:xfrm>
          <a:prstGeom prst="rect">
            <a:avLst/>
          </a:prstGeom>
          <a:solidFill>
            <a:srgbClr val="DCE8ED"/>
          </a:solidFill>
          <a:ln/>
        </p:spPr>
      </p:sp>
      <p:sp>
        <p:nvSpPr>
          <p:cNvPr id="18" name="Text 16"/>
          <p:cNvSpPr/>
          <p:nvPr/>
        </p:nvSpPr>
        <p:spPr>
          <a:xfrm>
            <a:off x="1333500" y="5250061"/>
            <a:ext cx="7568946"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24B68"/>
                </a:solidFill>
                <a:latin typeface="Arial" pitchFamily="34" charset="0"/>
                <a:ea typeface="Arial" pitchFamily="34" charset="-122"/>
                <a:cs typeface="Arial" pitchFamily="34" charset="-120"/>
              </a:rPr>
              <a:t>NRL</a:t>
            </a:r>
            <a:endParaRPr lang="en-US" sz="2400" dirty="0"/>
          </a:p>
        </p:txBody>
      </p:sp>
      <p:sp>
        <p:nvSpPr>
          <p:cNvPr id="19" name="Text 17"/>
          <p:cNvSpPr/>
          <p:nvPr/>
        </p:nvSpPr>
        <p:spPr>
          <a:xfrm>
            <a:off x="1333500" y="5669161"/>
            <a:ext cx="7087286" cy="1198245"/>
          </a:xfrm>
          <a:prstGeom prst="rect">
            <a:avLst/>
          </a:prstGeom>
          <a:noFill/>
          <a:ln/>
        </p:spPr>
        <p:txBody>
          <a:bodyPr wrap="square" lIns="25400" tIns="25400" rIns="25400" bIns="25400" rtlCol="0" anchor="t">
            <a:normAutofit/>
          </a:bodyPr>
          <a:lstStyle/>
          <a:p>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On this panel the LCOH minimum sits near 6,000 operating hours, not 8,000. A DPR written at 90% CUF is mis-sizing the plant.</a:t>
            </a:r>
            <a:endParaRPr lang="en-US" sz="2175" dirty="0"/>
          </a:p>
        </p:txBody>
      </p:sp>
      <p:sp>
        <p:nvSpPr>
          <p:cNvPr id="20" name="Shape 18"/>
          <p:cNvSpPr/>
          <p:nvPr/>
        </p:nvSpPr>
        <p:spPr>
          <a:xfrm>
            <a:off x="990600" y="7353895"/>
            <a:ext cx="7536180" cy="2247305"/>
          </a:xfrm>
          <a:prstGeom prst="roundRect">
            <a:avLst>
              <a:gd name="adj" fmla="val 5934"/>
            </a:avLst>
          </a:prstGeom>
          <a:solidFill>
            <a:srgbClr val="FFFFFF"/>
          </a:solidFill>
          <a:ln/>
          <a:effectLst>
            <a:outerShdw sx="100000" sy="100000" kx="0" ky="0" algn="bl" rotWithShape="0" blurRad="28575" dist="9525" dir="5400000">
              <a:srgbClr val="17324D">
                <a:alpha val="5000"/>
              </a:srgbClr>
            </a:outerShdw>
          </a:effectLst>
        </p:spPr>
      </p:sp>
      <p:sp>
        <p:nvSpPr>
          <p:cNvPr id="21" name="Shape 19"/>
          <p:cNvSpPr/>
          <p:nvPr/>
        </p:nvSpPr>
        <p:spPr>
          <a:xfrm>
            <a:off x="990600" y="9593580"/>
            <a:ext cx="7536180" cy="9525"/>
          </a:xfrm>
          <a:prstGeom prst="rect">
            <a:avLst/>
          </a:prstGeom>
          <a:solidFill>
            <a:srgbClr val="DCE8ED"/>
          </a:solidFill>
          <a:ln/>
        </p:spPr>
      </p:sp>
      <p:sp>
        <p:nvSpPr>
          <p:cNvPr id="22" name="Shape 20"/>
          <p:cNvSpPr/>
          <p:nvPr/>
        </p:nvSpPr>
        <p:spPr>
          <a:xfrm>
            <a:off x="990600" y="7353895"/>
            <a:ext cx="7536180" cy="9525"/>
          </a:xfrm>
          <a:prstGeom prst="rect">
            <a:avLst/>
          </a:prstGeom>
          <a:solidFill>
            <a:srgbClr val="DCE8ED"/>
          </a:solidFill>
          <a:ln/>
        </p:spPr>
      </p:sp>
      <p:sp>
        <p:nvSpPr>
          <p:cNvPr id="23" name="Shape 21"/>
          <p:cNvSpPr/>
          <p:nvPr/>
        </p:nvSpPr>
        <p:spPr>
          <a:xfrm>
            <a:off x="990600" y="7353895"/>
            <a:ext cx="38100" cy="2247305"/>
          </a:xfrm>
          <a:prstGeom prst="rect">
            <a:avLst/>
          </a:prstGeom>
          <a:solidFill>
            <a:srgbClr val="22A06B"/>
          </a:solidFill>
          <a:ln/>
        </p:spPr>
      </p:sp>
      <p:sp>
        <p:nvSpPr>
          <p:cNvPr id="24" name="Shape 22"/>
          <p:cNvSpPr/>
          <p:nvPr/>
        </p:nvSpPr>
        <p:spPr>
          <a:xfrm>
            <a:off x="8519160" y="7353895"/>
            <a:ext cx="9525" cy="2247305"/>
          </a:xfrm>
          <a:prstGeom prst="rect">
            <a:avLst/>
          </a:prstGeom>
          <a:solidFill>
            <a:srgbClr val="DCE8ED"/>
          </a:solidFill>
          <a:ln/>
        </p:spPr>
      </p:sp>
      <p:sp>
        <p:nvSpPr>
          <p:cNvPr id="25" name="Text 23"/>
          <p:cNvSpPr/>
          <p:nvPr/>
        </p:nvSpPr>
        <p:spPr>
          <a:xfrm>
            <a:off x="1333500" y="7687866"/>
            <a:ext cx="7568946"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24B68"/>
                </a:solidFill>
                <a:latin typeface="Arial" pitchFamily="34" charset="0"/>
                <a:ea typeface="Arial" pitchFamily="34" charset="-122"/>
                <a:cs typeface="Arial" pitchFamily="34" charset="-120"/>
              </a:rPr>
              <a:t>57 GW by 2030</a:t>
            </a:r>
            <a:endParaRPr lang="en-US" sz="2400" dirty="0"/>
          </a:p>
        </p:txBody>
      </p:sp>
      <p:sp>
        <p:nvSpPr>
          <p:cNvPr id="26" name="Text 24"/>
          <p:cNvSpPr/>
          <p:nvPr/>
        </p:nvSpPr>
        <p:spPr>
          <a:xfrm>
            <a:off x="1333500" y="8106966"/>
            <a:ext cx="7087286" cy="1198245"/>
          </a:xfrm>
          <a:prstGeom prst="rect">
            <a:avLst/>
          </a:prstGeom>
          <a:noFill/>
          <a:ln/>
        </p:spPr>
        <p:txBody>
          <a:bodyPr wrap="square" lIns="25400" tIns="25400" rIns="25400" bIns="25400" rtlCol="0" anchor="t">
            <a:normAutofit/>
          </a:bodyPr>
          <a:lstStyle/>
          <a:p>
            <a:pPr algn="l" indent="0" marL="0">
              <a:lnSpc>
                <a:spcPct val="120833"/>
              </a:lnSpc>
              <a:buNone/>
            </a:pPr>
            <a:r>
              <a:rPr lang="en-US" sz="2175" dirty="0">
                <a:solidFill>
                  <a:srgbClr val="17324D"/>
                </a:solidFill>
                <a:latin typeface="Arial" pitchFamily="34" charset="0"/>
                <a:ea typeface="Arial" pitchFamily="34" charset="-122"/>
                <a:cs typeface="Arial" pitchFamily="34" charset="-120"/>
              </a:rPr>
              <a:t>Every electrolyser the Green Hydrogen Mission builds is a grid battery nobody is currently planning to dispatch.</a:t>
            </a:r>
            <a:endParaRPr lang="en-US" sz="2175" dirty="0"/>
          </a:p>
        </p:txBody>
      </p:sp>
      <p:sp>
        <p:nvSpPr>
          <p:cNvPr id="27" name="Shape 25"/>
          <p:cNvSpPr/>
          <p:nvPr/>
        </p:nvSpPr>
        <p:spPr>
          <a:xfrm>
            <a:off x="8831580" y="2478405"/>
            <a:ext cx="8465820" cy="7122795"/>
          </a:xfrm>
          <a:prstGeom prst="roundRect">
            <a:avLst>
              <a:gd name="adj" fmla="val 1872"/>
            </a:avLst>
          </a:prstGeom>
          <a:solidFill>
            <a:srgbClr val="EAF5FB"/>
          </a:solidFill>
          <a:ln w="7620">
            <a:solidFill>
              <a:srgbClr val="C7E2F1"/>
            </a:solidFill>
            <a:prstDash val="solid"/>
          </a:ln>
        </p:spPr>
      </p:sp>
      <p:sp>
        <p:nvSpPr>
          <p:cNvPr id="28" name="Text 26"/>
          <p:cNvSpPr/>
          <p:nvPr/>
        </p:nvSpPr>
        <p:spPr>
          <a:xfrm>
            <a:off x="9296400" y="2827615"/>
            <a:ext cx="8289798" cy="320040"/>
          </a:xfrm>
          <a:prstGeom prst="rect">
            <a:avLst/>
          </a:prstGeom>
          <a:noFill/>
          <a:ln/>
        </p:spPr>
        <p:txBody>
          <a:bodyPr wrap="square" lIns="25400" tIns="25400" rIns="25400" bIns="25400" rtlCol="0" anchor="t">
            <a:normAutofit/>
          </a:bodyPr>
          <a:lstStyle/>
          <a:p>
            <a:pPr algn="l" indent="0" marL="0">
              <a:buNone/>
            </a:pPr>
            <a:r>
              <a:rPr lang="en-US" sz="1950" b="1" spc="234" kern="0" dirty="0">
                <a:solidFill>
                  <a:srgbClr val="1597D4"/>
                </a:solidFill>
                <a:latin typeface="Arial" pitchFamily="34" charset="0"/>
                <a:ea typeface="Arial" pitchFamily="34" charset="-122"/>
                <a:cs typeface="Arial" pitchFamily="34" charset="-120"/>
              </a:rPr>
              <a:t>THE ASK</a:t>
            </a:r>
            <a:endParaRPr lang="en-US" sz="1950" dirty="0"/>
          </a:p>
        </p:txBody>
      </p:sp>
      <p:sp>
        <p:nvSpPr>
          <p:cNvPr id="29" name="Text 27"/>
          <p:cNvSpPr/>
          <p:nvPr/>
        </p:nvSpPr>
        <p:spPr>
          <a:xfrm>
            <a:off x="9296400" y="3338155"/>
            <a:ext cx="7762266" cy="1037034"/>
          </a:xfrm>
          <a:prstGeom prst="rect">
            <a:avLst/>
          </a:prstGeom>
          <a:noFill/>
          <a:ln/>
        </p:spPr>
        <p:txBody>
          <a:bodyPr wrap="square" lIns="25400" tIns="25400" rIns="25400" bIns="25400" rtlCol="0" anchor="t">
            <a:normAutofit/>
          </a:bodyPr>
          <a:lstStyle/>
          <a:p>
            <a:pPr algn="l" indent="0" marL="0">
              <a:lnSpc>
                <a:spcPct val="99318"/>
              </a:lnSpc>
              <a:buNone/>
            </a:pPr>
            <a:r>
              <a:rPr lang="en-US" sz="3450" b="1" dirty="0">
                <a:solidFill>
                  <a:srgbClr val="124B68"/>
                </a:solidFill>
                <a:latin typeface="Arial" pitchFamily="34" charset="0"/>
                <a:ea typeface="Arial" pitchFamily="34" charset="-122"/>
                <a:cs typeface="Arial" pitchFamily="34" charset="-120"/>
              </a:rPr>
              <a:t>One chlor-alkali plant. Ninety days. Advisory only.</a:t>
            </a:r>
            <a:endParaRPr lang="en-US" sz="3450" dirty="0"/>
          </a:p>
        </p:txBody>
      </p:sp>
      <p:sp>
        <p:nvSpPr>
          <p:cNvPr id="30" name="Text 28"/>
          <p:cNvSpPr/>
          <p:nvPr/>
        </p:nvSpPr>
        <p:spPr>
          <a:xfrm>
            <a:off x="9296400" y="4565690"/>
            <a:ext cx="7762266" cy="2040731"/>
          </a:xfrm>
          <a:prstGeom prst="rect">
            <a:avLst/>
          </a:prstGeom>
          <a:noFill/>
          <a:ln/>
        </p:spPr>
        <p:txBody>
          <a:bodyPr wrap="square" lIns="25400" tIns="25400" rIns="25400" bIns="25400" rtlCol="0" anchor="t">
            <a:normAutofit/>
          </a:bodyPr>
          <a:lstStyle/>
          <a:p>
            <a:pPr algn="l" indent="0" marL="0">
              <a:lnSpc>
                <a:spcPct val="125149"/>
              </a:lnSpc>
              <a:buNone/>
            </a:pPr>
            <a:r>
              <a:rPr lang="en-US" sz="2175" dirty="0">
                <a:solidFill>
                  <a:srgbClr val="17324D"/>
                </a:solidFill>
                <a:latin typeface="Arial" pitchFamily="34" charset="0"/>
                <a:ea typeface="Arial" pitchFamily="34" charset="-122"/>
                <a:cs typeface="Arial" pitchFamily="34" charset="-120"/>
              </a:rPr>
              <a:t>Weeks 1–4: fit the twin to their historian and deliver φ — the number they have never had about their own plant. Weeks 5–12: shadow mode, a recommended profile each morning, compared against actuals each evening at realised prices.</a:t>
            </a:r>
            <a:endParaRPr lang="en-US" sz="2175" dirty="0"/>
          </a:p>
        </p:txBody>
      </p:sp>
      <p:sp>
        <p:nvSpPr>
          <p:cNvPr id="31" name="Text 29"/>
          <p:cNvSpPr/>
          <p:nvPr/>
        </p:nvSpPr>
        <p:spPr>
          <a:xfrm>
            <a:off x="9296400" y="6796921"/>
            <a:ext cx="7762266" cy="1239679"/>
          </a:xfrm>
          <a:prstGeom prst="rect">
            <a:avLst/>
          </a:prstGeom>
          <a:noFill/>
          <a:ln/>
        </p:spPr>
        <p:txBody>
          <a:bodyPr wrap="square" lIns="25400" tIns="25400" rIns="25400" bIns="25400" rtlCol="0" anchor="t">
            <a:normAutofit/>
          </a:bodyPr>
          <a:lstStyle/>
          <a:p>
            <a:pPr algn="l" indent="0" marL="0">
              <a:lnSpc>
                <a:spcPct val="125149"/>
              </a:lnSpc>
              <a:buNone/>
            </a:pPr>
            <a:r>
              <a:rPr lang="en-US" sz="2175" dirty="0">
                <a:solidFill>
                  <a:srgbClr val="17324D"/>
                </a:solidFill>
                <a:latin typeface="Arial" pitchFamily="34" charset="0"/>
                <a:ea typeface="Arial" pitchFamily="34" charset="-122"/>
                <a:cs typeface="Arial" pitchFamily="34" charset="-120"/>
              </a:rPr>
              <a:t>Success agreed up front: a 3% cut in landed power cost against their own actuals, zero product-spec excursions, zero approaches to the H₂-in-Cl₂ limit.</a:t>
            </a:r>
            <a:endParaRPr lang="en-US" sz="2175" dirty="0"/>
          </a:p>
        </p:txBody>
      </p:sp>
      <p:sp>
        <p:nvSpPr>
          <p:cNvPr id="32" name="Shape 30"/>
          <p:cNvSpPr/>
          <p:nvPr/>
        </p:nvSpPr>
        <p:spPr>
          <a:xfrm>
            <a:off x="9296400" y="8227100"/>
            <a:ext cx="7536180" cy="9525"/>
          </a:xfrm>
          <a:prstGeom prst="rect">
            <a:avLst/>
          </a:prstGeom>
          <a:solidFill>
            <a:srgbClr val="C7E2F1"/>
          </a:solidFill>
          <a:ln/>
        </p:spPr>
      </p:sp>
      <p:sp>
        <p:nvSpPr>
          <p:cNvPr id="33" name="Text 31"/>
          <p:cNvSpPr/>
          <p:nvPr/>
        </p:nvSpPr>
        <p:spPr>
          <a:xfrm>
            <a:off x="9296400" y="8425220"/>
            <a:ext cx="7762266" cy="864870"/>
          </a:xfrm>
          <a:prstGeom prst="rect">
            <a:avLst/>
          </a:prstGeom>
          <a:noFill/>
          <a:ln/>
        </p:spPr>
        <p:txBody>
          <a:bodyPr wrap="square" lIns="25400" tIns="25400" rIns="25400" bIns="25400" rtlCol="0" anchor="t">
            <a:normAutofit/>
          </a:bodyPr>
          <a:lstStyle/>
          <a:p>
            <a:pPr algn="l" indent="0" marL="0">
              <a:lnSpc>
                <a:spcPct val="123295"/>
              </a:lnSpc>
              <a:buNone/>
            </a:pPr>
            <a:r>
              <a:rPr lang="en-US" sz="2325" b="1" dirty="0">
                <a:solidFill>
                  <a:srgbClr val="124B68"/>
                </a:solidFill>
                <a:latin typeface="Arial" pitchFamily="34" charset="0"/>
                <a:ea typeface="Arial" pitchFamily="34" charset="-122"/>
                <a:cs typeface="Arial" pitchFamily="34" charset="-120"/>
              </a:rPr>
              <a:t>Cost to them: zero. Twenty per cent of verified savings if it works.</a:t>
            </a:r>
            <a:endParaRPr lang="en-US" sz="23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2026-08-11T11:08:55Z</dcterms:created>
  <dcterms:modified xsi:type="dcterms:W3CDTF">2026-08-11T11:08:55Z</dcterms:modified>
</cp:coreProperties>
</file>